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Hours per stage, depth-100 records</a:t>
            </a:r>
          </a:p>
        </c:rich>
      </c:tx>
      <c:layout/>
      <c:overlay val="0"/>
    </c:title>
    <c:autoTitleDeleted val="1"/>
    <c:plotArea>
      <c:barChart>
        <c:barDir val="bar"/>
        <c:grouping val="clustered"/>
        <c:ser>
          <c:idx val="0"/>
          <c:order val="0"/>
          <c:tx>
            <c:strRef>
              <c:f>Sheet1!$B$1</c:f>
              <c:strCache>
                <c:ptCount val="1"/>
                <c:pt idx="0">
                  <c:v>re-score all 500, then align</c:v>
                </c:pt>
              </c:strCache>
            </c:strRef>
          </c:tx>
          <c:spPr>
            <a:solidFill>
              <a:srgbClr val="A7B8BC"/>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Sheet1!$B$2:$B$4</c:f>
              <c:numCache>
                <c:formatCode>0.0" h"</c:formatCode>
                <c:ptCount val="3"/>
                <c:pt idx="0">
                  <c:v>1.98</c:v>
                </c:pt>
                <c:pt idx="1">
                  <c:v>0.08927777777777778</c:v>
                </c:pt>
                <c:pt idx="2">
                  <c:v>4.852722222222222</c:v>
                </c:pt>
              </c:numCache>
            </c:numRef>
          </c:val>
        </c:ser>
        <c:ser>
          <c:idx val="1"/>
          <c:order val="1"/>
          <c:tx>
            <c:strRef>
              <c:f>Sheet1!$C$1</c:f>
              <c:strCache>
                <c:ptCount val="1"/>
                <c:pt idx="0">
                  <c:v>align the GPU's top 100 (now)</c:v>
                </c:pt>
              </c:strCache>
            </c:strRef>
          </c:tx>
          <c:spPr>
            <a:solidFill>
              <a:srgbClr val="028090"/>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Sheet1!$C$2:$C$4</c:f>
              <c:numCache>
                <c:formatCode>0.0" h"</c:formatCode>
                <c:ptCount val="3"/>
                <c:pt idx="0">
                  <c:v>0.9513888888888888</c:v>
                </c:pt>
                <c:pt idx="1">
                  <c:v>0.08927777777777778</c:v>
                </c:pt>
                <c:pt idx="2">
                  <c:v>4.852722222222222</c:v>
                </c:pt>
              </c:numCache>
            </c:numRef>
          </c:val>
        </c:ser>
        <c:gapWidth val="45"/>
        <c:overlap val="-1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6.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Legacy (ordered) reducer</c:v>
                </c:pt>
              </c:strCache>
            </c:strRef>
          </c:tx>
          <c:spPr>
            <a:solidFill>
              <a:srgbClr val="5B7179"/>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c:formatCode>
                <c:ptCount val="8"/>
                <c:pt idx="0">
                  <c:v>0.963</c:v>
                </c:pt>
                <c:pt idx="1">
                  <c:v>0.8543</c:v>
                </c:pt>
                <c:pt idx="2">
                  <c:v>0.8828</c:v>
                </c:pt>
                <c:pt idx="3">
                  <c:v>0.794</c:v>
                </c:pt>
                <c:pt idx="4">
                  <c:v>0.7278</c:v>
                </c:pt>
                <c:pt idx="5">
                  <c:v>0.764</c:v>
                </c:pt>
                <c:pt idx="6">
                  <c:v>0.7666</c:v>
                </c:pt>
                <c:pt idx="7">
                  <c:v>0.8045</c:v>
                </c:pt>
              </c:numCache>
            </c:numRef>
          </c:val>
        </c:ser>
        <c:ser>
          <c:idx val="1"/>
          <c:order val="1"/>
          <c:tx>
            <c:strRef>
              <c:f>Sheet1!$C$1</c:f>
              <c:strCache>
                <c:ptCount val="1"/>
                <c:pt idx="0">
                  <c:v>Exact-tie union (shipped)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c:formatCode>
                <c:ptCount val="8"/>
                <c:pt idx="0">
                  <c:v>0.9992</c:v>
                </c:pt>
                <c:pt idx="1">
                  <c:v>0.9936</c:v>
                </c:pt>
                <c:pt idx="2">
                  <c:v>0.995</c:v>
                </c:pt>
                <c:pt idx="3">
                  <c:v>0.9884</c:v>
                </c:pt>
                <c:pt idx="4">
                  <c:v>0.9865</c:v>
                </c:pt>
                <c:pt idx="5">
                  <c:v>0.9884</c:v>
                </c:pt>
                <c:pt idx="6">
                  <c:v>0.9882</c:v>
                </c:pt>
                <c:pt idx="7">
                  <c:v>0.9894</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2"/>
          <c:min val="0.0"/>
        </c:scaling>
        <c:delete/>
        <c:axPos val="l"/>
        <c:numFmt formatCode="0%" sourceLinked="0"/>
        <c:majorTickMark val="out"/>
        <c:minorTickMark val="none"/>
        <c:tickLblPos val="nextTo"/>
        <c:spPr>
          <a:ln>
            <a:noFill/>
          </a:ln>
        </c:spPr>
        <c:txPr>
          <a:bodyPr/>
          <a:lstStyle/>
          <a:p>
            <a:pPr>
              <a:defRPr sz="1100">
                <a:solidFill>
                  <a:srgbClr val="5B7179"/>
                </a:solidFill>
              </a:defRPr>
            </a:pPr>
          </a:p>
        </c:txPr>
        <c:crossAx val="-2068027336"/>
        <c:crosses val="autoZero"/>
        <c:majorUnit val="0.25"/>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One genome selected: p = 1 for all</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Deployment run</c:v>
                </c:pt>
                <c:pt idx="1">
                  <c:v>Controlled benchmark</c:v>
                </c:pt>
              </c:strCache>
            </c:strRef>
          </c:cat>
          <c:val>
            <c:numRef>
              <c:f>Sheet1!$B$2:$B$3</c:f>
              <c:numCache>
                <c:formatCode>0.0%</c:formatCode>
                <c:ptCount val="2"/>
                <c:pt idx="0">
                  <c:v>0.625</c:v>
                </c:pt>
                <c:pt idx="1">
                  <c:v>0.868</c:v>
                </c:pt>
              </c:numCache>
            </c:numRef>
          </c:val>
        </c:ser>
        <c:gapWidth val="13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Multi-genome sets that span phyla</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Deploy, 3+ genomes</c:v>
                </c:pt>
                <c:pt idx="1">
                  <c:v>Deploy, 2 genomes</c:v>
                </c:pt>
                <c:pt idx="2">
                  <c:v>Benchmark ties</c:v>
                </c:pt>
              </c:strCache>
            </c:strRef>
          </c:cat>
          <c:val>
            <c:numRef>
              <c:f>Sheet1!$B$2:$B$4</c:f>
              <c:numCache>
                <c:formatCode>0.0%</c:formatCode>
                <c:ptCount val="3"/>
                <c:pt idx="0">
                  <c:v>0.622</c:v>
                </c:pt>
                <c:pt idx="1">
                  <c:v>0.319</c:v>
                </c:pt>
                <c:pt idx="2">
                  <c:v>0.064</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Gene-backed reactions free to vary on the optimal face</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E8871A"/>
              </a:solidFill>
            </c:spPr>
          </c:dPt>
          <c:dPt>
            <c:idx val="1"/>
            <c:spPr>
              <a:solidFill>
                <a:srgbClr val="028090"/>
              </a:solidFill>
            </c:spPr>
          </c:dPt>
          <c:dPt>
            <c:idx val="2"/>
            <c:spPr>
              <a:solidFill>
                <a:srgbClr val="5B7179"/>
              </a:solidFill>
            </c:spPr>
          </c:dPt>
          <c:dPt>
            <c:idx val="3"/>
            <c:spPr>
              <a:solidFill>
                <a:srgbClr val="5B7179"/>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shuffled p</c:v>
                </c:pt>
                <c:pt idx="1">
                  <c:v>real p</c:v>
                </c:pt>
                <c:pt idx="2">
                  <c:v>plain parsimony</c:v>
                </c:pt>
                <c:pt idx="3">
                  <c:v>two-tier (p = 1)</c:v>
                </c:pt>
              </c:strCache>
            </c:strRef>
          </c:cat>
          <c:val>
            <c:numRef>
              <c:f>Sheet1!$B$2:$B$5</c:f>
              <c:numCache>
                <c:formatCode>0.0</c:formatCode>
                <c:ptCount val="4"/>
                <c:pt idx="0">
                  <c:v>27.85750493374683</c:v>
                </c:pt>
                <c:pt idx="1">
                  <c:v>32.676580208627016</c:v>
                </c:pt>
                <c:pt idx="2">
                  <c:v>41.75893149140119</c:v>
                </c:pt>
                <c:pt idx="3">
                  <c:v>41.53942486608402</c:v>
                </c:pt>
              </c:numCache>
            </c:numRef>
          </c:val>
        </c:ser>
        <c:gapWidth val="7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Genus accuracy</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c:formatCode>
                <c:ptCount val="8"/>
                <c:pt idx="0">
                  <c:v>27.01605405277283</c:v>
                </c:pt>
                <c:pt idx="1">
                  <c:v>24.701602481289342</c:v>
                </c:pt>
                <c:pt idx="2">
                  <c:v>26.251344039442394</c:v>
                </c:pt>
                <c:pt idx="3">
                  <c:v>30.76312271440047</c:v>
                </c:pt>
                <c:pt idx="4">
                  <c:v>31.4603651870902</c:v>
                </c:pt>
                <c:pt idx="5">
                  <c:v>31.642158834997282</c:v>
                </c:pt>
                <c:pt idx="6">
                  <c:v>30.815027022068588</c:v>
                </c:pt>
                <c:pt idx="7">
                  <c:v>31.270848453390776</c:v>
                </c:pt>
              </c:numCache>
            </c:numRef>
          </c:val>
        </c:ser>
        <c:ser>
          <c:idx val="1"/>
          <c:order val="1"/>
          <c:tx>
            <c:strRef>
              <c:f>Sheet1!$D$1</c:f>
              <c:strCache>
                <c:ptCount val="1"/>
                <c:pt idx="0">
                  <c:v>Gene capture</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c:formatCode>
                <c:ptCount val="8"/>
                <c:pt idx="0">
                  <c:v>31.256</c:v>
                </c:pt>
                <c:pt idx="1">
                  <c:v>29.607</c:v>
                </c:pt>
                <c:pt idx="2">
                  <c:v>30.126999999999995</c:v>
                </c:pt>
                <c:pt idx="3">
                  <c:v>32.68299999999999</c:v>
                </c:pt>
                <c:pt idx="4">
                  <c:v>31.845</c:v>
                </c:pt>
                <c:pt idx="5">
                  <c:v>32.92800000000001</c:v>
                </c:pt>
                <c:pt idx="6">
                  <c:v>32.794</c:v>
                </c:pt>
                <c:pt idx="7">
                  <c:v>32.096999999999994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41275">
              <a:solidFill>
                <a:srgbClr val="028090"/>
              </a:solidFill>
            </a:ln>
          </c:spPr>
          <c:marker>
            <c:symbol val="circle"/>
            <c:size val="9"/>
            <c:spPr>
              <a:solidFill>
                <a:srgbClr val="028090"/>
              </a:solidFill>
              <a:ln>
                <a:solidFill>
                  <a:srgbClr val="028090"/>
                </a:solidFill>
              </a:ln>
            </c:spPr>
          </c:marker>
          <c:dLbls>
            <c:numFmt formatCode="0.00" sourceLinked="0"/>
            <c:txPr>
              <a:bodyPr/>
              <a:lstStyle/>
              <a:p>
                <a:pPr>
                  <a:defRPr sz="1300" b="1">
                    <a:solidFill>
                      <a:srgbClr val="028090"/>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0.8216534582211723</c:v>
                </c:pt>
                <c:pt idx="1">
                  <c:v>0.8217364262540554</c:v>
                </c:pt>
                <c:pt idx="2">
                  <c:v>0.7554173859348199</c:v>
                </c:pt>
                <c:pt idx="3">
                  <c:v>0.6698903569697948</c:v>
                </c:pt>
                <c:pt idx="4">
                  <c:v>0.6057592039800995</c:v>
                </c:pt>
              </c:numCache>
            </c:numRef>
          </c:val>
          <c:smooth val="0"/>
        </c:ser>
        <c:ser>
          <c:idx val="1"/>
          <c:order val="1"/>
          <c:tx>
            <c:strRef>
              <c:f>Sheet1!$C$1</c:f>
              <c:strCache>
                <c:ptCount val="1"/>
                <c:pt idx="0">
                  <c:v>PICRUSt2</c:v>
                </c:pt>
              </c:strCache>
            </c:strRef>
          </c:tx>
          <c:spPr>
            <a:ln w="41275">
              <a:solidFill>
                <a:srgbClr val="E8871A"/>
              </a:solidFill>
            </a:ln>
          </c:spPr>
          <c:marker>
            <c:symbol val="diamond"/>
            <c:size val="11"/>
            <c:spPr>
              <a:solidFill>
                <a:srgbClr val="E8871A"/>
              </a:solidFill>
              <a:ln>
                <a:solidFill>
                  <a:srgbClr val="E8871A"/>
                </a:solidFill>
              </a:ln>
            </c:spPr>
          </c:marker>
          <c:dLbls>
            <c:numFmt formatCode="0.00" sourceLinked="0"/>
            <c:txPr>
              <a:bodyPr/>
              <a:lstStyle/>
              <a:p>
                <a:pPr>
                  <a:defRPr sz="1300" b="1">
                    <a:solidFill>
                      <a:srgbClr val="C96E0A"/>
                    </a:solidFill>
                    <a:latin typeface="Calibri"/>
                  </a:defRPr>
                </a:pPr>
              </a:p>
            </c:txPr>
            <c:dLblPos val="b"/>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0.7349326201315124</c:v>
                </c:pt>
                <c:pt idx="1">
                  <c:v>0.7290891055642226</c:v>
                </c:pt>
                <c:pt idx="2">
                  <c:v>0.6283853146853147</c:v>
                </c:pt>
                <c:pt idx="3">
                  <c:v>0.42041026610440596</c:v>
                </c:pt>
                <c:pt idx="4">
                  <c:v>0.23463737517831668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solidFill>
                  <a:srgbClr val="10292E"/>
                </a:solidFill>
              </a:defRPr>
            </a:pPr>
          </a:p>
        </c:txPr>
        <c:crossAx val="2140495176"/>
        <c:crosses val="autoZero"/>
        <c:auto val="1"/>
        <c:lblAlgn val="ctr"/>
        <c:lblOffset val="100"/>
        <c:noMultiLvlLbl val="0"/>
      </c:catAx>
      <c:valAx>
        <c:axId val="2140495176"/>
        <c:scaling>
          <c:max val="1.0"/>
          <c:min val="0.0"/>
        </c:scaling>
        <c:delete val="0"/>
        <c:axPos val="l"/>
        <c:majorTickMark val="out"/>
        <c:minorTickMark val="none"/>
        <c:tickLblPos val="nextTo"/>
        <c:spPr>
          <a:ln>
            <a:noFill/>
          </a:ln>
        </c:spPr>
        <c:txPr>
          <a:bodyPr/>
          <a:lstStyle/>
          <a:p>
            <a:pPr>
              <a:defRPr sz="1100"/>
            </a:pPr>
          </a:p>
        </c:txPr>
        <c:crossAx val="2118791784"/>
        <c:crosses val="autoZero"/>
        <c:majorUnit val="0.2"/>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2C39A"/>
              </a:solidFill>
            </c:spPr>
          </c:dPt>
          <c:dLbls>
            <c:numFmt formatCode="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Sheet1!$A$2:$A$3</c:f>
              <c:strCache>
                <c:ptCount val="2"/>
                <c:pt idx="0">
                  <c:v>PICRUSt2 ECs found in BV-BRC's set</c:v>
                </c:pt>
                <c:pt idx="1">
                  <c:v>BV-BRC ECs found in PICRUSt2's row</c:v>
                </c:pt>
              </c:strCache>
            </c:strRef>
          </c:cat>
          <c:val>
            <c:numRef>
              <c:f>Sheet1!$B$2:$B$3</c:f>
              <c:numCache>
                <c:formatCode>0.0%</c:formatCode>
                <c:ptCount val="2"/>
                <c:pt idx="0">
                  <c:v>0.7433</c:v>
                </c:pt>
                <c:pt idx="1">
                  <c:v>0.9038</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0.25"/>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PICRUSt2</c:v>
                </c:pt>
              </c:strCache>
            </c:strRef>
          </c:tx>
          <c:spPr>
            <a:ln w="41275">
              <a:solidFill>
                <a:srgbClr val="E8871A"/>
              </a:solidFill>
            </a:ln>
          </c:spPr>
          <c:marker>
            <c:symbol val="diamond"/>
            <c:size val="12"/>
            <c:spPr>
              <a:solidFill>
                <a:srgbClr val="E8871A"/>
              </a:solidFill>
              <a:ln>
                <a:solidFill>
                  <a:srgbClr val="E8871A"/>
                </a:solidFill>
              </a:ln>
            </c:spPr>
          </c:marker>
          <c:dLbls>
            <c:dLbl>
              <c:idx val="0"/>
              <c:spPr/>
              <c:txPr>
                <a:bodyPr/>
                <a:lstStyle/>
                <a:p>
                  <a:pPr>
                    <a:defRPr sz="1400" b="1">
                      <a:solidFill>
                        <a:srgbClr val="C96E0A"/>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C96E0A"/>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Sheet1!$B$2:$B$3</c:f>
              <c:numCache>
                <c:formatCode>0.000</c:formatCode>
                <c:ptCount val="2"/>
                <c:pt idx="0">
                  <c:v>0.7921</c:v>
                </c:pt>
                <c:pt idx="1">
                  <c:v>0.9409</c:v>
                </c:pt>
              </c:numCache>
            </c:numRef>
          </c:val>
          <c:smooth val="0"/>
        </c:ser>
        <c:ser>
          <c:idx val="1"/>
          <c:order val="1"/>
          <c:tx>
            <c:strRef>
              <c:f>Sheet1!$C$1</c:f>
              <c:strCache>
                <c:ptCount val="1"/>
                <c:pt idx="0">
                  <c:v>prFBA, source removed</c:v>
                </c:pt>
              </c:strCache>
            </c:strRef>
          </c:tx>
          <c:spPr>
            <a:ln w="41275">
              <a:solidFill>
                <a:srgbClr val="028090"/>
              </a:solidFill>
            </a:ln>
          </c:spPr>
          <c:marker>
            <c:symbol val="circle"/>
            <c:size val="10"/>
            <c:spPr>
              <a:solidFill>
                <a:srgbClr val="028090"/>
              </a:solidFill>
              <a:ln>
                <a:solidFill>
                  <a:srgbClr val="028090"/>
                </a:solidFill>
              </a:ln>
            </c:spPr>
          </c:marker>
          <c:dLbls>
            <c:dLbl>
              <c:idx val="0"/>
              <c:spPr/>
              <c:txPr>
                <a:bodyPr/>
                <a:lstStyle/>
                <a:p>
                  <a:pPr>
                    <a:defRPr sz="1400" b="1">
                      <a:solidFill>
                        <a:srgbClr val="028090"/>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028090"/>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Sheet1!$C$2:$C$3</c:f>
              <c:numCache>
                <c:formatCode>0.000</c:formatCode>
                <c:ptCount val="2"/>
                <c:pt idx="0">
                  <c:v>0.8382</c:v>
                </c:pt>
                <c:pt idx="1">
                  <c:v>0.7387</c:v>
                </c:pt>
              </c:numCache>
            </c:numRef>
          </c:val>
          <c:smooth val="0"/>
        </c:ser>
        <c:ser>
          <c:idx val="2"/>
          <c:order val="2"/>
          <c:tx>
            <c:strRef>
              <c:f>Sheet1!$D$1</c:f>
              <c:strCache>
                <c:ptCount val="1"/>
                <c:pt idx="0">
                  <c:v>prFBA, source present</c:v>
                </c:pt>
              </c:strCache>
            </c:strRef>
          </c:tx>
          <c:spPr>
            <a:ln w="25400">
              <a:solidFill>
                <a:srgbClr val="5B7179"/>
              </a:solidFill>
            </a:ln>
          </c:spPr>
          <c:marker>
            <c:symbol val="circle"/>
            <c:size val="10"/>
            <c:spPr>
              <a:solidFill>
                <a:srgbClr val="5B7179"/>
              </a:solidFill>
              <a:ln>
                <a:solidFill>
                  <a:srgbClr val="5B7179"/>
                </a:solidFill>
              </a:ln>
            </c:spPr>
          </c:marker>
          <c:dLbls>
            <c:dLbl>
              <c:idx val="0"/>
              <c:spPr/>
              <c:txPr>
                <a:bodyPr/>
                <a:lstStyle/>
                <a:p>
                  <a:pPr>
                    <a:defRPr sz="1400" b="1">
                      <a:solidFill>
                        <a:srgbClr val="5B7179"/>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5B7179"/>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Sheet1!$D$2:$D$3</c:f>
              <c:numCache>
                <c:formatCode>0.000</c:formatCode>
                <c:ptCount val="2"/>
                <c:pt idx="0">
                  <c:v>0.9842</c:v>
                </c:pt>
                <c:pt idx="1">
                  <c:v>0.8076</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5B7179"/>
                    </a:solidFill>
                  </a:rPr>
                  <a:t>Answer key</a:t>
                </a:r>
              </a:p>
            </c:rich>
          </c:tx>
          <c:layout/>
          <c:overlay val="0"/>
        </c:title>
        <c:majorTickMark val="out"/>
        <c:minorTickMark val="none"/>
        <c:tickLblPos val="nextTo"/>
        <c:txPr>
          <a:bodyPr/>
          <a:lstStyle/>
          <a:p>
            <a:pPr>
              <a:defRPr sz="1300">
                <a:solidFill>
                  <a:srgbClr val="10292E"/>
                </a:solidFill>
              </a:defRPr>
            </a:pPr>
          </a:p>
        </c:txPr>
        <c:crossAx val="2140495176"/>
        <c:crosses val="autoZero"/>
        <c:auto val="1"/>
        <c:lblAlgn val="ctr"/>
        <c:lblOffset val="100"/>
        <c:noMultiLvlLbl val="0"/>
      </c:catAx>
      <c:valAx>
        <c:axId val="2140495176"/>
        <c:scaling>
          <c:max val="1.0"/>
          <c:min val="0.7"/>
        </c:scaling>
        <c:delete val="0"/>
        <c:axPos val="l"/>
        <c:title>
          <c:tx>
            <c:rich>
              <a:bodyPr/>
              <a:lstStyle/>
              <a:p>
                <a:r>
                  <a:rPr sz="1200" b="0">
                    <a:solidFill>
                      <a:srgbClr val="5B7179"/>
                    </a:solidFill>
                  </a:rPr>
                  <a:t>Conditional EC F1</a:t>
                </a:r>
              </a:p>
            </c:rich>
          </c:tx>
          <c:layout/>
          <c:overlay val="0"/>
        </c:title>
        <c:numFmt formatCode="0.00" sourceLinked="0"/>
        <c:majorTickMark val="out"/>
        <c:minorTickMark val="none"/>
        <c:tickLblPos val="nextTo"/>
        <c:spPr>
          <a:ln>
            <a:noFill/>
          </a:ln>
        </c:spPr>
        <c:txPr>
          <a:bodyPr/>
          <a:lstStyle/>
          <a:p>
            <a:pPr>
              <a:defRPr sz="1100"/>
            </a:pPr>
          </a:p>
        </c:txPr>
        <c:crossAx val="2118791784"/>
        <c:crosses val="autoZero"/>
        <c:majorUnit val="0.05"/>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028090"/>
              </a:solidFill>
            </c:spPr>
          </c:dPt>
          <c:dPt>
            <c:idx val="4"/>
            <c:spPr>
              <a:solidFill>
                <a:srgbClr val="A7B8BC"/>
              </a:solidFill>
            </c:spPr>
          </c:dPt>
          <c:dPt>
            <c:idx val="5"/>
            <c:spPr>
              <a:solidFill>
                <a:srgbClr val="028090"/>
              </a:solidFill>
            </c:spPr>
          </c:dPt>
          <c:dPt>
            <c:idx val="6"/>
            <c:spPr>
              <a:solidFill>
                <a:srgbClr val="E8871A"/>
              </a:solidFill>
            </c:spPr>
          </c:dPt>
          <c:dPt>
            <c:idx val="7"/>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Constant floor</c:v>
                </c:pt>
                <c:pt idx="1">
                  <c:v>Random abstain</c:v>
                </c:pt>
                <c:pt idx="2">
                  <c:v>prFBA, exact-tie (shipped)</c:v>
                </c:pt>
                <c:pt idx="3">
                  <c:v>prFBA, pre-registered (legacy)</c:v>
                </c:pt>
                <c:pt idx="4">
                  <c:v>Copy nearest reference</c:v>
                </c:pt>
                <c:pt idx="5">
                  <c:v>prFBA, forced to answer</c:v>
                </c:pt>
                <c:pt idx="6">
                  <c:v>PICRUSt2</c:v>
                </c:pt>
                <c:pt idx="7">
                  <c:v>Clade-max oracle</c:v>
                </c:pt>
              </c:strCache>
            </c:strRef>
          </c:cat>
          <c:val>
            <c:numRef>
              <c:f>Sheet1!$B$2:$B$9</c:f>
              <c:numCache>
                <c:formatCode>0.000</c:formatCode>
                <c:ptCount val="8"/>
                <c:pt idx="0">
                  <c:v>0.6461</c:v>
                </c:pt>
                <c:pt idx="1">
                  <c:v>0.6661</c:v>
                </c:pt>
                <c:pt idx="2">
                  <c:v>0.6849</c:v>
                </c:pt>
                <c:pt idx="3">
                  <c:v>0.6867</c:v>
                </c:pt>
                <c:pt idx="4">
                  <c:v>0.7451</c:v>
                </c:pt>
                <c:pt idx="5">
                  <c:v>0.7473</c:v>
                </c:pt>
                <c:pt idx="6">
                  <c:v>0.7787</c:v>
                </c:pt>
                <c:pt idx="7">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28090"/>
              </a:solidFill>
            </c:spPr>
          </c:dPt>
          <c:dPt>
            <c:idx val="1"/>
            <c:spPr>
              <a:solidFill>
                <a:srgbClr val="028090"/>
              </a:solidFill>
            </c:spPr>
          </c:dPt>
          <c:dPt>
            <c:idx val="2"/>
            <c:spPr>
              <a:solidFill>
                <a:srgbClr val="028090"/>
              </a:solidFill>
            </c:spPr>
          </c:dPt>
          <c:dPt>
            <c:idx val="3"/>
            <c:spPr>
              <a:solidFill>
                <a:srgbClr val="028090"/>
              </a:solidFill>
            </c:spPr>
          </c:dPt>
          <c:dPt>
            <c:idx val="4"/>
            <c:spPr>
              <a:solidFill>
                <a:srgbClr val="05343D"/>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rxn00084 reversed</c:v>
                </c:pt>
                <c:pt idx="1">
                  <c:v>rxn00381 reversed</c:v>
                </c:pt>
                <c:pt idx="2">
                  <c:v>rxn08167 reversed + NadX</c:v>
                </c:pt>
                <c:pt idx="3">
                  <c:v>rxn10966 reversed</c:v>
                </c:pt>
                <c:pt idx="4">
                  <c:v>rxn09180 + catalase</c:v>
                </c:pt>
              </c:strCache>
            </c:strRef>
          </c:cat>
          <c:val>
            <c:numRef>
              <c:f>Sheet1!$B$2:$B$6</c:f>
              <c:numCache>
                <c:formatCode>0</c:formatCode>
                <c:ptCount val="5"/>
                <c:pt idx="0">
                  <c:v>1</c:v>
                </c:pt>
                <c:pt idx="1">
                  <c:v>6</c:v>
                </c:pt>
                <c:pt idx="2">
                  <c:v>8</c:v>
                </c:pt>
                <c:pt idx="3">
                  <c:v>14</c:v>
                </c:pt>
                <c:pt idx="4">
                  <c:v>15</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7.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E8871A"/>
              </a:solidFill>
            </c:spPr>
          </c:dPt>
          <c:dPt>
            <c:idx val="3"/>
            <c:spPr>
              <a:solidFill>
                <a:srgbClr val="00A896"/>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Unresolved</c:v>
                </c:pt>
                <c:pt idx="1">
                  <c:v>Mis-specified</c:v>
                </c:pt>
                <c:pt idx="2">
                  <c:v>Template error</c:v>
                </c:pt>
                <c:pt idx="3">
                  <c:v>Near equilibrium</c:v>
                </c:pt>
                <c:pt idx="4">
                  <c:v>Database error</c:v>
                </c:pt>
              </c:strCache>
            </c:strRef>
          </c:cat>
          <c:val>
            <c:numRef>
              <c:f>Sheet1!$B$2:$B$6</c:f>
              <c:numCache>
                <c:formatCode>0</c:formatCode>
                <c:ptCount val="5"/>
                <c:pt idx="0">
                  <c:v>2</c:v>
                </c:pt>
                <c:pt idx="1">
                  <c:v>2</c:v>
                </c:pt>
                <c:pt idx="2">
                  <c:v>5</c:v>
                </c:pt>
                <c:pt idx="3">
                  <c:v>8</c:v>
                </c:pt>
                <c:pt idx="4">
                  <c:v>24</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Depth 20</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Sheet1!$B$2:$B$3</c:f>
              <c:numCache>
                <c:formatCode>0.0"%"</c:formatCode>
                <c:ptCount val="2"/>
                <c:pt idx="0">
                  <c:v>23.36779867923696</c:v>
                </c:pt>
                <c:pt idx="1">
                  <c:v>22.099983821388125</c:v>
                </c:pt>
              </c:numCache>
            </c:numRef>
          </c:val>
        </c:ser>
        <c:ser>
          <c:idx val="1"/>
          <c:order val="1"/>
          <c:tx>
            <c:strRef>
              <c:f>Sheet1!$C$1</c:f>
              <c:strCache>
                <c:ptCount val="1"/>
                <c:pt idx="0">
                  <c:v>Depth 100</c:v>
                </c:pt>
              </c:strCache>
            </c:strRef>
          </c:tx>
          <c:spPr>
            <a:solidFill>
              <a:srgbClr val="028090"/>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Sheet1!$C$2:$C$3</c:f>
              <c:numCache>
                <c:formatCode>0.0"%"</c:formatCode>
                <c:ptCount val="2"/>
                <c:pt idx="0">
                  <c:v>9.496845170684356</c:v>
                </c:pt>
                <c:pt idx="1">
                  <c:v>8.233442661528732</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E8871A"/>
              </a:solidFill>
            </c:spPr>
          </c:dPt>
          <c:dPt>
            <c:idx val="3"/>
            <c:spPr>
              <a:solidFill>
                <a:srgbClr val="E8871A"/>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Our synthetic MAGs, 30% complete</c:v>
                </c:pt>
                <c:pt idx="1">
                  <c:v>Our synthetic MAGs, complete</c:v>
                </c:pt>
                <c:pt idx="2">
                  <c:v>Real MAGs, 95–100% complete</c:v>
                </c:pt>
                <c:pt idx="3">
                  <c:v>Real MAGs</c:v>
                </c:pt>
                <c:pt idx="4">
                  <c:v>Isolate genomes</c:v>
                </c:pt>
              </c:strCache>
            </c:strRef>
          </c:cat>
          <c:val>
            <c:numRef>
              <c:f>Sheet1!$B$2:$B$6</c:f>
              <c:numCache>
                <c:formatCode>0%</c:formatCode>
                <c:ptCount val="5"/>
                <c:pt idx="0">
                  <c:v>0.3905</c:v>
                </c:pt>
                <c:pt idx="1">
                  <c:v>0.821</c:v>
                </c:pt>
                <c:pt idx="2">
                  <c:v>0.206</c:v>
                </c:pt>
                <c:pt idx="3">
                  <c:v>0.1539</c:v>
                </c:pt>
                <c:pt idx="4">
                  <c:v>0.8497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Median aligned fraction by MAG completeness, source present</a:t>
            </a:r>
          </a:p>
        </c:rich>
      </c:tx>
      <c:layout/>
      <c:overlay val="0"/>
    </c:title>
    <c:autoTitleDeleted val="1"/>
    <c:plotArea>
      <c:barChart>
        <c:barDir val="col"/>
        <c:grouping val="clustered"/>
        <c:ser>
          <c:idx val="0"/>
          <c:order val="0"/>
          <c:tx>
            <c:strRef>
              <c:f>Sheet1!$B$1</c:f>
              <c:strCache>
                <c:ptCount val="1"/>
                <c:pt idx="0">
                  <c:v>MAG (query) aligned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c:formatCode>
                <c:ptCount val="5"/>
                <c:pt idx="0">
                  <c:v>0.9984000000000001</c:v>
                </c:pt>
                <c:pt idx="1">
                  <c:v>0.9984000000000001</c:v>
                </c:pt>
                <c:pt idx="2">
                  <c:v>0.9984000000000001</c:v>
                </c:pt>
                <c:pt idx="3">
                  <c:v>0.9982</c:v>
                </c:pt>
                <c:pt idx="4">
                  <c:v>0.9976999999999999</c:v>
                </c:pt>
              </c:numCache>
            </c:numRef>
          </c:val>
        </c:ser>
        <c:ser>
          <c:idx val="1"/>
          <c:order val="1"/>
          <c:tx>
            <c:strRef>
              <c:f>Sheet1!$C$1</c:f>
              <c:strCache>
                <c:ptCount val="1"/>
                <c:pt idx="0">
                  <c:v>Reference aligned</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c:formatCode>
                <c:ptCount val="5"/>
                <c:pt idx="0">
                  <c:v>0.9904999999999999</c:v>
                </c:pt>
                <c:pt idx="1">
                  <c:v>0.8848</c:v>
                </c:pt>
                <c:pt idx="2">
                  <c:v>0.6912</c:v>
                </c:pt>
                <c:pt idx="3">
                  <c:v>0.49375</c:v>
                </c:pt>
                <c:pt idx="4">
                  <c:v>0.2962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6"/>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+0.103</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+0.077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0.103</c:v>
                </c:pt>
                <c:pt idx="1">
                  <c:v>0.1037</c:v>
                </c:pt>
                <c:pt idx="2">
                  <c:v>0.1026</c:v>
                </c:pt>
                <c:pt idx="3">
                  <c:v>0.1021</c:v>
                </c:pt>
                <c:pt idx="4">
                  <c:v>0.101</c:v>
                </c:pt>
                <c:pt idx="5">
                  <c:v>0.1033</c:v>
                </c:pt>
                <c:pt idx="6">
                  <c:v>0.0996</c:v>
                </c:pt>
                <c:pt idx="7">
                  <c:v>0.1003</c:v>
                </c:pt>
                <c:pt idx="8">
                  <c:v>0.099</c:v>
                </c:pt>
                <c:pt idx="9">
                  <c:v>0.0966</c:v>
                </c:pt>
                <c:pt idx="10">
                  <c:v>0.0913</c:v>
                </c:pt>
                <c:pt idx="11">
                  <c:v>0.0876</c:v>
                </c:pt>
                <c:pt idx="12">
                  <c:v>0.0866</c:v>
                </c:pt>
                <c:pt idx="13">
                  <c:v>0.0767</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+0.212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0.2121</c:v>
                </c:pt>
                <c:pt idx="1">
                  <c:v>0.2145</c:v>
                </c:pt>
                <c:pt idx="2">
                  <c:v>0.213</c:v>
                </c:pt>
                <c:pt idx="3">
                  <c:v>0.2133</c:v>
                </c:pt>
                <c:pt idx="4">
                  <c:v>0.2127</c:v>
                </c:pt>
                <c:pt idx="5">
                  <c:v>0.2133</c:v>
                </c:pt>
                <c:pt idx="6">
                  <c:v>0.2134</c:v>
                </c:pt>
                <c:pt idx="7">
                  <c:v>0.2106</c:v>
                </c:pt>
                <c:pt idx="8">
                  <c:v>0.2109</c:v>
                </c:pt>
                <c:pt idx="9">
                  <c:v>0.208</c:v>
                </c:pt>
                <c:pt idx="10">
                  <c:v>0.2019</c:v>
                </c:pt>
                <c:pt idx="11">
                  <c:v>0.1974</c:v>
                </c:pt>
                <c:pt idx="12">
                  <c:v>0.1992</c:v>
                </c:pt>
                <c:pt idx="13">
                  <c:v>0.1903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with a qualifying surviving hit, as each gate is relaxed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7F969C"/>
              </a:solidFill>
            </c:spPr>
          </c:dPt>
          <c:dPt>
            <c:idx val="1"/>
            <c:spPr>
              <a:solidFill>
                <a:srgbClr val="E8871A"/>
              </a:solidFill>
            </c:spPr>
          </c:dPt>
          <c:dPt>
            <c:idx val="2"/>
            <c:spPr>
              <a:solidFill>
                <a:srgbClr val="E8871A"/>
              </a:solidFill>
            </c:spPr>
          </c:dPt>
          <c:dPt>
            <c:idx val="3"/>
            <c:spPr>
              <a:solidFill>
                <a:srgbClr val="E8871A"/>
              </a:solidFill>
            </c:spPr>
          </c:dPt>
          <c:dPt>
            <c:idx val="4"/>
            <c:spPr>
              <a:solidFill>
                <a:srgbClr val="5B7179"/>
              </a:solidFill>
            </c:spPr>
          </c:dPt>
          <c:dPt>
            <c:idx val="5"/>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c:v>
                </c:pt>
                <c:pt idx="2">
                  <c:v>AF gate 15% → 2%</c:v>
                </c:pt>
                <c:pt idx="3">
                  <c:v>AF gate 15% → 5%</c:v>
                </c:pt>
                <c:pt idx="4">
                  <c:v>ANI floor 83 → 0</c:v>
                </c:pt>
                <c:pt idx="5">
                  <c:v>As shipped</c:v>
                </c:pt>
              </c:strCache>
            </c:strRef>
          </c:cat>
          <c:val>
            <c:numRef>
              <c:f>Sheet1!$B$2:$B$7</c:f>
              <c:numCache>
                <c:formatCode>0.0%</c:formatCode>
                <c:ptCount val="6"/>
                <c:pt idx="0">
                  <c:v>0.655</c:v>
                </c:pt>
                <c:pt idx="1">
                  <c:v>0.567</c:v>
                </c:pt>
                <c:pt idx="2">
                  <c:v>0.452</c:v>
                </c:pt>
                <c:pt idx="3">
                  <c:v>0.379</c:v>
                </c:pt>
                <c:pt idx="4">
                  <c:v>0.316</c:v>
                </c:pt>
                <c:pt idx="5">
                  <c:v>0.311</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0.6152918412949672</c:v>
                </c:pt>
                <c:pt idx="1">
                  <c:v>0.8554478658764629</c:v>
                </c:pt>
                <c:pt idx="2">
                  <c:v>0.5513590708337458</c:v>
                </c:pt>
                <c:pt idx="3">
                  <c:v>0.5548906545631169</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0.4308196690748576</c:v>
                </c:pt>
                <c:pt idx="1">
                  <c:v>0.6653516900780703</c:v>
                </c:pt>
                <c:pt idx="2">
                  <c:v>0.5850789636559807</c:v>
                </c:pt>
                <c:pt idx="3">
                  <c:v>0.5389312748737205</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0.3580265176745297</c:v>
                </c:pt>
                <c:pt idx="1">
                  <c:v>0.5763639031854816</c:v>
                </c:pt>
                <c:pt idx="2">
                  <c:v>0.5674949246776799</c:v>
                </c:pt>
                <c:pt idx="3">
                  <c:v>0.5306136276231121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Uncovered (1 − coverage)</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Sheet1!$B$2:$B$4</c:f>
              <c:numCache>
                <c:formatCode>0.0"%"</c:formatCode>
                <c:ptCount val="3"/>
                <c:pt idx="0">
                  <c:v>7.927927927927925</c:v>
                </c:pt>
                <c:pt idx="1">
                  <c:v>25.036868973340898</c:v>
                </c:pt>
                <c:pt idx="2">
                  <c:v>34.95777219812828</c:v>
                </c:pt>
              </c:numCache>
            </c:numRef>
          </c:val>
        </c:ser>
        <c:ser>
          <c:idx val="1"/>
          <c:order val="1"/>
          <c:tx>
            <c:strRef>
              <c:f>Sheet1!$C$1</c:f>
              <c:strCache>
                <c:ptCount val="1"/>
                <c:pt idx="0">
                  <c:v>Record emptied by exclusion</c:v>
                </c:pt>
              </c:strCache>
            </c:strRef>
          </c:tx>
          <c:spPr>
            <a:solidFill>
              <a:srgbClr val="05343D"/>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Sheet1!$C$2:$C$4</c:f>
              <c:numCache>
                <c:formatCode>0.0"%"</c:formatCode>
                <c:ptCount val="3"/>
                <c:pt idx="0">
                  <c:v>4.7</c:v>
                </c:pt>
                <c:pt idx="1">
                  <c:v>22.9</c:v>
                </c:pt>
                <c:pt idx="2">
                  <c:v>33.4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numFmt formatCode="0&quot;%&quot;"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Sheet1!$B$2:$B$3</c:f>
              <c:numCache>
                <c:formatCode>0.00</c:formatCode>
                <c:ptCount val="2"/>
                <c:pt idx="0">
                  <c:v>0.6152918412949672</c:v>
                </c:pt>
                <c:pt idx="1">
                  <c:v>0.5768245170258803</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Sheet1!$C$2:$C$3</c:f>
              <c:numCache>
                <c:formatCode>0.00</c:formatCode>
                <c:ptCount val="2"/>
                <c:pt idx="0">
                  <c:v>0.4308196690748576</c:v>
                </c:pt>
                <c:pt idx="1">
                  <c:v>0.675383203051457</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Sheet1!$D$2:$D$3</c:f>
              <c:numCache>
                <c:formatCode>0.00</c:formatCode>
                <c:ptCount val="2"/>
                <c:pt idx="0">
                  <c:v>0.3580265176745297</c:v>
                </c:pt>
                <c:pt idx="1">
                  <c:v>0.7153385075515553</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reports every benchmark result at the new standard record depth: each amplicon now keeps its 100 best hits, from an edlib shortlist of 500 candidates that is rescored in full; the previous deck used 20-hit records. Both real-ASV deployment runs (the synthetic-genome build and the weighting census) were rebuilt at depth 100; the depth-100 build is local, and the KBase workspace still holds the earlier 20-hit build. The headline has not changed direction: on a controlled benchmark, where both methods share one reference set, one answer key and leave-genus-out folds, PICRUSt2 predicts EC content more accurately than prFBA, beyond the effect size fixed in advance. Its gapfill phenotype gate (C12), which failed in the pre-registered run, passes under amendments A-C12 and A-C13 (corrected templates, post hoc and disclosed), so that leave-genus-out run is valid; no EC number changed. New in this deck is a calibration of the per-function weight p(function): it ranks functions correctly but is overconfident, and thresholding it barely moves accuracy. Raising the record depth more than halved the self-exclusion abstention rate under the shipped exact-tie rule while leaving conditional quality roughly unchanged, so coverage and population figures remain lower bounds. Re-run at depth 100 under one selection rule, the three-panel comparison still shows conditional quality generalizing across panels while self-exclusion coverage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Amplicon surveys capture more species per unit of DNA than shotgun sequencing, but a 16S read carries no genes: 16S tells you who is present, but GEM modeling needs gene content; MAGs are incomplete, expensive, and biased to abundant members; amplicons are cheap but functionally mute. prFBA maps each ASV to reference genome(s) via alignment scoring, keeps co-optimal candidates, and preserves the ambiguity as probabilities that are sorted out in optimization: the uncertainty in mapping an amplicon to a genome is real information, so prFBA represents it instead of discarding it. The reference set is the BV-BRC 16S pull of 1,428,909 records, collapsed to 459,301 unique sequences of at least 200 bp. The benchmark behind most of this deck is 67,991 in-silico amplicons from 10,000 genomes, in 8 regions of the 16S gene, and the depth-100 deployment build made 3,225 synthetic genomes from 3,276 real ASVs (local; KBase workspace 261948 still holds the 20-hit build of 3,224).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a real ASV or an in-silico PCR product in the benchmarks, is aligned in three stages: an edlib edit-distance prefilter keeps the 500 closest of 459,301 references, Smith-Waterman scores them, and an exact Biopython rescore emits a 100-hit record. Selection keeps every reference tied at the best identity, collapses them to one genome per species, and abstains below the family floor of 0.865 identity. The selected genomes are merged by function into one synthetic genome whose per-function weight p = k/n feeds the prFBA objective. The pipeline is hardware-adaptive: the prefilter runs identically everywhere and only the scoring backend changes (the CUDA kernel, or Biopython on CPU), so outputs are comparable across machines. Every hit carries its disposition and the reason for it in a JSON audit, so a selection can be checked rather than trusted, and every threshold it applies is a published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scans all 459,301 unique references with edlib in infix mode and keeps the 500 closest per amplicon; it runs identically on every machine and took 70% of the 6.9 h that the depth-100 run needed for 60,461 unique amplicons. Stage 2 scores the shortlist with the GPU Smith-Waterman kernel, which on an exhaustive sweep reached 57.3 GCUPS on one RTX 5070 Ti, 7.8 times a 60-process Biopython CPU baseline, and is bit-exact to Biopython on 400/400 control pairs. Stage 3 re-aligns candidates with Biopython to recover identity and coverage. Since 2026-10-27 nothing is re-scored: the GPU score is bit-exact to Biopython's on all 6,046,100 hits of the depth-100 records, so the GPU ranks the shortlist, under the order the re-score itself used (score, then edit distance, then reference index), and Biopython only aligns the top 100, because the score-only kernel cannot give identity, aligned length or coordinates. Each alignment's score is checked against the GPU's, with a re-score of the best 200 as the fallback. Ranked this way the stage reproduces all 60,461 records of the depth-100 run byte for byte, with no fallback, in 3,425 s instead of 7,128 s on 40 workers: that run re-scored all 500 candidates (about 4.3 ms each) before aligning 100 (about 16 ms each), which made the Biopython stage 29% of its wall time; about three fifths of that stage's growth from depth 20 was the re-score. Summed over its stages, the pipeline as it runs now takes about 5.9 h for these amplicons, against 6.9 h. Retrieval is exact rather than approximate because a nucleotide-transformer embedding put the true best hit first only 50.5% of the time, against 75.5% for a k-mer retriever, and random 16S pairs already average cosine 0.90. The CUDA kernel is now the standalone gpusw package, reusable outside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is first classified by its best-hit identity against the Yarza/Stackebrandt bands (species 0.987, genus 0.945, family 0.865); below the family floor it abstains with a taxonomy-only record, so no false metabolism is injected, and a reliability gate drops hits with coverage under 0.90 or an SW-edlib identity discordance above 0.02. The shipped exact-tie union keeps every reference tied at the best identity, then one genome per BV-BRC species (the highest-identity assembly, the gene-richest on a further tie), so a densely sequenced species cannot flood the union, and gene count never changes the taxonomic call; the first survivor, the anchor, makes that call. On the original panel with 100-hit records the union keeps the source genome for 99.1% of the 67,466 amplicons whose record holds it or a same-taxon assembly (99.9% on full-length 16S), against 81.3% for the earlier legacy (ordered) reducer, whose order-dependent stages discarded it 12,602 times; every one of the union's 626 misses is species de-duplication keeping a conspecific assembly. Keeping ties has a cost with the source present: a 100-hit record lets the union grow, and V4 gene-capture precision falls to 0.795 against 0.856 for the legacy reducer. The slides that follow use the exact-tie union throughout, the rule users run; the legacy reducer stays available as an option. Tie sets can also outgrow the record: for 453 of 60,461 distinct sequences all 100 retained hits are tied at the best score (median 19 species), and for 95 the whole 500-candidate shortlist is tied, so their probabilities come from a truncated sample of the co-optimal genomes.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answered ASV the selected references are merged into one synthetic KBase Genome keyed on gene function: the first genome to carry a function creates the merged feature and later genomes only add a vote, so p(function) = k/n is the share of the n selected genomes that carry it; core functions get 1, accessory functions less, and a single reference gives 1 for every function. Each function enters the ModelSEED draft as a gene-associated reaction, the reaction takes the largest weight among its genes, and prFBA penalizes flux through low-weight reactions; the weight never gates or removes a reaction. The weight is an annotation prevalence, not a calibrated probability, and the calibration slide measures how well it serves as one. Each genome ships with provenance: git commit, input hashes, per-stage parameters, and the abstention reason when no model was built. The depth-100 build made 3,225 synthetic genomes from 3,276 real ASVs, 51 of which abstained rather than guess; it is local, and KBase workspace 261948 still holds the 20-hit build (3,224 genomes and a GenomeSet, 52 abstaining). As expected, depth barely moved the built and abstained counts but changed the unions: of the 3,224 ASVs answered by both builds, 149 have a different genome set and 130 a larger one, 129 of those where the 20th hit tied the best. Whole genomes take the same path: a MAG enters selection through skani average nucleotide identity instead of 16S identity, with thresholds recalibrated for genomes (95 ANI same species, 85 to 95 putatively species-distinct) and an aligned-fraction guard, and only BV-BRC matches go on to reconstruction; the MAG arm has its own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 selector usually returns a single reference, so p = 1 for every function and prFBA reduces to a two-level parsimony objective: that holds for 86.8% of answered amplicons on the controlled benchmark under the shipped exact-tie rule, and for 62.5% of answered ASVs in a 3,950-ASV deployment run at the same 100-hit record depth. Where the weight is active its commonest fractional value is 0.5, and the selection size tracks database redundancy rather than query confidence: it is largest where one reference would suffice and falls to one where the query is novel, so the hedge is allocated inversely to need. Where several genomes are merged they are often not a pangenome: 6.4% of the benchmark's multi-genome tie sets span phyla, against 31.9% of two-genome and 62.2% of larger deployment merges. Every validation arm in this deck scores the unweighted union of the selected references' content, so no accuracy number in them tests the weighting. Two slides do: the next tests p itself against the truth genomes, and the one after solves the prFBA objective on 360 benchmark amplicons in a declared, post-hoc in-silico test. On prior art: attaching a likelihood to each reaction on the same ModelSEED/KBase stack is likelihood-based gapfilling (Benedict 2014), the objective is GIMME's with prevalence in place of expression (Becker and Palsson 2008), and pangenome profiles from a 16S call (PanFP) and nearest-genome copying (Piphillin) precede it; what is new is the combination of exact-tie selection at database depth with abstention.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declared, post-hoc in-silico test of the prFBA objective (design and results: region_validation/shared_reference/WEIGHTED_OBJECTIVE_TEST.md and WEIGHTED_OBJECTIVE_RESULTS.md). Each amplicon's union is built into a gapfilled ModelSEED model, and the objective is solved with real p, with every gene-backed p = 1 (what a single-genome selection gives), with p shuffled among the gene-backed reactions, with plain parsimony, and with an oracle that prices only the reactions the source genome's own draft lacks. Flux is measured over the whole optimal face, as a fraction of the two-tier arm's gene-backed flux. Real p lowers truth-absent flux by −0.61 points [−0.97, −0.25] at the face midpoint, below the 1-point smallest effect of interest; at the face minimum the interval includes 0 (−0.25 [−0.53, +0.11]). Real minus shuffled p is −1.20 points; the oracle reaches −2.49 points, so p achieves 24% of what the oracle weighting achieves. Degeneracy falls from 41.5 to 32.7 variable gene-backed reactions (−8.9 [−10.3, −7.5]), but shuffled p leaves fewer still (27.9; real minus shuffled +4.8), so the tie-breaking comes from any gradation of the costs, not from p's information. The exchange term is about 99% of the objective and is the same under every weighting on 357 of 360 amplicons, so the internal weights only choose among solutions of equal exchange flux. At n = 1 the weighted and two-tier objectives return identical solutions (60 of 60). The released single-model path of MSProbability.prFBA does not run as shipped; the test used a corrected copy, checked on every amplicon against the released source run with its two failing lines corrected (360 of 360); a fix is committed on ModelSEEDpy branch fix-prfba-single-model (b6857a0). Truth is an annotation-level proxy; the decision rules were amended after a 10-amplicon smoke, before the full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in-silico validation runs the unaltered pipeline on amplicons whose true genome and gene set are known: 10,000 taxonomy-stratified BV-BRC genomes (deterministic, seed 1729), in-silico PCR for 8 regions from V1–V2 to V7–V9 with full-length 16S as the positive control, 67,991 amplicons in all. Each amplicon is scored two ways from one run: self-inclusion leaves the source organism in the database, the realistic upper bound, while self-exclusion removes the source genome, its taxon and every hit at identity 0.987 or above, then re-selects, as if the organism were novel. Taxonomic accuracy is scored against the NCBI lineage and gene capture (macro recall) against the source genome's PGFam set. With the source present, genus accuracy is 0.89–1.00, family 0.92–1.00 and gene capture 0.99–1.00 (macro recall) across the regions; with it removed, among amplicons that still answer, genus accuracy is 0.58–0.73, gene capture 0.66–0.70 and family accuracy 0.76–0.85, 11–18 points above genus: family-level metabolism transfers even for novel organisms, and genus is where short amplicons pay. The whole-population figures, which count every non-answer as a miss, are on the denominators slide. The paired McNemar test (Holm across 28 pairs) finds genus accuracy different in 26 of 28 region pairs; the 2 that do not differ are V1–V2 against V1–V3, and V3–V4 against V7–V9 (Holm p 0.09–0.14). Every figure uses the exact-tie union on 100-hit records, the basis of the manuscript's tab:main (taxacc_region_summary.json, gene_capture_by_region.json and mcnemar_regions.json).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bars is how much a measure falls when the source organism is removed: genus accuracy in points (self-inclusion minus self-exclusion, among amplicons that answer) and gene capture (macro recall) in percentage points. Gene capture loses 29.6–32.9 points across the regions, while the genus loss is 25–27 points for full-length 16S and the two V1-anchored regions and 31–32 points for the 5 regions that start at V3 or later. V1–V2, the second-shortest region, generalizes like V1–V3, so the split is by where the amplicon starts, not by its length. In absolute terms, conditional genus accuracy with the source removed runs from 0.73 (full-length 16S) down to 0.58 (V4). Region therefore costs taxonomic resolution more than it costs raw functional recovery. Anchor predictor, Bacteria and Archaea pooled, exact-tie union, 100-hit records (manuscript fig:leakage); source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Self-exclusion accuracy has two denominators, and both count only amplicons the truth can score. Conditional accuracy (0.58–0.73 by region) divides correct genus calls by the amplicons that still resolve to a reference named at genus. Whole-population accuracy (0.37–0.54) divides by every genus-scoreable amplicon and counts two kinds of non-answer as misses: the 10.3% of genus-scoreable amplicons that receive no taxonomic call once their species-level relatives are removed (9.5% of all 67,991 amplicons), and a further 21.6% whose selected reference has no named genus, so genus coverage is 0.64–0.74 by region. Amplicons whose own truth has no named NCBI genus (22–25% by region, 15,965 pooled) are unscoreable and leave both denominators instead of counting as wrong. That exclusion is one of two scorer corrections, which moved the published generalization numbers in opposite directions: counting unscoreable ranks as prediction failures had made population accuracy pessimistic, and dropping abstentions from the gene-capture mean instead of scoring them zero had inflated capture. With abstentions scored zero, population gene capture is 58–64% against 66–70% among answered amplicons (9.7% of scoreable amplicons keep no genome). Both corrections came from re-deriving each metric from its own definition, and both are now unit-checked in the scorer. Figures: exact-tie union, 100-hit records, from asv_region_concordance.csv, benchmark_truth.json,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PICRUSt2 2.6.3 places each amplicon in a fixed reference phylogeny with EPA-ng and gappa after HMMER profile alignment, infers gene content by maximum-parsimony ancestral-state reconstruction with castor over 27,870 reference genomes, and always returns a gene complement. prFBA aligns each amplicon to named reference genomes, about 315,000 BV-BRC genomes behind 459,301 unique 16S sequences, unions the gene content those genomes actually carry, and abstains below the 0.865 family floor. Both run on the same 67,991 benchmark amplicons and are scored against the same truth. prFBA predicts PGFam gene families and PICRUSt2 predicts EC numbers, so the truth and both predictions pass through one map: a family's BV-BRC product string yields its EC numbers, and EC numbers yield ModelSEED reactions through the ModelSEED Biochemistry aliases; metrics use the 2,132 ECs both systems can express and the 7,042 reactions those reach. Family-level products lose some EC numbers, and because truth and prediction go through the same map, that loss cancels. The 953 amplicons whose source genome has no gene-family annotation, and so no truth EC set, are unscoreable and excluded. Two asymmetries are built in rather than controlled: each method queries its own database, roughly tenfold apart, and the truth is BV-BRC annotation, prFBA's own vocabulary; the controlled comparison later removes both. PICRUSt2 was installed without conda (uv venv, user-space R and castor, epa-ng, gappa and HMMER from source), and 60 of its 61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PICRUSt2's own NSTI distance bins, its EC precision falls from 0.735 to 0.235 while its recall barely moves (0.870 to 0.769): distant placements keep asserting gene content, and most of the extra assertions are wrong. prFBA's precision falls only from 0.822 to 0.606, and not because it abstains: at NSTI ≥ 0.5 it still answers 86.0% of amplicons, against 92.1% in the nearest bin. Instead it asserts far smaller gene sets there, about 141 ECs per answered amplicon against PICRUSt2's 412 on the same 603 amplicons, whose truth sets average 123 and on which PICRUSt2's precision is 0.230. High NSTI partly reflects PICRUSt2's sparser tree: for 248 of the 603, prFBA's database holds a different organism at 0.995 identity or more, which self-exclusion strips before selection. Below the 0.865 family floor prFBA declines to answer at all: for the 547 amplicons whose nearest different organism sits there, PICRUSt2 predicts at precision 0.316. That is the point of the slide: an abstention tells you not to build a model, while a model built from a confidently wrong genome is a plausible artefact that propagates into every flux prediction. Shipped exact-tie union, 100-hit records; source comparison_summary.json (by_stratum)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and no prediction is involved. 2,689 scoreable benchmark genomes sit in both databases, annotated independently by BV-BRC and by the PICRUSt2 project with different gene callers and EC rules. If PICRUSt2 placed an amplicon perfectly, on its own source genome's tip, it would return that genome's stored row, so the two annotations of the one genome are compared directly. PICRUSt2's row recovers 90.4% of the BV-BRC EC set at 74.3% precision (Jaccard 0.688): a quarter of PICRUSt2's enzyme calls and a tenth of BV-BRC's have no counterpart in the other, and neither is wrong, they are different annotation pipelines. This sets the reference level for what PICRUSt2 can score against our truth, but it is not a strict bound: for 43% of in-reference amplicons PICRUSt2's prediction is more precise than that genome's own row. On those amplicons, which land close to the source (median NSTI 0.010), PICRUSt2's measured recall (0.868) is 96% of this level and its precision (0.735) essentially at it, so the rest of the gap to prFBA under a BV-BRC truth comes mostly from the two projects annotating the same genomes differently. That does not extend to novel or distant amplicons, where PICRUSt2's precision falls well below this level (0.642 when the source is absent from its reference, 0.235 at NSTI ≥ 0.5). Source: annotation_ceiling.json (shared vocabulary; independent of record depth)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predictions, on the same amplicons and in the same EC vocabulary, are scored against two answer keys for the same genome: BV-BRC's annotation and PICRUSt2's own. Under our key prFBA leads by 0.046 F1; under PICRUSt2's it trails by 0.202, so each method scores best in its own dialect. The diagonal is near-tautological, since each system is handed back its own annotation of a genome it already contains, and each off-diagonal cell is 0.82–0.88 of the home score. So do not claim that prFBA predicts function more accurately than PICRUSt2: this benchmark cannot support that in either direction, which is why the controlled comparison was built, and its result does not favour us. What does survive here is coverage and abstention, a design difference rather than a measurement; the shape of precision decay with novelty, within each method; and prFBA's own validation, whose output is a BV-BRC genome, so that truth is the operative one there. A fair cross-method ranking needs a truth neither system authors, which is exactly what the shared-reference k-fold benchmark provides. Conditional on prFBA answering: 18,346 of the 19,686 amplicons whose source genome is in both databases; shipped exact-tie union, 100-hit records; source annotation_dialect.json.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both methods are confined, fold by fold, to one species-dereplicated reference (7,175 genomes, median per fold; PICRUSt2's alignment, tree and trait table rebuilt from it with its own tooling) and scored in one EC vocabulary, BV-BRC's, against the same truth. Holdout blocks are the connected components of a leakage graph joining genomes that share a genus, an identical amplicon or a 16S identity of at least 0.987, packed into 5 folds; the planned 10 were impossible because the largest component holds 23.5% of the 8,872 eligible genomes. Leave-genus-out is primary (63,871 scored cells, cluster bootstrap over 2,376 holdout groups, effective n 6,716); leave-family-out is secondary (14,692 cells, 171 groups, effective n 598). The smallest effect of interest (0.02 population F1), the selection mode, the controls and the exit criteria were fixed before the run; leave-one-fold-out selection chose the legacy reducer in every fold at both ranks, so 'prFBA' on the next slide is that rule. The baselines are a constant (the most prevalent ECs), nn1 (copy the top-ranked surviving reference), a family donor (a random same-family genome), random abstain (prFBA's forced answers declined at random to its coverage) and clade-max (the best genome of the nearest surviving clade, chosen against the truth: an oracle bound). Panel caveat: an HMM check finds 179 of 10,000 panel records are not 16S and 456 cover less than 80% of the model. Sources: region_validation/shared_reference/data/summary_genus.json, data_family/summary_family.json and data/fold_plan.json.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and the gapfill validity gate C12 passes under amendments A-C12 and A-C13 (post hoc and disclosed: corrected templates, the gapfiller's reversals and an updated ModelSEEDpy), so the leave-genus-out artefact is valid; rescoring changed no EC number, and the next three slides show why C12 failed in the pre-registered run and how the fix cleared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passes under amendments A-C12 and A-C13 (templates 21a8084 with the gapfiller's reversals applied, on ModelSEEDpy c2e31a0, post hoc and disclosed): no gapfilled model of any arm makes ATP or biomass from water and protons (0 of 8,614 rows, against 49 in the pre-registered run, 10 of them truth rows), so every genome stays in every arm's gapfilled comparison; the ATP pass on the corrected templates reproduced the pre-registered pass row for row, so the ATP numbers here are unchanged, and the next two slides show the pre-registered failure's cause and the fix. The phenotype arm uses the shipped exact-tie rule on 1,000 pre-specified genomes (ATP) and a 200-genome gapfilled subsample; sources: shared_reference/data/phenotype_atp_c13/ and phenotype_gf_c13/phenotype_summary.json,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C12 fails on gapfilled models only: rebuilding every gapfilled model of the 20 affected genomes (218 models, truth first, exactly as the pipeline orders them) reproduces the stored rows, and 44 of them make ATP on water and protons alone: these are C12's 49 gated rows, since each of the 5 truth models is shared by both pipelines and counts twice; none makes biomass. Every leak is a closed internal cycle (zero net exchange, persisting with every exchange closed), and in each leaking model exactly one reaction added by the final MSGapfill step is a single cut that abolishes the loop: the bars count those cuts, rxn09180 15, rxn10966 14, rxn08167 8, rxn00381 6, rxn00084 1. The catalase loop accounts for 15: every template allows catalase (rxn00006) only as 2 H2O + O2 to 2 H2O2, uphill by 45.2 kcal/mol, and rxn09180 (anaerobic protoporphyrinogen oxidase) closes it. In the other 29 the culprit (rxn10966, rxn08167 with draft NadX, rxn00381, rxn00084) is reversible in the template and carries a negative reverse penalty, so the gapfilling objective prices the reverse below the forward direction and adds it reversed. Separately, the ModelSEEDpy fork this pipeline runs (MSBuilder.build_and_gapfill, inlined in phenotype_fold.gapfill_block) integrates the gapfiller's new reactions but drops its reversals; that causes no leak but left 10 of the 218 models unable to grow (upstream ModelSEEDpy applies them). The failure is a reconstruction-pipeline artefact that touches every arm, truth included, not a property of any method. Sources: region_validation/shared_reference/EGC_C12_REPORT.md and EGC_C12_gated_models.csv (column msgapfill_cut).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restricts five template reactions to their physiological direction (rxn00006, rxn10966, rxn00381, rxn00084, rxn08167; ModelSEEDTemplates 21a8084) and applies the reversals the gapfiller proposes, which the pipeline's ModelSEEDpy fork drops. Rebuilt from the patched template files over all 218 gapfilled models of the 20 affected genomes, it takes the leaking models from 44 to 0 with 0 new leaks; every model grows (0 non-growers, against 10 as shipped, all of them dropped reversals), and the models that already passed keep their growth (median ratio 1.000 against the original templates with reversals applied). The amendment has since run (SPEC section 14, with ModelSEEDpy pinned to the commit the pre-registered run used, after the first launch was found importing a moved editable install), and amendment A-C13 (section 15) reran it on ModelSEEDpy c2e31a0, which fixes the builder's demand reactions and an ATP-correction step; the figures below are A-C13's. The ATP pass on the corrected templates reproduced the pre-registered pass row for row, so its readouts did not move. The gapfilled pass gated 0 of 8,614 rows against 49, with 0 new leaks in all 200 genomes, the 180 outside the validation included, and 0 non-growing models against 136; rescored, C11 and C12 pass and the leave-genus-out artefact is valid, with every EC number unchanged (0.687 against 0.779). Sources: region_validation/shared_reference/C12_FIX_PLAN.md, C12_SCOPE.md and data/template_direction_audit/validation_summary.json (entries baseline, base+rev and PR1v2+rev).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every reaction direction in the v7.0 ModelSEED templates with the ModelSEED database: 41 reactions per genome-scale template are allowed only in the direction the database forbids, and 1,192–1,196 differ from it once the reactions the templates leave reversible are counted. Read one by one against known physiology, only 5 of the 41 are template errors; for 24 the database direction is the wrong one, 8 are reversible or near equilibrium, 2 are mis-specified reactions to remove or block, and 2 are unresolved. The curated set is the five-reaction fix that closes the C12 leaks (rxn00006, rxn10966, rxn00381, rxn00084, rxn08167), the 5 template errors, and an optional reverse-penalty sign clean-up, 10 direction changes in all against 1,192–1,196 per template for the database-aligned set; on the 218 gapfilled models of the 20 affected genomes it removes all 44 leaks with no new one, every model grows, the median growth ratio is 1.000, and 18–19 of the 174 passing models move by more than 10% because the gapfill MILP lands on another near-equal optimum. Applying the database directions wholesale also closes every leak, but archaeon 2837493.4 then has no gapfill solution, so all 11 of its models stop growing (2 of the 44 leaking models count as fixed only because gapfilling failed); the models that still grow keep a median 0.808 of their growth (0.752 counting the non-growers as zero), and 103 of 174 move by more than 10%. So the database directions must not be applied wholesale; the 24 database errors and 8 near-equilibrium entries go to ModelSEEDDatabase as an issue instead. The branches are pushed to freiburgermsu/ModelSEEDTemplates, and the pull requests and the audit issue (ModelSEED/ModelSEEDTemplates#10) were filed on 2026-10-27 from the texts in region_validation/shared_reference/ (SUBMIT_ModelSEEDTemplates.md). Sources: data/template_direction_audit/tierB_readings.tsv, direction_audit.tsv, validation_per_model.csv and validation_summary.json (entries PR1v2+rev, Bcur2+rev, PENcur2+rev, BC_full+rev, base+rev).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depth-100 rerun every amplicon record keeps the best 100 of the 500 shortlisted references instead of 20, and the depth-20 trees survive only as the baseline. Under the shipped exact-tie union, self-exclusion abstention fell from 15,888 amplicons (23.4%) to 6,457 (9.5%), and the abstentions with surviving hits barely moved (862 against 859), so the whole drop is records that exclusion no longer empties; their share of the abstentions fell from 94.6% to 86.7% (the chart gives both as shares of all amplicons). Under the legacy reducer that tab:main uses, population genus accuracy rose from 0.30–0.48 to 0.40–0.56 and population gene capture from 48–60% to 60–68%, while conditional genus accuracy moved by at most 0.009 in any region (0.60–0.73 against 0.60–0.74) and the as-shipped conditional EC F1 only from 0.798 to 0.802. The as-shipped population gap to PICRUSt2 shrank from −0.129 to −0.016 under the union, and under the legacy reducer it is −0.002, within resampling noise (next slide). The paired McNemar test now separates 24 of 28 region pairs at genus under the legacy reducer instead of all 28; the ones that no longer differ are Full-length with V1–V3, V1–V2 with V1–V3, V3–V4 with V7–V9 and V4–V5 with V4–V5 944R. What remains: 5,598 amplicons are still emptied at depth 100, and for 95 of the 60,461 distinct sequences all 500 shortlisted references tie at the top score, so their tie cluster is wider than the shortlist itself. The depth probe that motivated the rerun (320 emptied amplicons re-aligned at depth 500, 88.4% recovered) had predicted most of this. Sources: prfba_selection.json, taxacc_region_summary.json, gene_capture_by_region.json, mcnemar_regions.json and comparison_summary.json in region_validation and region_validation_d100[_legacy]; region_validation_d100/D100_VS_D20.md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100 makes the choice of selection rule matter. The shipped exact-tie union keeps every reference tied at the best identity, so among the self-inclusion amplicons whose source genome is in the 100-hit record it keeps the source in 99.1% (66,840 of 67,466); the earlier ordered (legacy) reducer keeps it in 81.3% and discards it in 12,602. The price shows when the source is present: the union grows to 2.88 genomes per answer against 1.32, and V4 gene-capture precision falls to 0.795 against 0.856. On the as-shipped PICRUSt2 axis the population EC F1 gap is −0.016 under the union (95% genome-clustered bootstrap CI −0.021 to −0.011, significant) and −0.002 under the legacy reducer (CI −0.007 to +0.003, not significant). In the controlled shared-reference benchmark, leave-one-fold-out selection picked legacy over the exact-tie union in 10 of 10 folds (genus and family holdouts), by 0.001 to 0.003 F1, an order of magnitude below the pre-registered 0.02 smallest effect of interest; the genus summary marks itself invalid because the C12 gapfill validity gate failed, which does not touch these EC fold scores. On 2026-10-27 the authors chose the union for the whole paper, because it is the rule users run, it keeps the source when the source is there, and legacy's edge in the controlled benchmark is far below the smallest effect of interest; its cost is the larger self-inclusion union and lower short-amplicon precision. Until then the manuscript used each rule where it was like for like (legacy for tab:main, McNemar, MAG against 16S and the cross-panel numbers). The legacy reducer stays an option users can select, and the controlled benchmark keeps its pre-registered arm, which leave-one-fold-out selection set to legacy, beside the exact-tie arm. Sources: taxacc_region_summary.json and gene_capture_by_region.json in region_validation_d100 and region_validation_d100_legacy; gene_capture_cells.csv (n_selected); comparison_summary.json and D100_VS_D20.md section 2D; shared_reference summary_genus.json and summary_family.json (nested_cv).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GTDB r232 (901,341 genomes; a metadata census, while every search in this deck uses the r226 sketch), 15.4% of the 450,594 MAGs carry a full-length 16S (at least 1,200 bp) against 85.0% of the 449,073 isolate genomes, and only 25.5% of MAGs carry any SSU fragment at all, so a 16S method cannot be run on most of the genomes people actually assemble. Even the best real MAGs, 95–100% complete, carry one in only 20.6% of cases. Our synthetic MAGs are kinder: full-length 16S survives in 82.1% of complete drafts, about 4 times the rate in real MAGs at 95–100% completeness, and in 39.1% at 30% completeness, so the synthetic arm understates the problem. Nor are contigs a substitute: fed one bacterial genome's 37 contigs, PICRUSt2's default run refuses all 37 for aligning poorly to its reference, and forced through it treats each contig as its own organism — 18 different closest references, 30 of 37 contigs called archaeal, and a union asserting 1,429 EC numbers against 93 real ones (precision 0.064). 35 of the 36 contigs that carry no 16S are still reported at NSTI below 0.15, which reads as a confident placement. The one full-length 16S that genome does carry scores precision 0.512: the marker works when it is there; the problem is that usually it is not.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 genome is degraded in two steps rather than one. First every deposited contig is cut into synthetic contigs of about 50 kb mean length with a 2.5 kb floor (MetaBAT2's default minimum contig length); this is required rather than cosmetic, because 19.8% of panel genomes are closed and 40.4% have fewer than ten contigs, so dropping deposited contigs could not reach a fine completeness grid and would make degradation severity depend on each reference's assembly quality, across a panel whose assemblies run from one contig to thousands. Then whole fragments are dropped at random until the target completeness is met, giving 139,958 uncontaminated drafts at 14 levels from 100% down to 1%; bases are never mutated, because skani compares k-mer sketches and what a MAG suffers is incompleteness, not divergence. Every contig header is prefixed with the MAG id because skani keys a query on its first header and silently collapses collisions: 8 variants sharing one header came back as 5 results, with no warning. The synthesizer can also splice in fragments from a different-phylum donor, but it overshot its contamination dose at low completeness, so every contamination claim was withdrawn and all results use the 0%-contamination grid. The 2.5 kb floor has a cost: at full completeness 1,023 MAGs lose their only 16S to it, and 120 source genomes never had one. The random generator is seeded from a CRC32 of the genome id (mag_validation/synth_mags.py), so a given draft is byte-identical across runs and machines.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 re-runs the same panel organisms as 9,997 synthetic MAGs, matched to a skani sketch of the panel by whole-genome ANI instead of 16S identity, and scores them with the amplicon arm's own truth, metric definitions and conditional-versus-population denominators, so the two arms are directly comparable. Self-exclusion removes the source genome, its taxon and every hit at 95 ANI or above (the species boundary, the analogue of the amplicon arm's τ = 0.987); the 0%-contamination grid has 99,970 scored cells, 9,997 MAGs at five completeness tiers under both regimes. From 100% to 30% completeness nothing the pipeline decides moves: conditional gene-capture F1 0.807 to 0.805, resolve rate 0.308 to 0.307, genus accuracy 0.910 to 0.912. The bars show why: with the source present the MAG's own aligned fraction stays at 99.8% at every completeness, because a clean subset of contigs still aligns end to end, while the reference's aligned fraction falls in step with completeness, 99.1% to 29.6%; under self-exclusion the MAG's fraction is flat too (33.6–34.3%) and the reference's still scales (34.3% to 10.3%). The selector gates on the MAG's aligned fraction and ignores the reference's, so the pipeline already computes, and discards, an essentially unbiased completeness estimate. The prediction is the gene content of the selected reference, not of the MAG, so completeness can matter only by changing which reference is chosen, and ANI is robust enough that it rarely does.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exact-tie union, as in tab:main), the MAG arm leads full-length 16S by +0.103 in gene-capture F1 at full completeness and still by +0.077 at 1%, fifty-fold below MIMAG's medium-quality floor and not a bin any study would keep; against V4 the lead is +0.212 and +0.190. At 1% the MAG arm still wins 1,129 organisms to 473 against full-length 16S, and every one of the 28 paired tests has Wilcoxon p ≤ 1e-79. Across all 8 regions at full completeness the lead follows the variable region, not amplicon length: +0.103 to +0.116 against full-length 16S and the two V1-anchored regions, +0.168 to +0.212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0.605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full completeness the MAG arm's resolve rate is 0.308, and the cause of the abstentions is marker reach rather than MAG quality: among the 6,011 organisms that do have a same-genus congener in the panel, the best surviving hit aligns over a median of only 20.3% of the query, and 45.1% fall under the 15% AF gate. An amplicon aligns end to end by construction, so in the 0.945–0.987 16S-identity band the amplicon arm answers 98.2% of the time (depth-100 records, exact-tie union) where whole-genome ANI answers 8–20%. Counterfactually the ANI floor is almost irrelevant and the AF gate is almost everything: dropping the floor from 83 to 0 moves the share with a qualifying surviving hit from 0.311 to 0.316, while relaxing the gate from 15% to 2% moves it to 0.452; the resolve rate after selection is 0.308. The gate is nonetheless the method working: the 1,367 organisms a 2% gate would newly answer carry a mean gene-capture F1 of 0.599 against 0.807 for those already answered, and only 26.7% of them exceed the full-length 16S level of 0.710, so relaxing it would buy 45% more coverage while pulling the pooled F1 down to 0.742. Reference density also matters: against GTDB r226, about 14-fold denser, the same pipeline resolves 0.556 of a 2,000-organism subsample, with completeness-invariance intact. Retention depth, the dominant cause of the amplicon arm's self-exclusion abstentions, plays almost no part: only 93 of the 49,985 uncontaminated records (0.19%; 156 of 99,970 counting the contaminated grid) were both capped at 100 hits and emptied by exclusion, and re-searching 447 capped queries and 200 controls at depth 2,000 changed 11 selections, every one from abstention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arm's skani search runs against the GTDB r226 sketch of 143,614 species representatives as readily as against BV-BRC genomes, but a GTDB hit carries a GCA/GCF assembly accession, whereas PGFam gene content — and with it the synthetic-genome merge and the model — needs a BV-BRC genome ID, so a MAG searched against GTDB can today be classified and assessed for novelty but not given a predicted metabolism. The map built on 2026-10-20 links 143,509 of the 143,614 representatives (99.93%, Wilson 95% interval 99.91–99.94%) to a BV-BRC genome: 109,492 by exact accession, 31,906 by swapping the GCF/GCA prefix of the same assembly, 1,525 through the BioSample and 586 through looser routes; the 105 left unmapped are 96 rejected on genome length, 6 on BioSample and 3 with only deprecated records. Of the 291 real MAGs, all 198 that have a GTDB selection already have their anchor reference mapped. Integration still needs a PGFam fetch: only 36,607 of the mapped genomes have non-empty cached PGFams (469 are cached empty and 106,433 are not cached). Wiring it in also changes the reported GTDB selections — numeric BV-BRC IDs escape the selector's MAG check, and an unmapped anchor changes the taxonomic call — so the integration, and any revision of the manuscript's GTDB results, is the authors' decision rather than a silent fix.</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the benchmark panel decides the answer, so the 16S validation and the core of the MAG validation were repeated on two further panels of the same size. The taxonomy-stratified original square-root-flattens availability, up-weights rare phyla and archaea and keeps one organism per species; the k-means panel takes the organism nearest each of 10,000 k-means++ centroids over the 210,779 full-length 16S embeddings; the random panel draws 10,000 organisms uniformly (seed 1729) from the same 140,197 admissible organisms, with the original panel's representative-16S rule. The random panel is the null: it applies no correction, so Archaea fall to 3.9% against 3.5% of the pool, its largest genus contributes 401 organisms (120 on the stratified panel), and it holds 4,534 species against 4,935 for k-means and 10,000 for the stratified panel. The three schemes order identically on every diversity axis, the stratified panel most even and the random panel most concentrated. They overlap little: 804 organisms stratified and k-means, 524 stratified and random, 701 k-means and random, 49 in all three. Before any comparison, each comparison's crude column was required to reproduce the panel's own scorer exactly: 288 of 288 amplicon cells and 30 of 30 GTDB cells.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panel's picks are placed on density deciles of the 210,779 clusterable full-length 16S sequences. Density is the cosine distance to the 21st nearest neighbour in the full 1024-dimensional embedding, not in the UMAP projection, which keeps neighbourhoods but not densities; the ranking is stable in k (Spearman 0.964 between k = 21 and k = 50). The stratified panel over-weights the sparse space hardest: 49.1% of its on-frame picks come from the two sparsest deciles, which hold 19.2% of sequences, against 36.6% for k-means. The random panel (C) tracks the population: 23.8% from the two sparsest deciles, and 12.4% of its picks in the densest decile against the population's 12.6% (stratified 0.8%, k-means 4.1%). The dense deciles are where a handful of species carry thousands of near-identical operons, which is where self-exclusion empties a record, as the next slides show. The black ticks in D are each decile's share of all sequences: the density measure is heavily tied, so the deciles hold 7.7–12.6% of sequences rather than 10% each. Only 9,097 of the stratified panel's organisms are on frame (the rest have short or atypical 16S, or a sequence the index credits to no admissible taxon). The manuscript's version of this figure (F16) still shows only the stratified and k-means panels.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exact-tie union; intervals are 1,000 phylum-stratified bootstrap replicates. The chart shows V4: genus coverage is 0.615, 0.431 and 0.358 on the stratified, k-means and random panels, a random-minus-stratified difference of −0.257 (−0.276 to −0.238) against −0.330 crude. In every region, genus and gene-capture coverage fall by 0.20 to 0.29 on the random panel, every interval excludes zero, and the standardized gap keeps 76–92% of the crude one, so composition is a minority of it. Quality given an answer moves far less. Conditional genus accuracy is higher on both alternative panels than on the stratified one in every region, by up to 0.07 (random minus stratified excludes zero in 2 of 8 regions). Conditional family accuracy differs by at most 0.05 between any two panels, and conditional gene-capture F1 by at most 0.028: it is lower on the random panel by 0.013 to 0.028,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full-length 16S under self-exclusion at τ = 0.987, with all three panels scored at record depth 100 under the exact-tie union, self-exclusion deletes all 100 retained hits for 4.7% of stratified-panel queries, 22.9% of k-means and 33.4% of random. Where the record survives, only 3.4%, 2.8% and 2.4% go uncovered; where it is emptied, every query goes uncovered by construction, with no evidence either way about rank 101. Uncovered is one minus crude gene-capture coverage, which on these trees is the abstentions alone: only 2,073 cells on any panel selects a reference without gene families. So the cross-panel coverage difference is, to within a point and a half, the difference in how often the record empties: 1 − 0.334 = 0.666 against 0.650; 1 − 0.229 = 0.771 against 0.750; 1 − 0.047 = 0.953 against 0.921. The surviving-record rates run opposite to the coverage gap, the best-covered stratified panel leaving the most survivors uncovered (Cochran-Mantel-Haenszel p = 0.004 stratified against random, 0.15 against k-means). Self-inclusion is panel-dependent for a related reason: the source genome is among its amplicon's 100 retained hits for 99.1% of amplicons on the stratified panel but 73.9% and 68.0% on the k-means and random panels. The misses are exact ties filling the whole record (0.9%, 8.2% and 15.1% of amplicons) or the source's sequence credited to another genome by the index, which keeps one genome per distinct sequence (0.0%, 18.0% and 16.9%). A miss still finds an exact-identity relative, but a different genome, so self-inclusion on a database-representative panel mixes true self-recovery with recovery of a 16S-identical neighbour.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GTDB arm settles whether the amplicon coverage gap reflects the organisms or the record. It searches synthetic MAGs of an approximately 20% phylum-proportional subsample of each panel (2,000, 1,995 and 1,989 scored organisms) against the 143,614 species-representative genomes of GTDB r226, excluding the source species at ANI 95, with a record 100 hits deep, as deep as the amplicon record. Species exclusion empties a depth-capped GTDB record for under 1% of MAGs (0.6%, 0.6% and 0.7%), against 4.7%, 22.9% and 33.4% of full-length 16S queries. With identity measured over the genome, the alternative panels resolve more novel organisms, not fewer: 0.715 and 0.675 against 0.577 at full completeness, standardized over the 68 shared phyla, a random-minus-stratified difference of +0.139 (+0.107 to +0.170) that stays between +0.135 and +0.145 at every completeness down to 30%. The median best surviving relative sits at 92.1 and 91.4 ANI for the random and k-means panels against 89.5 for the stratified one: organisms drawn in proportion to the database come from well-sampled clades, while the stratified panel reaches into sparse ones. What this licenses: the headline self-exclusion coverage is a property of the stratified panel at record depth 100, a lower bound whose tightness depends on the panel, and the claim that replicates on all three panels is the conditional one: standardized conditional gene-capture F1 differs by at most 0.028 between any two panels in either arm.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last deck, the depth-100 rerun and everything built on it went through adversarial checks that re-derive each claim from the primary files. The report comparing the depth-100 rerun with the earlier results (region_validation_d100/D100_VS_D20.md) was checked claim by claim by independent verifiers: 85 of 91 claims confirmed, with the corrections listed in its section 5. The manuscript's depth-100 revision went through three verification rounds, with 67, 32 and 4 findings, every one applied; a fourth re-derived every number the switch to the exact-tie union changed or added, about 580, found none wrong, and found 9 text and figure defects, all fixed (region_validation_d100/UNION_VERIFICATION.md). The ModelSEED template PR texts went through 3 rounds of review; one caught that the first fix set NadX to the database's reverse direction, which blocks the first step of NAD synthesis in organisms without NadB, so the fix became five reactions with L-aspartate oxidase (rxn08167) restricted forward. Faults caught on the way: the ModelSEEDpy fork's MSBuilder.build_and_gapfill drops the gapfiller's reversals; amendment A-C12 applies them in prFBA's own gapfill step, and the fork is fixed on a branch whose own build_and_gapfill now reproduces the harness's models, while the unfixed builder returned all four test models unable to grow (PR text: region_validation/shared_reference/PR_ModelSEEDpy_gapfill_reversals.md). The editable ModelSEEDpy install moved under the first A-C12 launch, so both passes were rerun pinned to the pre-registered commit, which reproduces every stored row; the commits it had moved to fix two real build defects (demand reactions built as free sources of six drain compounds, invisible to the validity gate, and an ATP-correction step that could undo its own loop filter), so amendment A-C13 reran both passes on them; four manuscript figures were still the earlier renders under the revised captions and were re-rendered. Two stay open: the legacy reducer's two scoring passes disagree on self-exclusion abstentions (6,482 in score_taxacc's estimator path against 7,344 in the gene-capture selection), and in 23–33 full-length rows per k-means and random tree the cells' source taxon differs from the truth file's, an effect of at most 0.06 points on the emptied share. Earlier audits checked 595 manuscript claims (161 defects corrected) and 598 deck claims plus 377 over the fixes (54 and 14 defects), all fixed, and our own runs caught 4 pipeline faults before that.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decisions are made. First, one selection rule: the exact-tie union is used throughout the paper and the deck; the legacy (ordered) reducer stays a user option and appears only in the labelled depth-20 versus depth-100 comparisons. Second, the GTDB accession map is built but deferred to future work, because wiring it in changes which genomes a GTDB hit selects. Third, the ModelSEED template pull requests and the direction-audit issue (ModelSEED/ModelSEEDTemplates#10) were filed on 2026-10-27. Fourth, the C12 fix was adopted as SPEC amendment A-C12, post hoc and disclosed: templates 21a8084 plus the gapfiller's reversals, with both phenotype passes rerun on ModelSEEDpy pinned to the pre-registered commit; amendment A-C13 then reran both passes on ModelSEEDpy c2e31a0, which fixes the builder's demand reactions and an ATP-correction step that could undo its own loop filter; C12 passes on the rerun (0 gated truth rows, 0 of 8,614 rows gated), so the leave-genus-out artefact is valid under the amendment. Next: push the revised manuscript branch, decide whether to upload the depth-100 deployment build to KBase (it is built locally; the workspace holds the 20-hit build), resolve the two open faults on the audit slide, and close the loop to flux by propagating probability-weighted genomes through community prFBA and validating against paired metagenomes.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100-hit records, the new standard</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Like for like, PICRUSt2 leads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p(function) ranks, but overstates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Project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more species per unit of DNA, but no genes</a:t>
            </a:r>
          </a:p>
        </p:txBody>
      </p:sp>
      <p:sp>
        <p:nvSpPr>
          <p:cNvPr id="3" name="Rounded Rectangle 2"/>
          <p:cNvSpPr/>
          <p:nvPr/>
        </p:nvSpPr>
        <p:spPr>
          <a:xfrm>
            <a:off x="548640"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16S census</a:t>
            </a:r>
          </a:p>
          <a:p>
            <a:pPr algn="ctr">
              <a:spcBef>
                <a:spcPts val="14000"/>
              </a:spcBef>
              <a:spcAft>
                <a:spcPts val="0"/>
              </a:spcAft>
            </a:pPr>
            <a:r>
              <a:rPr sz="1700" b="1" i="0">
                <a:solidFill>
                  <a:srgbClr val="028090"/>
                </a:solidFill>
                <a:latin typeface="Cambria"/>
              </a:rPr>
              <a:t>who is present</a:t>
            </a:r>
          </a:p>
        </p:txBody>
      </p:sp>
      <p:sp>
        <p:nvSpPr>
          <p:cNvPr id="4" name="Rounded Rectangle 3"/>
          <p:cNvSpPr/>
          <p:nvPr/>
        </p:nvSpPr>
        <p:spPr>
          <a:xfrm>
            <a:off x="932688" y="2267712"/>
            <a:ext cx="2432304"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5" name="Rounded Rectangle 4"/>
          <p:cNvSpPr/>
          <p:nvPr/>
        </p:nvSpPr>
        <p:spPr>
          <a:xfrm>
            <a:off x="932688" y="2569464"/>
            <a:ext cx="1799904"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6" name="Rounded Rectangle 5"/>
          <p:cNvSpPr/>
          <p:nvPr/>
        </p:nvSpPr>
        <p:spPr>
          <a:xfrm>
            <a:off x="932688" y="2871216"/>
            <a:ext cx="1264798" cy="201168"/>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932688" y="3172968"/>
            <a:ext cx="826983"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Rounded Rectangle 7"/>
          <p:cNvSpPr/>
          <p:nvPr/>
        </p:nvSpPr>
        <p:spPr>
          <a:xfrm>
            <a:off x="932688" y="3474720"/>
            <a:ext cx="486460" cy="201168"/>
          </a:xfrm>
          <a:prstGeom prst="roundRect">
            <a:avLst>
              <a:gd name="adj" fmla="val 50000"/>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ounded Rectangle 8"/>
          <p:cNvSpPr/>
          <p:nvPr/>
        </p:nvSpPr>
        <p:spPr>
          <a:xfrm>
            <a:off x="8442655"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Metabolic model</a:t>
            </a:r>
          </a:p>
          <a:p>
            <a:pPr algn="ctr">
              <a:spcBef>
                <a:spcPts val="14000"/>
              </a:spcBef>
              <a:spcAft>
                <a:spcPts val="0"/>
              </a:spcAft>
            </a:pPr>
            <a:r>
              <a:rPr sz="1700" b="1" i="0">
                <a:solidFill>
                  <a:srgbClr val="028090"/>
                </a:solidFill>
                <a:latin typeface="Cambria"/>
              </a:rPr>
              <a:t>what they do</a:t>
            </a:r>
          </a:p>
        </p:txBody>
      </p:sp>
      <p:cxnSp>
        <p:nvCxnSpPr>
          <p:cNvPr id="10" name="Connector 9"/>
          <p:cNvCxnSpPr/>
          <p:nvPr/>
        </p:nvCxnSpPr>
        <p:spPr>
          <a:xfrm flipV="1">
            <a:off x="8945575" y="2267712"/>
            <a:ext cx="731520" cy="20116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77095" y="2267712"/>
            <a:ext cx="822960" cy="24688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00055" y="2304288"/>
            <a:ext cx="640080" cy="2103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45575" y="2468880"/>
            <a:ext cx="365760" cy="77724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311335" y="2267712"/>
            <a:ext cx="365760" cy="9784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7095" y="2267712"/>
            <a:ext cx="457200" cy="91440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34295" y="2514600"/>
            <a:ext cx="365760" cy="6675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34295" y="3182112"/>
            <a:ext cx="822960" cy="182879"/>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957255" y="2304288"/>
            <a:ext cx="182880" cy="1060703"/>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11335" y="3182112"/>
            <a:ext cx="822960" cy="640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08415" y="2331720"/>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Oval 20"/>
          <p:cNvSpPr/>
          <p:nvPr/>
        </p:nvSpPr>
        <p:spPr>
          <a:xfrm>
            <a:off x="9539935" y="2130552"/>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Oval 21"/>
          <p:cNvSpPr/>
          <p:nvPr/>
        </p:nvSpPr>
        <p:spPr>
          <a:xfrm>
            <a:off x="10362895" y="2377440"/>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Oval 22"/>
          <p:cNvSpPr/>
          <p:nvPr/>
        </p:nvSpPr>
        <p:spPr>
          <a:xfrm>
            <a:off x="11002975" y="2167128"/>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Oval 23"/>
          <p:cNvSpPr/>
          <p:nvPr/>
        </p:nvSpPr>
        <p:spPr>
          <a:xfrm>
            <a:off x="9174175" y="3108960"/>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Oval 24"/>
          <p:cNvSpPr/>
          <p:nvPr/>
        </p:nvSpPr>
        <p:spPr>
          <a:xfrm>
            <a:off x="9997135" y="3044952"/>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Oval 25"/>
          <p:cNvSpPr/>
          <p:nvPr/>
        </p:nvSpPr>
        <p:spPr>
          <a:xfrm>
            <a:off x="10820095" y="322783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ight Arrow 26"/>
          <p:cNvSpPr/>
          <p:nvPr/>
        </p:nvSpPr>
        <p:spPr>
          <a:xfrm>
            <a:off x="4023359" y="1965960"/>
            <a:ext cx="4144975" cy="10515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400" b="1" i="0">
                <a:solidFill>
                  <a:srgbClr val="FFFFFF"/>
                </a:solidFill>
                <a:latin typeface="Cambria"/>
              </a:rPr>
              <a:t>prFBA</a:t>
            </a:r>
          </a:p>
        </p:txBody>
      </p:sp>
      <p:sp>
        <p:nvSpPr>
          <p:cNvPr id="28" name="TextBox 27"/>
          <p:cNvSpPr txBox="1"/>
          <p:nvPr/>
        </p:nvSpPr>
        <p:spPr>
          <a:xfrm>
            <a:off x="4023359" y="3127248"/>
            <a:ext cx="4144975" cy="548640"/>
          </a:xfrm>
          <a:prstGeom prst="rect">
            <a:avLst/>
          </a:prstGeom>
          <a:noFill/>
        </p:spPr>
        <p:txBody>
          <a:bodyPr wrap="square" lIns="0" rIns="0" tIns="0" bIns="0" anchor="t">
            <a:spAutoFit/>
          </a:bodyPr>
          <a:lstStyle/>
          <a:p>
            <a:pPr algn="ctr">
              <a:spcAft>
                <a:spcPts val="200"/>
              </a:spcAft>
            </a:pPr>
            <a:r>
              <a:rPr sz="1500" b="1" i="0">
                <a:solidFill>
                  <a:srgbClr val="10292E"/>
                </a:solidFill>
                <a:latin typeface="Calibri"/>
              </a:rPr>
              <a:t>ASV → co-optimal reference genomes</a:t>
            </a:r>
          </a:p>
          <a:p>
            <a:pPr algn="ctr">
              <a:spcAft>
                <a:spcPts val="0"/>
              </a:spcAft>
            </a:pPr>
            <a:r>
              <a:rPr sz="1500" b="0" i="0">
                <a:solidFill>
                  <a:srgbClr val="5B7179"/>
                </a:solidFill>
                <a:latin typeface="Calibri"/>
              </a:rPr>
              <a:t>ambiguity kept as probabilities</a:t>
            </a:r>
          </a:p>
        </p:txBody>
      </p:sp>
      <p:sp>
        <p:nvSpPr>
          <p:cNvPr id="29" name="Rounded Rectangle 28"/>
          <p:cNvSpPr/>
          <p:nvPr/>
        </p:nvSpPr>
        <p:spPr>
          <a:xfrm>
            <a:off x="4343399" y="3877056"/>
            <a:ext cx="3504895" cy="420624"/>
          </a:xfrm>
          <a:prstGeom prst="roundRect">
            <a:avLst>
              <a:gd name="adj" fmla="val 50000"/>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250" b="0" i="0">
                <a:solidFill>
                  <a:srgbClr val="5B7179"/>
                </a:solidFill>
                <a:latin typeface="Calibri"/>
              </a:rPr>
              <a:t>vs MAGs: incomplete, costly, abundant-biased</a:t>
            </a:r>
          </a:p>
        </p:txBody>
      </p:sp>
      <p:sp>
        <p:nvSpPr>
          <p:cNvPr id="30" name="Rounded Rectangle 29"/>
          <p:cNvSpPr/>
          <p:nvPr/>
        </p:nvSpPr>
        <p:spPr>
          <a:xfrm>
            <a:off x="548640"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a:t>
            </a:r>
          </a:p>
        </p:txBody>
      </p:sp>
      <p:sp>
        <p:nvSpPr>
          <p:cNvPr id="31" name="Rounded Rectangle 30"/>
          <p:cNvSpPr/>
          <p:nvPr/>
        </p:nvSpPr>
        <p:spPr>
          <a:xfrm>
            <a:off x="3390823"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a:t>
            </a:r>
          </a:p>
        </p:txBody>
      </p:sp>
      <p:sp>
        <p:nvSpPr>
          <p:cNvPr id="32" name="Rounded Rectangle 31"/>
          <p:cNvSpPr/>
          <p:nvPr/>
        </p:nvSpPr>
        <p:spPr>
          <a:xfrm>
            <a:off x="6233007"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3,225</a:t>
            </a:r>
          </a:p>
          <a:p>
            <a:pPr algn="l">
              <a:lnSpc>
                <a:spcPct val="92000"/>
              </a:lnSpc>
              <a:spcAft>
                <a:spcPts val="0"/>
              </a:spcAft>
            </a:pPr>
            <a:r>
              <a:rPr sz="1150" b="0" i="0">
                <a:solidFill>
                  <a:srgbClr val="5B7179"/>
                </a:solidFill>
                <a:latin typeface="Calibri"/>
              </a:rPr>
              <a:t>synthetic genomes (depth 100)</a:t>
            </a:r>
          </a:p>
        </p:txBody>
      </p:sp>
      <p:sp>
        <p:nvSpPr>
          <p:cNvPr id="33" name="Rounded Rectangle 32"/>
          <p:cNvSpPr/>
          <p:nvPr/>
        </p:nvSpPr>
        <p:spPr>
          <a:xfrm>
            <a:off x="9075191"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8</a:t>
            </a:r>
          </a:p>
          <a:p>
            <a:pPr algn="l">
              <a:lnSpc>
                <a:spcPct val="92000"/>
              </a:lnSpc>
              <a:spcAft>
                <a:spcPts val="0"/>
              </a:spcAft>
            </a:pPr>
            <a:r>
              <a:rPr sz="1150" b="0" i="0">
                <a:solidFill>
                  <a:srgbClr val="5B7179"/>
                </a:solidFill>
                <a:latin typeface="Calibri"/>
              </a:rPr>
              <a:t>16S regions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auditable steps from amplicon to model</a:t>
            </a:r>
          </a:p>
          <a:p>
            <a:pPr algn="l">
              <a:spcAft>
                <a:spcPts val="0"/>
              </a:spcAft>
            </a:pPr>
            <a:r>
              <a:rPr sz="1350" b="0" i="0">
                <a:solidFill>
                  <a:srgbClr val="5B7179"/>
                </a:solidFill>
                <a:latin typeface="Calibri"/>
              </a:rPr>
              <a:t>Every selection traces back to a published identity threshold</a:t>
            </a:r>
          </a:p>
        </p:txBody>
      </p:sp>
      <p:sp>
        <p:nvSpPr>
          <p:cNvPr id="3" name="Rounded Rectangle 2"/>
          <p:cNvSpPr/>
          <p:nvPr/>
        </p:nvSpPr>
        <p:spPr>
          <a:xfrm>
            <a:off x="54864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Amplicon</a:t>
            </a:r>
          </a:p>
          <a:p>
            <a:pPr algn="ctr">
              <a:lnSpc>
                <a:spcPct val="95000"/>
              </a:lnSpc>
              <a:spcAft>
                <a:spcPts val="0"/>
              </a:spcAft>
            </a:pPr>
            <a:r>
              <a:rPr sz="1300" b="0" i="0">
                <a:solidFill>
                  <a:srgbClr val="5B7179"/>
                </a:solidFill>
                <a:latin typeface="Calibri"/>
              </a:rPr>
              <a:t>ASV or in-silico PCR</a:t>
            </a:r>
          </a:p>
        </p:txBody>
      </p:sp>
      <p:sp>
        <p:nvSpPr>
          <p:cNvPr id="4" name="Right Arrow 3"/>
          <p:cNvSpPr/>
          <p:nvPr/>
        </p:nvSpPr>
        <p:spPr>
          <a:xfrm>
            <a:off x="2551724"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44332"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Alignment</a:t>
            </a:r>
          </a:p>
          <a:p>
            <a:pPr algn="ctr">
              <a:lnSpc>
                <a:spcPct val="95000"/>
              </a:lnSpc>
              <a:spcAft>
                <a:spcPts val="0"/>
              </a:spcAft>
            </a:pPr>
            <a:r>
              <a:rPr sz="1300" b="0" i="0">
                <a:solidFill>
                  <a:srgbClr val="5B7179"/>
                </a:solidFill>
                <a:latin typeface="Calibri"/>
              </a:rPr>
              <a:t>500 → 100-hit record</a:t>
            </a:r>
          </a:p>
        </p:txBody>
      </p:sp>
      <p:sp>
        <p:nvSpPr>
          <p:cNvPr id="6" name="Right Arrow 5"/>
          <p:cNvSpPr/>
          <p:nvPr/>
        </p:nvSpPr>
        <p:spPr>
          <a:xfrm>
            <a:off x="4847417"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40025"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Selection</a:t>
            </a:r>
          </a:p>
          <a:p>
            <a:pPr algn="ctr">
              <a:lnSpc>
                <a:spcPct val="95000"/>
              </a:lnSpc>
              <a:spcAft>
                <a:spcPts val="0"/>
              </a:spcAft>
            </a:pPr>
            <a:r>
              <a:rPr sz="1300" b="0" i="0">
                <a:solidFill>
                  <a:srgbClr val="5B7179"/>
                </a:solidFill>
                <a:latin typeface="Calibri"/>
              </a:rPr>
              <a:t>exact ties, per species</a:t>
            </a:r>
          </a:p>
        </p:txBody>
      </p:sp>
      <p:sp>
        <p:nvSpPr>
          <p:cNvPr id="8" name="Right Arrow 7"/>
          <p:cNvSpPr/>
          <p:nvPr/>
        </p:nvSpPr>
        <p:spPr>
          <a:xfrm>
            <a:off x="7143109"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35717"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Synthetic genome</a:t>
            </a:r>
          </a:p>
          <a:p>
            <a:pPr algn="ctr">
              <a:lnSpc>
                <a:spcPct val="95000"/>
              </a:lnSpc>
              <a:spcAft>
                <a:spcPts val="0"/>
              </a:spcAft>
            </a:pPr>
            <a:r>
              <a:rPr sz="1300" b="0" i="0">
                <a:solidFill>
                  <a:srgbClr val="5B7179"/>
                </a:solidFill>
                <a:latin typeface="Calibri"/>
              </a:rPr>
              <a:t>function union, p = k/n</a:t>
            </a:r>
          </a:p>
        </p:txBody>
      </p:sp>
      <p:sp>
        <p:nvSpPr>
          <p:cNvPr id="10" name="Right Arrow 9"/>
          <p:cNvSpPr/>
          <p:nvPr/>
        </p:nvSpPr>
        <p:spPr>
          <a:xfrm>
            <a:off x="9438802"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3141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prFBA</a:t>
            </a:r>
          </a:p>
          <a:p>
            <a:pPr algn="ctr">
              <a:lnSpc>
                <a:spcPct val="95000"/>
              </a:lnSpc>
              <a:spcAft>
                <a:spcPts val="0"/>
              </a:spcAft>
            </a:pPr>
            <a:r>
              <a:rPr sz="1300" b="0" i="0">
                <a:solidFill>
                  <a:srgbClr val="5B7179"/>
                </a:solidFill>
                <a:latin typeface="Calibri"/>
              </a:rPr>
              <a:t>p-weighted objective</a:t>
            </a:r>
          </a:p>
        </p:txBody>
      </p:sp>
      <p:sp>
        <p:nvSpPr>
          <p:cNvPr id="12" name="Oval 11"/>
          <p:cNvSpPr/>
          <p:nvPr/>
        </p:nvSpPr>
        <p:spPr>
          <a:xfrm>
            <a:off x="125757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13" name="Oval 12"/>
          <p:cNvSpPr/>
          <p:nvPr/>
        </p:nvSpPr>
        <p:spPr>
          <a:xfrm>
            <a:off x="3553266"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14" name="Oval 13"/>
          <p:cNvSpPr/>
          <p:nvPr/>
        </p:nvSpPr>
        <p:spPr>
          <a:xfrm>
            <a:off x="5848959"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5" name="Oval 14"/>
          <p:cNvSpPr/>
          <p:nvPr/>
        </p:nvSpPr>
        <p:spPr>
          <a:xfrm>
            <a:off x="8144652"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6" name="Oval 15"/>
          <p:cNvSpPr/>
          <p:nvPr/>
        </p:nvSpPr>
        <p:spPr>
          <a:xfrm>
            <a:off x="1044034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7" name="TextBox 16"/>
          <p:cNvSpPr txBox="1"/>
          <p:nvPr/>
        </p:nvSpPr>
        <p:spPr>
          <a:xfrm>
            <a:off x="548640" y="4480559"/>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Every hit carries its disposition and reason</a:t>
            </a:r>
          </a:p>
        </p:txBody>
      </p:sp>
      <p:sp>
        <p:nvSpPr>
          <p:cNvPr id="18" name="TextBox 1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against all 459,301 references</a:t>
            </a:r>
          </a:p>
          <a:p>
            <a:pPr algn="l">
              <a:spcAft>
                <a:spcPts val="0"/>
              </a:spcAft>
            </a:pPr>
            <a:r>
              <a:rPr sz="1350" b="0" i="0">
                <a:solidFill>
                  <a:srgbClr val="5B7179"/>
                </a:solidFill>
                <a:latin typeface="Calibri"/>
              </a:rPr>
              <a:t>A 100-hit record: the GPU ranks a 500-candidate shortlist, Biopython aligns the top 100</a:t>
            </a:r>
          </a:p>
        </p:txBody>
      </p:sp>
      <p:sp>
        <p:nvSpPr>
          <p:cNvPr id="3" name="Rounded Rectangle 2"/>
          <p:cNvSpPr/>
          <p:nvPr/>
        </p:nvSpPr>
        <p:spPr>
          <a:xfrm>
            <a:off x="548640"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edlib prefilter</a:t>
            </a:r>
          </a:p>
          <a:p>
            <a:pPr algn="ctr">
              <a:lnSpc>
                <a:spcPct val="95000"/>
              </a:lnSpc>
              <a:spcAft>
                <a:spcPts val="0"/>
              </a:spcAft>
            </a:pPr>
            <a:r>
              <a:rPr sz="1300" b="0" i="0">
                <a:solidFill>
                  <a:srgbClr val="5B7179"/>
                </a:solidFill>
                <a:latin typeface="Calibri"/>
              </a:rPr>
              <a:t>459,301 → top 500</a:t>
            </a:r>
          </a:p>
        </p:txBody>
      </p:sp>
      <p:sp>
        <p:nvSpPr>
          <p:cNvPr id="4" name="Right Arrow 3"/>
          <p:cNvSpPr/>
          <p:nvPr/>
        </p:nvSpPr>
        <p:spPr>
          <a:xfrm>
            <a:off x="4082186"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GPU Smith-Waterman</a:t>
            </a:r>
          </a:p>
          <a:p>
            <a:pPr algn="ctr">
              <a:lnSpc>
                <a:spcPct val="95000"/>
              </a:lnSpc>
              <a:spcAft>
                <a:spcPts val="0"/>
              </a:spcAft>
            </a:pPr>
            <a:r>
              <a:rPr sz="1300" b="0" i="0">
                <a:solidFill>
                  <a:srgbClr val="5B7179"/>
                </a:solidFill>
                <a:latin typeface="Calibri"/>
              </a:rPr>
              <a:t>ranks all 500</a:t>
            </a:r>
          </a:p>
        </p:txBody>
      </p:sp>
      <p:sp>
        <p:nvSpPr>
          <p:cNvPr id="6" name="Right Arrow 5"/>
          <p:cNvSpPr/>
          <p:nvPr/>
        </p:nvSpPr>
        <p:spPr>
          <a:xfrm>
            <a:off x="7908340"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Biopython alignment</a:t>
            </a:r>
          </a:p>
          <a:p>
            <a:pPr algn="ctr">
              <a:lnSpc>
                <a:spcPct val="95000"/>
              </a:lnSpc>
              <a:spcAft>
                <a:spcPts val="0"/>
              </a:spcAft>
            </a:pPr>
            <a:r>
              <a:rPr sz="1300" b="0" i="0">
                <a:solidFill>
                  <a:srgbClr val="5B7179"/>
                </a:solidFill>
                <a:latin typeface="Calibri"/>
              </a:rPr>
              <a:t>top 100: identity, coordinates</a:t>
            </a:r>
          </a:p>
        </p:txBody>
      </p:sp>
      <p:graphicFrame>
        <p:nvGraphicFramePr>
          <p:cNvPr id="8" name="Chart 7"/>
          <p:cNvGraphicFramePr>
            <a:graphicFrameLocks noGrp="1"/>
          </p:cNvGraphicFramePr>
          <p:nvPr/>
        </p:nvGraphicFramePr>
        <p:xfrm>
          <a:off x="548640" y="3063240"/>
          <a:ext cx="6309360" cy="3017520"/>
        </p:xfrm>
        <a:graphic>
          <a:graphicData uri="http://schemas.openxmlformats.org/drawingml/2006/chart">
            <c:chart xmlns:c="http://schemas.openxmlformats.org/drawingml/2006/chart" r:id="rId2"/>
          </a:graphicData>
        </a:graphic>
      </p:graphicFrame>
      <p:sp>
        <p:nvSpPr>
          <p:cNvPr id="9" name="Rounded Rectangle 8"/>
          <p:cNvSpPr/>
          <p:nvPr/>
        </p:nvSpPr>
        <p:spPr>
          <a:xfrm>
            <a:off x="7178040"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a:t>
            </a:r>
          </a:p>
        </p:txBody>
      </p:sp>
      <p:sp>
        <p:nvSpPr>
          <p:cNvPr id="10" name="Rounded Rectangle 9"/>
          <p:cNvSpPr/>
          <p:nvPr/>
        </p:nvSpPr>
        <p:spPr>
          <a:xfrm>
            <a:off x="9547707"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7.8×</a:t>
            </a:r>
          </a:p>
          <a:p>
            <a:pPr algn="l">
              <a:lnSpc>
                <a:spcPct val="92000"/>
              </a:lnSpc>
              <a:spcAft>
                <a:spcPts val="0"/>
              </a:spcAft>
            </a:pPr>
            <a:r>
              <a:rPr sz="1150" b="0" i="0">
                <a:solidFill>
                  <a:srgbClr val="5B7179"/>
                </a:solidFill>
                <a:latin typeface="Calibri"/>
              </a:rPr>
              <a:t>faster than CPU Biopython</a:t>
            </a:r>
          </a:p>
        </p:txBody>
      </p:sp>
      <p:sp>
        <p:nvSpPr>
          <p:cNvPr id="11" name="Rounded Rectangle 10"/>
          <p:cNvSpPr/>
          <p:nvPr/>
        </p:nvSpPr>
        <p:spPr>
          <a:xfrm>
            <a:off x="7178040"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6.0M</a:t>
            </a:r>
          </a:p>
          <a:p>
            <a:pPr algn="l">
              <a:lnSpc>
                <a:spcPct val="92000"/>
              </a:lnSpc>
              <a:spcAft>
                <a:spcPts val="0"/>
              </a:spcAft>
            </a:pPr>
            <a:r>
              <a:rPr sz="1150" b="0" i="0">
                <a:solidFill>
                  <a:srgbClr val="5B7179"/>
                </a:solidFill>
                <a:latin typeface="Calibri"/>
              </a:rPr>
              <a:t>depth-100 hits bit-exact to Biopython</a:t>
            </a:r>
          </a:p>
        </p:txBody>
      </p:sp>
      <p:sp>
        <p:nvSpPr>
          <p:cNvPr id="12" name="Rounded Rectangle 11"/>
          <p:cNvSpPr/>
          <p:nvPr/>
        </p:nvSpPr>
        <p:spPr>
          <a:xfrm>
            <a:off x="9547707"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5.9 h</a:t>
            </a:r>
          </a:p>
          <a:p>
            <a:pPr algn="l">
              <a:lnSpc>
                <a:spcPct val="92000"/>
              </a:lnSpc>
              <a:spcAft>
                <a:spcPts val="0"/>
              </a:spcAft>
            </a:pPr>
            <a:r>
              <a:rPr sz="1150" b="0" i="0">
                <a:solidFill>
                  <a:srgbClr val="5B7179"/>
                </a:solidFill>
                <a:latin typeface="Calibri"/>
              </a:rPr>
              <a:t>for 60,461 unique amplicons, as run now</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Same scoring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Exact ties kept, one genome per species, abstention below family</a:t>
            </a:r>
          </a:p>
        </p:txBody>
      </p:sp>
      <p:sp>
        <p:nvSpPr>
          <p:cNvPr id="3" name="TextBox 2"/>
          <p:cNvSpPr txBox="1"/>
          <p:nvPr/>
        </p:nvSpPr>
        <p:spPr>
          <a:xfrm>
            <a:off x="548640" y="141732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Source kept, when it is in its 100-hit record</a:t>
            </a:r>
          </a:p>
        </p:txBody>
      </p:sp>
      <p:graphicFrame>
        <p:nvGraphicFramePr>
          <p:cNvPr id="4" name="Chart 3"/>
          <p:cNvGraphicFramePr>
            <a:graphicFrameLocks noGrp="1"/>
          </p:cNvGraphicFramePr>
          <p:nvPr/>
        </p:nvGraphicFramePr>
        <p:xfrm>
          <a:off x="548640" y="1783080"/>
          <a:ext cx="11094415" cy="3200400"/>
        </p:xfrm>
        <a:graphic>
          <a:graphicData uri="http://schemas.openxmlformats.org/drawingml/2006/chart">
            <c:chart xmlns:c="http://schemas.openxmlformats.org/drawingml/2006/chart" r:id="rId2"/>
          </a:graphicData>
        </a:graphic>
      </p:graphicFrame>
      <p:sp>
        <p:nvSpPr>
          <p:cNvPr id="5" name="TextBox 4"/>
          <p:cNvSpPr txBox="1"/>
          <p:nvPr/>
        </p:nvSpPr>
        <p:spPr>
          <a:xfrm>
            <a:off x="548640" y="5111496"/>
            <a:ext cx="11094415" cy="274320"/>
          </a:xfrm>
          <a:prstGeom prst="rect">
            <a:avLst/>
          </a:prstGeom>
          <a:noFill/>
        </p:spPr>
        <p:txBody>
          <a:bodyPr wrap="square" lIns="0" rIns="0" tIns="0" bIns="0" anchor="t">
            <a:spAutoFit/>
          </a:bodyPr>
          <a:lstStyle/>
          <a:p>
            <a:pPr algn="l">
              <a:spcAft>
                <a:spcPts val="0"/>
              </a:spcAft>
            </a:pPr>
            <a:r>
              <a:rPr sz="1200" b="0" i="0">
                <a:solidFill>
                  <a:srgbClr val="5B7179"/>
                </a:solidFill>
                <a:latin typeface="Calibri"/>
              </a:rPr>
              <a:t>Best-hit identity sets the call</a:t>
            </a:r>
          </a:p>
        </p:txBody>
      </p:sp>
      <p:sp>
        <p:nvSpPr>
          <p:cNvPr id="6" name="Rounded Rectangle 5"/>
          <p:cNvSpPr/>
          <p:nvPr/>
        </p:nvSpPr>
        <p:spPr>
          <a:xfrm>
            <a:off x="548640" y="5440680"/>
            <a:ext cx="2322576" cy="566928"/>
          </a:xfrm>
          <a:prstGeom prst="roundRect">
            <a:avLst>
              <a:gd name="adj" fmla="val 12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C96E0A"/>
                </a:solidFill>
                <a:latin typeface="Calibri"/>
              </a:rPr>
              <a:t>&lt; 0.865  abstain</a:t>
            </a:r>
          </a:p>
        </p:txBody>
      </p:sp>
      <p:sp>
        <p:nvSpPr>
          <p:cNvPr id="7" name="Rounded Rectangle 6"/>
          <p:cNvSpPr/>
          <p:nvPr/>
        </p:nvSpPr>
        <p:spPr>
          <a:xfrm>
            <a:off x="2926080" y="5440680"/>
            <a:ext cx="2688336" cy="566928"/>
          </a:xfrm>
          <a:prstGeom prst="roundRect">
            <a:avLst>
              <a:gd name="adj" fmla="val 12000"/>
            </a:avLst>
          </a:prstGeom>
          <a:solidFill>
            <a:srgbClr val="D5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0.865  family</a:t>
            </a:r>
          </a:p>
        </p:txBody>
      </p:sp>
      <p:sp>
        <p:nvSpPr>
          <p:cNvPr id="8" name="Rounded Rectangle 7"/>
          <p:cNvSpPr/>
          <p:nvPr/>
        </p:nvSpPr>
        <p:spPr>
          <a:xfrm>
            <a:off x="5669280" y="5440680"/>
            <a:ext cx="2688336" cy="566928"/>
          </a:xfrm>
          <a:prstGeom prst="roundRect">
            <a:avLst>
              <a:gd name="adj" fmla="val 12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0.945  genus</a:t>
            </a:r>
          </a:p>
        </p:txBody>
      </p:sp>
      <p:sp>
        <p:nvSpPr>
          <p:cNvPr id="9" name="Rounded Rectangle 8"/>
          <p:cNvSpPr/>
          <p:nvPr/>
        </p:nvSpPr>
        <p:spPr>
          <a:xfrm>
            <a:off x="8412480" y="5440680"/>
            <a:ext cx="3175711" cy="566928"/>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 0.987  species</a:t>
            </a:r>
          </a:p>
        </p:txBody>
      </p:sp>
      <p:sp>
        <p:nvSpPr>
          <p:cNvPr id="10" name="TextBox 9"/>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 self-inclusion · 100-hit records · 67,466 amplicons whose record holds the source or its taxon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function is weighted by its share of references</a:t>
            </a:r>
          </a:p>
          <a:p>
            <a:pPr algn="l">
              <a:spcAft>
                <a:spcPts val="0"/>
              </a:spcAft>
            </a:pPr>
            <a:r>
              <a:rPr sz="1350" b="0" i="0">
                <a:solidFill>
                  <a:srgbClr val="5B7179"/>
                </a:solidFill>
                <a:latin typeface="Calibri"/>
              </a:rPr>
              <a:t>The synthetic genome: the union of the selected genomes' functions</a:t>
            </a:r>
          </a:p>
        </p:txBody>
      </p:sp>
      <p:sp>
        <p:nvSpPr>
          <p:cNvPr id="3" name="Rounded Rectangle 2"/>
          <p:cNvSpPr/>
          <p:nvPr/>
        </p:nvSpPr>
        <p:spPr>
          <a:xfrm>
            <a:off x="548640" y="1783080"/>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1</a:t>
            </a:r>
          </a:p>
        </p:txBody>
      </p:sp>
      <p:sp>
        <p:nvSpPr>
          <p:cNvPr id="4" name="Rounded Rectangle 3"/>
          <p:cNvSpPr/>
          <p:nvPr/>
        </p:nvSpPr>
        <p:spPr>
          <a:xfrm>
            <a:off x="1920240"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5" name="Rounded Rectangle 4"/>
          <p:cNvSpPr/>
          <p:nvPr/>
        </p:nvSpPr>
        <p:spPr>
          <a:xfrm>
            <a:off x="2825496"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6" name="Rounded Rectangle 5"/>
          <p:cNvSpPr/>
          <p:nvPr/>
        </p:nvSpPr>
        <p:spPr>
          <a:xfrm>
            <a:off x="3730752"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7" name="Rounded Rectangle 6"/>
          <p:cNvSpPr/>
          <p:nvPr/>
        </p:nvSpPr>
        <p:spPr>
          <a:xfrm>
            <a:off x="4636008" y="1783080"/>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Rounded Rectangle 7"/>
          <p:cNvSpPr/>
          <p:nvPr/>
        </p:nvSpPr>
        <p:spPr>
          <a:xfrm>
            <a:off x="548640" y="2688336"/>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2</a:t>
            </a:r>
          </a:p>
        </p:txBody>
      </p:sp>
      <p:sp>
        <p:nvSpPr>
          <p:cNvPr id="9" name="Rounded Rectangle 8"/>
          <p:cNvSpPr/>
          <p:nvPr/>
        </p:nvSpPr>
        <p:spPr>
          <a:xfrm>
            <a:off x="1920240"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0" name="Rounded Rectangle 9"/>
          <p:cNvSpPr/>
          <p:nvPr/>
        </p:nvSpPr>
        <p:spPr>
          <a:xfrm>
            <a:off x="2825496"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11" name="Rounded Rectangle 10"/>
          <p:cNvSpPr/>
          <p:nvPr/>
        </p:nvSpPr>
        <p:spPr>
          <a:xfrm>
            <a:off x="3730752"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4636008"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548640" y="3593591"/>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3</a:t>
            </a:r>
          </a:p>
        </p:txBody>
      </p:sp>
      <p:sp>
        <p:nvSpPr>
          <p:cNvPr id="14" name="Rounded Rectangle 13"/>
          <p:cNvSpPr/>
          <p:nvPr/>
        </p:nvSpPr>
        <p:spPr>
          <a:xfrm>
            <a:off x="1920240"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5" name="Rounded Rectangle 14"/>
          <p:cNvSpPr/>
          <p:nvPr/>
        </p:nvSpPr>
        <p:spPr>
          <a:xfrm>
            <a:off x="2825496" y="3593591"/>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ounded Rectangle 15"/>
          <p:cNvSpPr/>
          <p:nvPr/>
        </p:nvSpPr>
        <p:spPr>
          <a:xfrm>
            <a:off x="3730752"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17" name="Rounded Rectangle 16"/>
          <p:cNvSpPr/>
          <p:nvPr/>
        </p:nvSpPr>
        <p:spPr>
          <a:xfrm>
            <a:off x="4636008"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D</a:t>
            </a:r>
          </a:p>
        </p:txBody>
      </p:sp>
      <p:sp>
        <p:nvSpPr>
          <p:cNvPr id="18" name="Rectangle 17"/>
          <p:cNvSpPr/>
          <p:nvPr/>
        </p:nvSpPr>
        <p:spPr>
          <a:xfrm>
            <a:off x="548640" y="4626864"/>
            <a:ext cx="4864608" cy="27432"/>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846320"/>
            <a:ext cx="1234440" cy="777240"/>
          </a:xfrm>
          <a:prstGeom prst="roundRect">
            <a:avLst>
              <a:gd name="adj" fmla="val 14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synthetic</a:t>
            </a:r>
          </a:p>
        </p:txBody>
      </p:sp>
      <p:sp>
        <p:nvSpPr>
          <p:cNvPr id="20" name="Rounded Rectangle 19"/>
          <p:cNvSpPr/>
          <p:nvPr/>
        </p:nvSpPr>
        <p:spPr>
          <a:xfrm>
            <a:off x="1920240" y="484632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p = 1</a:t>
            </a:r>
          </a:p>
        </p:txBody>
      </p:sp>
      <p:sp>
        <p:nvSpPr>
          <p:cNvPr id="21" name="Rounded Rectangle 20"/>
          <p:cNvSpPr/>
          <p:nvPr/>
        </p:nvSpPr>
        <p:spPr>
          <a:xfrm>
            <a:off x="2825496"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2" name="Rounded Rectangle 21"/>
          <p:cNvSpPr/>
          <p:nvPr/>
        </p:nvSpPr>
        <p:spPr>
          <a:xfrm>
            <a:off x="3730752"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3" name="Rounded Rectangle 22"/>
          <p:cNvSpPr/>
          <p:nvPr/>
        </p:nvSpPr>
        <p:spPr>
          <a:xfrm>
            <a:off x="4636008" y="4846320"/>
            <a:ext cx="777240" cy="777240"/>
          </a:xfrm>
          <a:prstGeom prst="roundRect">
            <a:avLst>
              <a:gd name="adj" fmla="val 14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1/3</a:t>
            </a:r>
          </a:p>
        </p:txBody>
      </p:sp>
      <p:sp>
        <p:nvSpPr>
          <p:cNvPr id="24" name="Rounded Rectangle 23"/>
          <p:cNvSpPr/>
          <p:nvPr/>
        </p:nvSpPr>
        <p:spPr>
          <a:xfrm>
            <a:off x="6400800" y="1783080"/>
            <a:ext cx="5242255" cy="1417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2800" b="1" i="0">
                <a:solidFill>
                  <a:srgbClr val="FFFFFF"/>
                </a:solidFill>
                <a:latin typeface="Cambria"/>
              </a:rPr>
              <a:t>p(function) = k / n</a:t>
            </a:r>
          </a:p>
          <a:p>
            <a:pPr algn="l">
              <a:spcAft>
                <a:spcPts val="0"/>
              </a:spcAft>
            </a:pPr>
            <a:r>
              <a:rPr sz="1400" b="0" i="0">
                <a:solidFill>
                  <a:srgbClr val="02C39A"/>
                </a:solidFill>
                <a:latin typeface="Calibri"/>
              </a:rPr>
              <a:t>k of the n selected genomes carry it</a:t>
            </a:r>
          </a:p>
        </p:txBody>
      </p:sp>
      <p:sp>
        <p:nvSpPr>
          <p:cNvPr id="25" name="Rounded Rectangle 24"/>
          <p:cNvSpPr/>
          <p:nvPr/>
        </p:nvSpPr>
        <p:spPr>
          <a:xfrm>
            <a:off x="6400800"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3,225</a:t>
            </a:r>
          </a:p>
          <a:p>
            <a:pPr algn="l">
              <a:lnSpc>
                <a:spcPct val="92000"/>
              </a:lnSpc>
              <a:spcAft>
                <a:spcPts val="0"/>
              </a:spcAft>
            </a:pPr>
            <a:r>
              <a:rPr sz="1150" b="0" i="0">
                <a:solidFill>
                  <a:srgbClr val="5B7179"/>
                </a:solidFill>
                <a:latin typeface="Calibri"/>
              </a:rPr>
              <a:t>synthetic genomes (depth 100)</a:t>
            </a:r>
          </a:p>
        </p:txBody>
      </p:sp>
      <p:sp>
        <p:nvSpPr>
          <p:cNvPr id="26" name="Rounded Rectangle 25"/>
          <p:cNvSpPr/>
          <p:nvPr/>
        </p:nvSpPr>
        <p:spPr>
          <a:xfrm>
            <a:off x="9159087"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51</a:t>
            </a:r>
          </a:p>
          <a:p>
            <a:pPr algn="l">
              <a:lnSpc>
                <a:spcPct val="92000"/>
              </a:lnSpc>
              <a:spcAft>
                <a:spcPts val="0"/>
              </a:spcAft>
            </a:pPr>
            <a:r>
              <a:rPr sz="1150" b="0" i="0">
                <a:solidFill>
                  <a:srgbClr val="5B7179"/>
                </a:solidFill>
                <a:latin typeface="Calibri"/>
              </a:rPr>
              <a:t>of 3,276 ASVs abstained</a:t>
            </a:r>
          </a:p>
        </p:txBody>
      </p:sp>
      <p:sp>
        <p:nvSpPr>
          <p:cNvPr id="27" name="TextBox 26"/>
          <p:cNvSpPr txBox="1"/>
          <p:nvPr/>
        </p:nvSpPr>
        <p:spPr>
          <a:xfrm>
            <a:off x="6400800" y="5074920"/>
            <a:ext cx="524225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Reaction weight = max over its genes</a:t>
            </a:r>
          </a:p>
        </p:txBody>
      </p:sp>
      <p:sp>
        <p:nvSpPr>
          <p:cNvPr id="28" name="TextBox 2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Depth-100 build, local · 3,276 real ASVs · KBase workspace 261948 holds the 20-hit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is active on a minority of queries</a:t>
            </a:r>
          </a:p>
          <a:p>
            <a:pPr algn="l">
              <a:spcAft>
                <a:spcPts val="0"/>
              </a:spcAft>
            </a:pPr>
            <a:r>
              <a:rPr sz="1350" b="0" i="0">
                <a:solidFill>
                  <a:srgbClr val="5B7179"/>
                </a:solidFill>
                <a:latin typeface="Calibri"/>
              </a:rPr>
              <a:t>What the weighting can, and cannot, claim</a:t>
            </a:r>
          </a:p>
        </p:txBody>
      </p:sp>
      <p:graphicFrame>
        <p:nvGraphicFramePr>
          <p:cNvPr id="3" name="Chart 2"/>
          <p:cNvGraphicFramePr>
            <a:graphicFrameLocks noGrp="1"/>
          </p:cNvGraphicFramePr>
          <p:nvPr/>
        </p:nvGraphicFramePr>
        <p:xfrm>
          <a:off x="548640" y="1417320"/>
          <a:ext cx="5364327"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78727" y="1417320"/>
          <a:ext cx="5364327" cy="3566160"/>
        </p:xfrm>
        <a:graphic>
          <a:graphicData uri="http://schemas.openxmlformats.org/drawingml/2006/chart">
            <c:chart xmlns:c="http://schemas.openxmlformats.org/drawingml/2006/chart" r:id="rId3"/>
          </a:graphicData>
        </a:graphic>
      </p:graphicFrame>
      <p:sp>
        <p:nvSpPr>
          <p:cNvPr id="5" name="TextBox 4"/>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Where active: little flux moved; shuffled weights break more ties</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Benchmark: shipped exact-tie rule · deployment: 3,950 real ASVs, 100-hit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4" name="Chart 3"/>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5" name="Rounded Rectangle 4"/>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6" name="Rounded Rectangle 5"/>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7" name="Rounded Rectangle 6"/>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8" name="TextBox 7"/>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9" name="TextBox 8"/>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breaks ties; so does any gradation</a:t>
            </a:r>
          </a:p>
          <a:p>
            <a:pPr algn="l">
              <a:spcAft>
                <a:spcPts val="0"/>
              </a:spcAft>
            </a:pPr>
            <a:r>
              <a:rPr sz="1350" b="0" i="0">
                <a:solidFill>
                  <a:srgbClr val="5B7179"/>
                </a:solidFill>
                <a:latin typeface="Calibri"/>
              </a:rPr>
              <a:t>Does p steer flux toward the true organism's functions?</a:t>
            </a:r>
          </a:p>
        </p:txBody>
      </p:sp>
      <p:graphicFrame>
        <p:nvGraphicFramePr>
          <p:cNvPr id="4" name="Chart 3"/>
          <p:cNvGraphicFramePr>
            <a:graphicFrameLocks noGrp="1"/>
          </p:cNvGraphicFramePr>
          <p:nvPr/>
        </p:nvGraphicFramePr>
        <p:xfrm>
          <a:off x="548640" y="1417320"/>
          <a:ext cx="6720840" cy="3840480"/>
        </p:xfrm>
        <a:graphic>
          <a:graphicData uri="http://schemas.openxmlformats.org/drawingml/2006/chart">
            <c:chart xmlns:c="http://schemas.openxmlformats.org/drawingml/2006/chart" r:id="rId2"/>
          </a:graphicData>
        </a:graphic>
      </p:graphicFrame>
      <p:sp>
        <p:nvSpPr>
          <p:cNvPr id="5" name="Rounded Rectangle 4"/>
          <p:cNvSpPr/>
          <p:nvPr/>
        </p:nvSpPr>
        <p:spPr>
          <a:xfrm>
            <a:off x="7635240" y="1691640"/>
            <a:ext cx="40078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−0.61 pts</a:t>
            </a:r>
          </a:p>
          <a:p>
            <a:pPr algn="l">
              <a:lnSpc>
                <a:spcPct val="92000"/>
              </a:lnSpc>
              <a:spcAft>
                <a:spcPts val="0"/>
              </a:spcAft>
            </a:pPr>
            <a:r>
              <a:rPr sz="1150" b="0" i="0">
                <a:solidFill>
                  <a:srgbClr val="5B7179"/>
                </a:solidFill>
                <a:latin typeface="Calibri"/>
              </a:rPr>
              <a:t>truth-absent flux, % of gene-backed, real p vs two-tier [−0.97, −0.25]; SESOI 1 pt</a:t>
            </a:r>
          </a:p>
        </p:txBody>
      </p:sp>
      <p:sp>
        <p:nvSpPr>
          <p:cNvPr id="6" name="Rounded Rectangle 5"/>
          <p:cNvSpPr/>
          <p:nvPr/>
        </p:nvSpPr>
        <p:spPr>
          <a:xfrm>
            <a:off x="7635240" y="3337560"/>
            <a:ext cx="40078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24%</a:t>
            </a:r>
          </a:p>
          <a:p>
            <a:pPr algn="l">
              <a:lnSpc>
                <a:spcPct val="92000"/>
              </a:lnSpc>
              <a:spcAft>
                <a:spcPts val="0"/>
              </a:spcAft>
            </a:pPr>
            <a:r>
              <a:rPr sz="1150" b="0" i="0">
                <a:solidFill>
                  <a:srgbClr val="5B7179"/>
                </a:solidFill>
                <a:latin typeface="Calibri"/>
              </a:rPr>
              <a:t>of what an oracle weighting achieves</a:t>
            </a:r>
          </a:p>
        </p:txBody>
      </p:sp>
      <p:sp>
        <p:nvSpPr>
          <p:cNvPr id="7" name="TextBox 6"/>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Exchange term dominates: the weights only pick among ties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Declared post hoc · 300 multi-genome + 60 single-genome amplicons, leave-genus-out benchmark · pooled n ≥ 2, 95% group-cluster CI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amplicon's true genome and gene set are known</a:t>
            </a:r>
          </a:p>
        </p:txBody>
      </p:sp>
      <p:sp>
        <p:nvSpPr>
          <p:cNvPr id="3" name="Rounded Rectangle 2"/>
          <p:cNvSpPr/>
          <p:nvPr/>
        </p:nvSpPr>
        <p:spPr>
          <a:xfrm>
            <a:off x="548640"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10,000 genomes</a:t>
            </a:r>
          </a:p>
          <a:p>
            <a:pPr algn="ctr">
              <a:lnSpc>
                <a:spcPct val="95000"/>
              </a:lnSpc>
              <a:spcAft>
                <a:spcPts val="0"/>
              </a:spcAft>
            </a:pPr>
            <a:r>
              <a:rPr sz="1200" b="0" i="0">
                <a:solidFill>
                  <a:srgbClr val="5B7179"/>
                </a:solidFill>
                <a:latin typeface="Calibri"/>
              </a:rPr>
              <a:t>taxonomy-stratified</a:t>
            </a:r>
          </a:p>
        </p:txBody>
      </p:sp>
      <p:sp>
        <p:nvSpPr>
          <p:cNvPr id="4" name="Right Arrow 3"/>
          <p:cNvSpPr/>
          <p:nvPr/>
        </p:nvSpPr>
        <p:spPr>
          <a:xfrm>
            <a:off x="3125647"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18255"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In-silico PCR</a:t>
            </a:r>
          </a:p>
          <a:p>
            <a:pPr algn="ctr">
              <a:lnSpc>
                <a:spcPct val="95000"/>
              </a:lnSpc>
              <a:spcAft>
                <a:spcPts val="0"/>
              </a:spcAft>
            </a:pPr>
            <a:r>
              <a:rPr sz="1200" b="0" i="0">
                <a:solidFill>
                  <a:srgbClr val="5B7179"/>
                </a:solidFill>
                <a:latin typeface="Calibri"/>
              </a:rPr>
              <a:t>8 regions</a:t>
            </a:r>
          </a:p>
        </p:txBody>
      </p:sp>
      <p:sp>
        <p:nvSpPr>
          <p:cNvPr id="6" name="Right Arrow 5"/>
          <p:cNvSpPr/>
          <p:nvPr/>
        </p:nvSpPr>
        <p:spPr>
          <a:xfrm>
            <a:off x="5995263"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87871"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67,991 amplicons</a:t>
            </a:r>
          </a:p>
          <a:p>
            <a:pPr algn="ctr">
              <a:lnSpc>
                <a:spcPct val="95000"/>
              </a:lnSpc>
              <a:spcAft>
                <a:spcPts val="0"/>
              </a:spcAft>
            </a:pPr>
            <a:r>
              <a:rPr sz="1200" b="0" i="0">
                <a:solidFill>
                  <a:srgbClr val="5B7179"/>
                </a:solidFill>
                <a:latin typeface="Calibri"/>
              </a:rPr>
              <a:t>unaltered pipeline</a:t>
            </a:r>
          </a:p>
        </p:txBody>
      </p:sp>
      <p:sp>
        <p:nvSpPr>
          <p:cNvPr id="8" name="Right Arrow 7"/>
          <p:cNvSpPr/>
          <p:nvPr/>
        </p:nvSpPr>
        <p:spPr>
          <a:xfrm>
            <a:off x="8864879"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57487"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Score vs truth</a:t>
            </a:r>
          </a:p>
          <a:p>
            <a:pPr algn="ctr">
              <a:lnSpc>
                <a:spcPct val="95000"/>
              </a:lnSpc>
              <a:spcAft>
                <a:spcPts val="0"/>
              </a:spcAft>
            </a:pPr>
            <a:r>
              <a:rPr sz="1200" b="0" i="0">
                <a:solidFill>
                  <a:srgbClr val="5B7179"/>
                </a:solidFill>
                <a:latin typeface="Calibri"/>
              </a:rPr>
              <a:t>NCBI lineage, PGFams</a:t>
            </a:r>
          </a:p>
        </p:txBody>
      </p:sp>
      <p:sp>
        <p:nvSpPr>
          <p:cNvPr id="10" name="Rounded Rectangle 9"/>
          <p:cNvSpPr/>
          <p:nvPr/>
        </p:nvSpPr>
        <p:spPr>
          <a:xfrm>
            <a:off x="3418255"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Genus accuracy</a:t>
            </a:r>
          </a:p>
        </p:txBody>
      </p:sp>
      <p:sp>
        <p:nvSpPr>
          <p:cNvPr id="11" name="Rounded Rectangle 10"/>
          <p:cNvSpPr/>
          <p:nvPr/>
        </p:nvSpPr>
        <p:spPr>
          <a:xfrm>
            <a:off x="6287871"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Gene capture</a:t>
            </a:r>
          </a:p>
        </p:txBody>
      </p:sp>
      <p:sp>
        <p:nvSpPr>
          <p:cNvPr id="12" name="Rounded Rectangle 11"/>
          <p:cNvSpPr/>
          <p:nvPr/>
        </p:nvSpPr>
        <p:spPr>
          <a:xfrm>
            <a:off x="9157487"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Family accuracy</a:t>
            </a:r>
          </a:p>
        </p:txBody>
      </p:sp>
      <p:sp>
        <p:nvSpPr>
          <p:cNvPr id="13" name="Rounded Rectangle 12"/>
          <p:cNvSpPr/>
          <p:nvPr/>
        </p:nvSpPr>
        <p:spPr>
          <a:xfrm>
            <a:off x="548640"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0"/>
              </a:spcAft>
            </a:pPr>
            <a:r>
              <a:rPr sz="1900" b="1" i="0">
                <a:solidFill>
                  <a:srgbClr val="028090"/>
                </a:solidFill>
                <a:latin typeface="Cambria"/>
              </a:rPr>
              <a:t>Source present</a:t>
            </a:r>
          </a:p>
        </p:txBody>
      </p:sp>
      <p:sp>
        <p:nvSpPr>
          <p:cNvPr id="14" name="Rounded Rectangle 13"/>
          <p:cNvSpPr/>
          <p:nvPr/>
        </p:nvSpPr>
        <p:spPr>
          <a:xfrm>
            <a:off x="3418255"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0.89–1.00</a:t>
            </a:r>
          </a:p>
        </p:txBody>
      </p:sp>
      <p:sp>
        <p:nvSpPr>
          <p:cNvPr id="15" name="Rounded Rectangle 14"/>
          <p:cNvSpPr/>
          <p:nvPr/>
        </p:nvSpPr>
        <p:spPr>
          <a:xfrm>
            <a:off x="6287871"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0.99–1.00</a:t>
            </a:r>
          </a:p>
        </p:txBody>
      </p:sp>
      <p:sp>
        <p:nvSpPr>
          <p:cNvPr id="16" name="Rounded Rectangle 15"/>
          <p:cNvSpPr/>
          <p:nvPr/>
        </p:nvSpPr>
        <p:spPr>
          <a:xfrm>
            <a:off x="9157487"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0.92–1.00</a:t>
            </a:r>
          </a:p>
        </p:txBody>
      </p:sp>
      <p:sp>
        <p:nvSpPr>
          <p:cNvPr id="17" name="Rounded Rectangle 16"/>
          <p:cNvSpPr/>
          <p:nvPr/>
        </p:nvSpPr>
        <p:spPr>
          <a:xfrm>
            <a:off x="548640"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200"/>
              </a:spcAft>
            </a:pPr>
            <a:r>
              <a:rPr sz="1900" b="1" i="0">
                <a:solidFill>
                  <a:srgbClr val="C96E0A"/>
                </a:solidFill>
                <a:latin typeface="Cambria"/>
              </a:rPr>
              <a:t>Source removed</a:t>
            </a:r>
          </a:p>
          <a:p>
            <a:pPr algn="l">
              <a:spcAft>
                <a:spcPts val="0"/>
              </a:spcAft>
            </a:pPr>
            <a:r>
              <a:rPr sz="1300" b="0" i="0">
                <a:solidFill>
                  <a:srgbClr val="5B7179"/>
                </a:solidFill>
                <a:latin typeface="Calibri"/>
              </a:rPr>
              <a:t>among answered</a:t>
            </a:r>
          </a:p>
        </p:txBody>
      </p:sp>
      <p:sp>
        <p:nvSpPr>
          <p:cNvPr id="18" name="Rounded Rectangle 17"/>
          <p:cNvSpPr/>
          <p:nvPr/>
        </p:nvSpPr>
        <p:spPr>
          <a:xfrm>
            <a:off x="3418255"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0.58–0.73</a:t>
            </a:r>
          </a:p>
        </p:txBody>
      </p:sp>
      <p:sp>
        <p:nvSpPr>
          <p:cNvPr id="19" name="Rounded Rectangle 18"/>
          <p:cNvSpPr/>
          <p:nvPr/>
        </p:nvSpPr>
        <p:spPr>
          <a:xfrm>
            <a:off x="6287871"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0.66–0.70</a:t>
            </a:r>
          </a:p>
        </p:txBody>
      </p:sp>
      <p:sp>
        <p:nvSpPr>
          <p:cNvPr id="20" name="Rounded Rectangle 19"/>
          <p:cNvSpPr/>
          <p:nvPr/>
        </p:nvSpPr>
        <p:spPr>
          <a:xfrm>
            <a:off x="9157487"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0.76–0.85</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gene capture = macro recall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Region costs genus accuracy, not gene capture</a:t>
            </a:r>
          </a:p>
          <a:p>
            <a:pPr algn="l">
              <a:spcAft>
                <a:spcPts val="0"/>
              </a:spcAft>
            </a:pPr>
            <a:r>
              <a:rPr sz="1350" b="0" i="0">
                <a:solidFill>
                  <a:srgbClr val="5B7179"/>
                </a:solidFill>
                <a:latin typeface="Calibri"/>
              </a:rPr>
              <a:t>Points lost when the source organism is removed, by region</a:t>
            </a:r>
          </a:p>
        </p:txBody>
      </p:sp>
      <p:graphicFrame>
        <p:nvGraphicFramePr>
          <p:cNvPr id="3" name="Chart 2"/>
          <p:cNvGraphicFramePr>
            <a:graphicFrameLocks noGrp="1"/>
          </p:cNvGraphicFramePr>
          <p:nvPr/>
        </p:nvGraphicFramePr>
        <p:xfrm>
          <a:off x="548640" y="1938528"/>
          <a:ext cx="11094415"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Gene capture 30–33 points; genus loss jumps from V3 on</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loss = source present − source removed, among amplicons that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honest denominator counts every non-answer</a:t>
            </a:r>
          </a:p>
          <a:p>
            <a:pPr algn="l">
              <a:spcAft>
                <a:spcPts val="0"/>
              </a:spcAft>
            </a:pPr>
            <a:r>
              <a:rPr sz="1350" b="0" i="0">
                <a:solidFill>
                  <a:srgbClr val="5B7179"/>
                </a:solidFill>
                <a:latin typeface="Calibri"/>
              </a:rPr>
              <a:t>Genus, source removed: 52,026 scoreable amplicons, 8 regions pooled</a:t>
            </a:r>
          </a:p>
        </p:txBody>
      </p:sp>
      <p:sp>
        <p:nvSpPr>
          <p:cNvPr id="3" name="Rectangle 2"/>
          <p:cNvSpPr/>
          <p:nvPr/>
        </p:nvSpPr>
        <p:spPr>
          <a:xfrm>
            <a:off x="548640"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a:t>
            </a:r>
          </a:p>
        </p:txBody>
      </p:sp>
      <p:sp>
        <p:nvSpPr>
          <p:cNvPr id="4" name="Rectangle 3"/>
          <p:cNvSpPr/>
          <p:nvPr/>
        </p:nvSpPr>
        <p:spPr>
          <a:xfrm>
            <a:off x="548640"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a:t>
            </a:r>
          </a:p>
        </p:txBody>
      </p:sp>
      <p:sp>
        <p:nvSpPr>
          <p:cNvPr id="5" name="Rectangle 4"/>
          <p:cNvSpPr/>
          <p:nvPr/>
        </p:nvSpPr>
        <p:spPr>
          <a:xfrm>
            <a:off x="4541367"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 · 44%</a:t>
            </a:r>
          </a:p>
        </p:txBody>
      </p:sp>
      <p:sp>
        <p:nvSpPr>
          <p:cNvPr id="6" name="Rectangle 5"/>
          <p:cNvSpPr/>
          <p:nvPr/>
        </p:nvSpPr>
        <p:spPr>
          <a:xfrm>
            <a:off x="4541367"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 · 24%</a:t>
            </a:r>
          </a:p>
        </p:txBody>
      </p:sp>
      <p:sp>
        <p:nvSpPr>
          <p:cNvPr id="7" name="Rectangle 6"/>
          <p:cNvSpPr/>
          <p:nvPr/>
        </p:nvSpPr>
        <p:spPr>
          <a:xfrm>
            <a:off x="4541367" y="1819931"/>
            <a:ext cx="3108960" cy="651342"/>
          </a:xfrm>
          <a:prstGeom prst="rect">
            <a:avLst/>
          </a:prstGeom>
          <a:solidFill>
            <a:srgbClr val="F6D3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unnamed genus · 22%</a:t>
            </a:r>
          </a:p>
        </p:txBody>
      </p:sp>
      <p:sp>
        <p:nvSpPr>
          <p:cNvPr id="8" name="Rectangle 7"/>
          <p:cNvSpPr/>
          <p:nvPr/>
        </p:nvSpPr>
        <p:spPr>
          <a:xfrm>
            <a:off x="4541367" y="1508760"/>
            <a:ext cx="3108960" cy="311171"/>
          </a:xfrm>
          <a:prstGeom prst="rect">
            <a:avLst/>
          </a:prstGeom>
          <a:solidFill>
            <a:srgbClr val="C9D6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abstained · 10%</a:t>
            </a:r>
          </a:p>
        </p:txBody>
      </p:sp>
      <p:sp>
        <p:nvSpPr>
          <p:cNvPr id="9" name="Rectangle 8"/>
          <p:cNvSpPr/>
          <p:nvPr/>
        </p:nvSpPr>
        <p:spPr>
          <a:xfrm>
            <a:off x="8534095" y="3600306"/>
            <a:ext cx="3108960" cy="925973"/>
          </a:xfrm>
          <a:prstGeom prst="rect">
            <a:avLst/>
          </a:prstGeom>
          <a:solidFill>
            <a:srgbClr val="FFFFFF"/>
          </a:solidFill>
          <a:ln w="19050">
            <a:solidFill>
              <a:srgbClr val="5B71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1400" b="0" i="0">
                <a:solidFill>
                  <a:srgbClr val="5B7179"/>
                </a:solidFill>
                <a:latin typeface="Calibri"/>
              </a:rPr>
              <a:t>not scoreable</a:t>
            </a:r>
          </a:p>
        </p:txBody>
      </p:sp>
      <p:sp>
        <p:nvSpPr>
          <p:cNvPr id="10" name="Rounded Rectangle 9"/>
          <p:cNvSpPr/>
          <p:nvPr/>
        </p:nvSpPr>
        <p:spPr>
          <a:xfrm>
            <a:off x="548640"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0.58–0.73</a:t>
            </a:r>
          </a:p>
          <a:p>
            <a:pPr algn="l">
              <a:lnSpc>
                <a:spcPct val="92000"/>
              </a:lnSpc>
              <a:spcAft>
                <a:spcPts val="0"/>
              </a:spcAft>
            </a:pPr>
            <a:r>
              <a:rPr sz="1150" b="0" i="0">
                <a:solidFill>
                  <a:srgbClr val="5B7179"/>
                </a:solidFill>
                <a:latin typeface="Calibri"/>
              </a:rPr>
              <a:t>conditional: ÷ answered</a:t>
            </a:r>
          </a:p>
        </p:txBody>
      </p:sp>
      <p:sp>
        <p:nvSpPr>
          <p:cNvPr id="11" name="Rounded Rectangle 10"/>
          <p:cNvSpPr/>
          <p:nvPr/>
        </p:nvSpPr>
        <p:spPr>
          <a:xfrm>
            <a:off x="4541367"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0.37–0.54</a:t>
            </a:r>
          </a:p>
          <a:p>
            <a:pPr algn="l">
              <a:lnSpc>
                <a:spcPct val="92000"/>
              </a:lnSpc>
              <a:spcAft>
                <a:spcPts val="0"/>
              </a:spcAft>
            </a:pPr>
            <a:r>
              <a:rPr sz="1150" b="0" i="0">
                <a:solidFill>
                  <a:srgbClr val="5B7179"/>
                </a:solidFill>
                <a:latin typeface="Calibri"/>
              </a:rPr>
              <a:t>population: ÷ all scoreable</a:t>
            </a:r>
          </a:p>
        </p:txBody>
      </p:sp>
      <p:sp>
        <p:nvSpPr>
          <p:cNvPr id="12" name="Rounded Rectangle 11"/>
          <p:cNvSpPr/>
          <p:nvPr/>
        </p:nvSpPr>
        <p:spPr>
          <a:xfrm>
            <a:off x="8534095"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5B7179"/>
                </a:solidFill>
                <a:latin typeface="Cambria"/>
              </a:rPr>
              <a:t>22–25%</a:t>
            </a:r>
          </a:p>
          <a:p>
            <a:pPr algn="l">
              <a:lnSpc>
                <a:spcPct val="92000"/>
              </a:lnSpc>
              <a:spcAft>
                <a:spcPts val="0"/>
              </a:spcAft>
            </a:pPr>
            <a:r>
              <a:rPr sz="1150" b="0" i="0">
                <a:solidFill>
                  <a:srgbClr val="5B7179"/>
                </a:solidFill>
                <a:latin typeface="Calibri"/>
              </a:rPr>
              <a:t>excluded: no named genus in truth</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accuracy ranges by region; columns pooled, drawn to one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Same amplicons, same truth, one shared projection</a:t>
            </a:r>
          </a:p>
          <a:p>
            <a:pPr algn="l">
              <a:spcAft>
                <a:spcPts val="0"/>
              </a:spcAft>
            </a:pPr>
            <a:r>
              <a:rPr sz="1350" b="0" i="0">
                <a:solidFill>
                  <a:srgbClr val="5B7179"/>
                </a:solidFill>
                <a:latin typeface="Calibri"/>
              </a:rPr>
              <a:t>PICRUSt2 against prFBA, each querying its own reference database</a:t>
            </a:r>
          </a:p>
        </p:txBody>
      </p:sp>
      <p:graphicFrame>
        <p:nvGraphicFramePr>
          <p:cNvPr id="3" name="Table 2"/>
          <p:cNvGraphicFramePr>
            <a:graphicFrameLocks noGrp="1"/>
          </p:cNvGraphicFramePr>
          <p:nvPr/>
        </p:nvGraphicFramePr>
        <p:xfrm>
          <a:off x="548640" y="1371600"/>
          <a:ext cx="11094415" cy="1700784"/>
        </p:xfrm>
        <a:graphic>
          <a:graphicData uri="http://schemas.openxmlformats.org/drawingml/2006/table">
            <a:tbl>
              <a:tblPr firstRow="1" bandRow="1">
                <a:tableStyleId>{5C22544A-7EE6-4342-B048-85BDC9FD1C3A}</a:tableStyleId>
              </a:tblPr>
              <a:tblGrid>
                <a:gridCol w="2514600"/>
                <a:gridCol w="4288536"/>
                <a:gridCol w="4291279"/>
              </a:tblGrid>
              <a:tr h="566928">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PICRUSt2 2.6.3</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prFBA</a:t>
                      </a:r>
                    </a:p>
                  </a:txBody>
                  <a:tcPr marL="91440" marR="91440" marT="27432" marB="27432" anchor="ctr">
                    <a:solidFill>
                      <a:srgbClr val="028090"/>
                    </a:solidFill>
                  </a:tcPr>
                </a:tc>
              </a:tr>
              <a:tr h="566928">
                <a:tc>
                  <a:txBody>
                    <a:bodyPr wrap="square"/>
                    <a:lstStyle/>
                    <a:p>
                      <a:pPr algn="l">
                        <a:spcAft>
                          <a:spcPts val="0"/>
                        </a:spcAft>
                      </a:pPr>
                      <a:r>
                        <a:rPr sz="1700" b="1" i="0">
                          <a:solidFill>
                            <a:srgbClr val="10292E"/>
                          </a:solidFill>
                          <a:latin typeface="Calibri"/>
                        </a:rPr>
                        <a:t>Reference</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27,870 genomes</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~315,000 BV-BRC genomes</a:t>
                      </a:r>
                    </a:p>
                  </a:txBody>
                  <a:tcPr marL="91440" marR="91440" marT="27432" marB="27432" anchor="ctr">
                    <a:solidFill>
                      <a:srgbClr val="EFF5F5"/>
                    </a:solidFill>
                  </a:tcPr>
                </a:tc>
              </a:tr>
              <a:tr h="566928">
                <a:tc>
                  <a:txBody>
                    <a:bodyPr wrap="square"/>
                    <a:lstStyle/>
                    <a:p>
                      <a:pPr algn="l">
                        <a:spcAft>
                          <a:spcPts val="0"/>
                        </a:spcAft>
                      </a:pPr>
                      <a:r>
                        <a:rPr sz="1700" b="1" i="0">
                          <a:solidFill>
                            <a:srgbClr val="10292E"/>
                          </a:solidFill>
                          <a:latin typeface="Calibri"/>
                        </a:rPr>
                        <a:t>No close match</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always answers</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abstains below family</a:t>
                      </a:r>
                    </a:p>
                  </a:txBody>
                  <a:tcPr marL="91440" marR="91440" marT="27432" marB="27432" anchor="ctr">
                    <a:lnB w="15875" cap="flat" cmpd="sng" algn="ctr">
                      <a:solidFill>
                        <a:srgbClr val="028090"/>
                      </a:solidFill>
                    </a:lnB>
                    <a:solidFill>
                      <a:srgbClr val="FFFFFF"/>
                    </a:solidFill>
                  </a:tcPr>
                </a:tc>
              </a:tr>
            </a:tbl>
          </a:graphicData>
        </a:graphic>
      </p:graphicFrame>
      <p:sp>
        <p:nvSpPr>
          <p:cNvPr id="4" name="TextBox 3"/>
          <p:cNvSpPr txBox="1"/>
          <p:nvPr/>
        </p:nvSpPr>
        <p:spPr>
          <a:xfrm>
            <a:off x="548640" y="352044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Truth and both predictions pass through one map</a:t>
            </a:r>
          </a:p>
        </p:txBody>
      </p:sp>
      <p:sp>
        <p:nvSpPr>
          <p:cNvPr id="5" name="Rounded Rectangle 4"/>
          <p:cNvSpPr/>
          <p:nvPr/>
        </p:nvSpPr>
        <p:spPr>
          <a:xfrm>
            <a:off x="548640"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Gene family</a:t>
            </a:r>
          </a:p>
          <a:p>
            <a:pPr algn="ctr">
              <a:lnSpc>
                <a:spcPct val="95000"/>
              </a:lnSpc>
              <a:spcAft>
                <a:spcPts val="0"/>
              </a:spcAft>
            </a:pPr>
            <a:r>
              <a:rPr sz="1300" b="0" i="0">
                <a:solidFill>
                  <a:srgbClr val="5B7179"/>
                </a:solidFill>
                <a:latin typeface="Calibri"/>
              </a:rPr>
              <a:t>prFBA and truth</a:t>
            </a:r>
          </a:p>
        </p:txBody>
      </p:sp>
      <p:sp>
        <p:nvSpPr>
          <p:cNvPr id="6" name="Right Arrow 5"/>
          <p:cNvSpPr/>
          <p:nvPr/>
        </p:nvSpPr>
        <p:spPr>
          <a:xfrm>
            <a:off x="3125647"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18255"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Product string</a:t>
            </a:r>
          </a:p>
          <a:p>
            <a:pPr algn="ctr">
              <a:lnSpc>
                <a:spcPct val="95000"/>
              </a:lnSpc>
              <a:spcAft>
                <a:spcPts val="0"/>
              </a:spcAft>
            </a:pPr>
            <a:r>
              <a:rPr sz="1300" b="0" i="0">
                <a:solidFill>
                  <a:srgbClr val="5B7179"/>
                </a:solidFill>
                <a:latin typeface="Calibri"/>
              </a:rPr>
              <a:t>BV-BRC</a:t>
            </a:r>
          </a:p>
        </p:txBody>
      </p:sp>
      <p:sp>
        <p:nvSpPr>
          <p:cNvPr id="8" name="Right Arrow 7"/>
          <p:cNvSpPr/>
          <p:nvPr/>
        </p:nvSpPr>
        <p:spPr>
          <a:xfrm>
            <a:off x="5995263"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87871"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EC number</a:t>
            </a:r>
          </a:p>
          <a:p>
            <a:pPr algn="ctr">
              <a:lnSpc>
                <a:spcPct val="95000"/>
              </a:lnSpc>
              <a:spcAft>
                <a:spcPts val="0"/>
              </a:spcAft>
            </a:pPr>
            <a:r>
              <a:rPr sz="1300" b="0" i="0">
                <a:solidFill>
                  <a:srgbClr val="5B7179"/>
                </a:solidFill>
                <a:latin typeface="Calibri"/>
              </a:rPr>
              <a:t>2,132 shared by both</a:t>
            </a:r>
          </a:p>
        </p:txBody>
      </p:sp>
      <p:sp>
        <p:nvSpPr>
          <p:cNvPr id="10" name="Right Arrow 9"/>
          <p:cNvSpPr/>
          <p:nvPr/>
        </p:nvSpPr>
        <p:spPr>
          <a:xfrm>
            <a:off x="8864879"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7487"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ModelSEED reaction</a:t>
            </a:r>
          </a:p>
          <a:p>
            <a:pPr algn="ctr">
              <a:lnSpc>
                <a:spcPct val="95000"/>
              </a:lnSpc>
              <a:spcAft>
                <a:spcPts val="0"/>
              </a:spcAft>
            </a:pPr>
            <a:r>
              <a:rPr sz="1300" b="0" i="0">
                <a:solidFill>
                  <a:srgbClr val="5B7179"/>
                </a:solidFill>
                <a:latin typeface="Calibri"/>
              </a:rPr>
              <a:t>7,042 reached</a:t>
            </a:r>
          </a:p>
        </p:txBody>
      </p:sp>
      <p:sp>
        <p:nvSpPr>
          <p:cNvPr id="12" name="Rounded Rectangle 11"/>
          <p:cNvSpPr/>
          <p:nvPr/>
        </p:nvSpPr>
        <p:spPr>
          <a:xfrm>
            <a:off x="6287871" y="5394960"/>
            <a:ext cx="2485567" cy="384048"/>
          </a:xfrm>
          <a:prstGeom prst="roundRect">
            <a:avLst>
              <a:gd name="adj" fmla="val 30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300" b="1" i="0">
                <a:solidFill>
                  <a:srgbClr val="C96E0A"/>
                </a:solidFill>
                <a:latin typeface="Calibri"/>
              </a:rPr>
              <a:t>PICRUSt2 enters here</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EC space: 67,038 scoreable amplicons; 953 whose source genome has no truth EC set are excluded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Precision collapses for PICRUSt2, bends for prFBA</a:t>
            </a:r>
          </a:p>
          <a:p>
            <a:pPr algn="l">
              <a:spcAft>
                <a:spcPts val="0"/>
              </a:spcAft>
            </a:pPr>
            <a:r>
              <a:rPr sz="1350" b="0" i="0">
                <a:solidFill>
                  <a:srgbClr val="5B7179"/>
                </a:solidFill>
                <a:latin typeface="Calibri"/>
              </a:rPr>
              <a:t>EC precision across PICRUSt2's own NSTI distance bins</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141 vs 412</a:t>
            </a:r>
          </a:p>
          <a:p>
            <a:pPr algn="l">
              <a:lnSpc>
                <a:spcPct val="92000"/>
              </a:lnSpc>
              <a:spcAft>
                <a:spcPts val="0"/>
              </a:spcAft>
            </a:pPr>
            <a:r>
              <a:rPr sz="1150" b="0" i="0">
                <a:solidFill>
                  <a:srgbClr val="5B7179"/>
                </a:solidFill>
                <a:latin typeface="Calibri"/>
              </a:rPr>
              <a:t>ECs per answer at NSTI ≥ 0.5, prFBA vs PICRUSt2; the truth has 123</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86%</a:t>
            </a:r>
          </a:p>
          <a:p>
            <a:pPr algn="l">
              <a:lnSpc>
                <a:spcPct val="92000"/>
              </a:lnSpc>
              <a:spcAft>
                <a:spcPts val="0"/>
              </a:spcAft>
            </a:pPr>
            <a:r>
              <a:rPr sz="1150" b="0" i="0">
                <a:solidFill>
                  <a:srgbClr val="5B7179"/>
                </a:solidFill>
                <a:latin typeface="Calibri"/>
              </a:rPr>
              <a:t>of NSTI ≥ 0.5 amplicons still answered by prFBA</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prFBA bends by asserting smaller gene sets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NSTI = nearest-sequenced-taxon index, PICRUSt2's own distance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Two annotations of one genome agree only partly</a:t>
            </a:r>
          </a:p>
          <a:p>
            <a:pPr algn="l">
              <a:spcAft>
                <a:spcPts val="0"/>
              </a:spcAft>
            </a:pPr>
            <a:r>
              <a:rPr sz="1350" b="0" i="0">
                <a:solidFill>
                  <a:srgbClr val="02C39A"/>
                </a:solidFill>
                <a:latin typeface="Calibri"/>
              </a:rPr>
              <a:t>BV-BRC's annotation vs PICRUSt2's own reference row, no prediction</a:t>
            </a:r>
          </a:p>
        </p:txBody>
      </p:sp>
      <p:graphicFrame>
        <p:nvGraphicFramePr>
          <p:cNvPr id="3" name="Chart 2"/>
          <p:cNvGraphicFramePr>
            <a:graphicFrameLocks noGrp="1"/>
          </p:cNvGraphicFramePr>
          <p:nvPr/>
        </p:nvGraphicFramePr>
        <p:xfrm>
          <a:off x="548640" y="1371600"/>
          <a:ext cx="7086600" cy="3657600"/>
        </p:xfrm>
        <a:graphic>
          <a:graphicData uri="http://schemas.openxmlformats.org/drawingml/2006/chart">
            <c:chart xmlns:c="http://schemas.openxmlformats.org/drawingml/2006/chart" r:id="rId2"/>
          </a:graphicData>
        </a:graphic>
      </p:graphicFrame>
      <p:sp>
        <p:nvSpPr>
          <p:cNvPr id="4" name="Rounded Rectangle 3"/>
          <p:cNvSpPr/>
          <p:nvPr/>
        </p:nvSpPr>
        <p:spPr>
          <a:xfrm>
            <a:off x="8046720" y="137160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0.688</a:t>
            </a:r>
          </a:p>
          <a:p>
            <a:pPr algn="l">
              <a:lnSpc>
                <a:spcPct val="92000"/>
              </a:lnSpc>
              <a:spcAft>
                <a:spcPts val="0"/>
              </a:spcAft>
            </a:pPr>
            <a:r>
              <a:rPr sz="1150" b="0" i="0">
                <a:solidFill>
                  <a:srgbClr val="FFFFFF"/>
                </a:solidFill>
                <a:latin typeface="Calibri"/>
              </a:rPr>
              <a:t>Jaccard overlap of the two EC sets</a:t>
            </a:r>
          </a:p>
        </p:txBody>
      </p:sp>
      <p:sp>
        <p:nvSpPr>
          <p:cNvPr id="5" name="Rounded Rectangle 4"/>
          <p:cNvSpPr/>
          <p:nvPr/>
        </p:nvSpPr>
        <p:spPr>
          <a:xfrm>
            <a:off x="8046720" y="333756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2,689</a:t>
            </a:r>
          </a:p>
          <a:p>
            <a:pPr algn="l">
              <a:lnSpc>
                <a:spcPct val="92000"/>
              </a:lnSpc>
              <a:spcAft>
                <a:spcPts val="0"/>
              </a:spcAft>
            </a:pPr>
            <a:r>
              <a:rPr sz="1150" b="0" i="0">
                <a:solidFill>
                  <a:srgbClr val="FFFFFF"/>
                </a:solidFill>
                <a:latin typeface="Calibri"/>
              </a:rPr>
              <a:t>genomes held in both databases</a:t>
            </a:r>
          </a:p>
        </p:txBody>
      </p:sp>
      <p:sp>
        <p:nvSpPr>
          <p:cNvPr id="6" name="TextBox 5"/>
          <p:cNvSpPr txBox="1"/>
          <p:nvPr/>
        </p:nvSpPr>
        <p:spPr>
          <a:xfrm>
            <a:off x="548640" y="539496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Two pipelines read the same DNA differently</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Per-genome means over the 2,689 benchmark genomes in PICRUSt2's reference; 2,132-EC shared vocabulary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two answer keys for the same genome</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+0.046</a:t>
            </a:r>
          </a:p>
          <a:p>
            <a:pPr algn="l">
              <a:lnSpc>
                <a:spcPct val="92000"/>
              </a:lnSpc>
              <a:spcAft>
                <a:spcPts val="0"/>
              </a:spcAft>
            </a:pPr>
            <a:r>
              <a:rPr sz="1150" b="0" i="0">
                <a:solidFill>
                  <a:srgbClr val="5B7179"/>
                </a:solidFill>
                <a:latin typeface="Calibri"/>
              </a:rPr>
              <a:t>prFBA (source removed) − PICRUSt2, BV-BRC's key</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−0.202</a:t>
            </a:r>
          </a:p>
          <a:p>
            <a:pPr algn="l">
              <a:lnSpc>
                <a:spcPct val="92000"/>
              </a:lnSpc>
              <a:spcAft>
                <a:spcPts val="0"/>
              </a:spcAft>
            </a:pPr>
            <a:r>
              <a:rPr sz="1150" b="0" i="0">
                <a:solidFill>
                  <a:srgbClr val="5B7179"/>
                </a:solidFill>
                <a:latin typeface="Calibri"/>
              </a:rPr>
              <a:t>same predictions, PICRUSt2's key</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Cannot rank the methods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Conditional on prFBA answering: n = 18,346 amplicons whose source genome is in both databases · shipped exact-tie union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test: one reference, one answer key</a:t>
            </a:r>
          </a:p>
          <a:p>
            <a:pPr algn="l">
              <a:spcAft>
                <a:spcPts val="0"/>
              </a:spcAft>
            </a:pPr>
            <a:r>
              <a:rPr sz="1350" b="0" i="0">
                <a:solidFill>
                  <a:srgbClr val="5B7179"/>
                </a:solidFill>
                <a:latin typeface="Calibri"/>
              </a:rPr>
              <a:t>Neither system authors the truth it is scored against</a:t>
            </a:r>
          </a:p>
        </p:txBody>
      </p:sp>
      <p:sp>
        <p:nvSpPr>
          <p:cNvPr id="3" name="Rounded Rectangle 2"/>
          <p:cNvSpPr/>
          <p:nvPr/>
        </p:nvSpPr>
        <p:spPr>
          <a:xfrm>
            <a:off x="548640"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8,872 genomes</a:t>
            </a:r>
          </a:p>
          <a:p>
            <a:pPr algn="ctr">
              <a:lnSpc>
                <a:spcPct val="95000"/>
              </a:lnSpc>
              <a:spcAft>
                <a:spcPts val="0"/>
              </a:spcAft>
            </a:pPr>
            <a:r>
              <a:rPr sz="1400" b="0" i="0">
                <a:solidFill>
                  <a:srgbClr val="5B7179"/>
                </a:solidFill>
                <a:latin typeface="Calibri"/>
              </a:rPr>
              <a:t>dereplicated panel</a:t>
            </a:r>
          </a:p>
        </p:txBody>
      </p:sp>
      <p:sp>
        <p:nvSpPr>
          <p:cNvPr id="4" name="Right Arrow 3"/>
          <p:cNvSpPr/>
          <p:nvPr/>
        </p:nvSpPr>
        <p:spPr>
          <a:xfrm>
            <a:off x="256818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3335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5 folds</a:t>
            </a:r>
          </a:p>
          <a:p>
            <a:pPr algn="ctr">
              <a:lnSpc>
                <a:spcPct val="95000"/>
              </a:lnSpc>
              <a:spcAft>
                <a:spcPts val="0"/>
              </a:spcAft>
            </a:pPr>
            <a:r>
              <a:rPr sz="1400" b="0" i="0">
                <a:solidFill>
                  <a:srgbClr val="5B7179"/>
                </a:solidFill>
                <a:latin typeface="Calibri"/>
              </a:rPr>
              <a:t>genera held out</a:t>
            </a:r>
          </a:p>
        </p:txBody>
      </p:sp>
      <p:sp>
        <p:nvSpPr>
          <p:cNvPr id="6" name="Right Arrow 5"/>
          <p:cNvSpPr/>
          <p:nvPr/>
        </p:nvSpPr>
        <p:spPr>
          <a:xfrm>
            <a:off x="485290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1807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7,175 references</a:t>
            </a:r>
          </a:p>
          <a:p>
            <a:pPr algn="ctr">
              <a:lnSpc>
                <a:spcPct val="95000"/>
              </a:lnSpc>
              <a:spcAft>
                <a:spcPts val="0"/>
              </a:spcAft>
            </a:pPr>
            <a:r>
              <a:rPr sz="1400" b="0" i="0">
                <a:solidFill>
                  <a:srgbClr val="5B7179"/>
                </a:solidFill>
                <a:latin typeface="Calibri"/>
              </a:rPr>
              <a:t>median, shared by both</a:t>
            </a:r>
          </a:p>
        </p:txBody>
      </p:sp>
      <p:sp>
        <p:nvSpPr>
          <p:cNvPr id="8" name="Right Arrow 7"/>
          <p:cNvSpPr/>
          <p:nvPr/>
        </p:nvSpPr>
        <p:spPr>
          <a:xfrm>
            <a:off x="713762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0279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2 methods</a:t>
            </a:r>
          </a:p>
          <a:p>
            <a:pPr algn="ctr">
              <a:lnSpc>
                <a:spcPct val="95000"/>
              </a:lnSpc>
              <a:spcAft>
                <a:spcPts val="0"/>
              </a:spcAft>
            </a:pPr>
            <a:r>
              <a:rPr sz="1400" b="0" i="0">
                <a:solidFill>
                  <a:srgbClr val="5B7179"/>
                </a:solidFill>
                <a:latin typeface="Calibri"/>
              </a:rPr>
              <a:t>+ 5 baselines</a:t>
            </a:r>
          </a:p>
        </p:txBody>
      </p:sp>
      <p:sp>
        <p:nvSpPr>
          <p:cNvPr id="10" name="Right Arrow 9"/>
          <p:cNvSpPr/>
          <p:nvPr/>
        </p:nvSpPr>
        <p:spPr>
          <a:xfrm>
            <a:off x="942234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8751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1 answer key</a:t>
            </a:r>
          </a:p>
          <a:p>
            <a:pPr algn="ctr">
              <a:lnSpc>
                <a:spcPct val="95000"/>
              </a:lnSpc>
              <a:spcAft>
                <a:spcPts val="0"/>
              </a:spcAft>
            </a:pPr>
            <a:r>
              <a:rPr sz="1400" b="0" i="0">
                <a:solidFill>
                  <a:srgbClr val="5B7179"/>
                </a:solidFill>
                <a:latin typeface="Calibri"/>
              </a:rPr>
              <a:t>BV-BRC ECs</a:t>
            </a:r>
          </a:p>
        </p:txBody>
      </p:sp>
      <p:sp>
        <p:nvSpPr>
          <p:cNvPr id="12" name="Rounded Rectangle 11"/>
          <p:cNvSpPr/>
          <p:nvPr/>
        </p:nvSpPr>
        <p:spPr>
          <a:xfrm>
            <a:off x="548640"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63,871</a:t>
            </a:r>
          </a:p>
          <a:p>
            <a:pPr algn="ctr">
              <a:lnSpc>
                <a:spcPct val="92000"/>
              </a:lnSpc>
              <a:spcAft>
                <a:spcPts val="0"/>
              </a:spcAft>
            </a:pPr>
            <a:r>
              <a:rPr sz="1150" b="0" i="0">
                <a:solidFill>
                  <a:srgbClr val="5B7179"/>
                </a:solidFill>
                <a:latin typeface="Calibri"/>
              </a:rPr>
              <a:t>scored cells</a:t>
            </a:r>
          </a:p>
        </p:txBody>
      </p:sp>
      <p:sp>
        <p:nvSpPr>
          <p:cNvPr id="13" name="Rounded Rectangle 12"/>
          <p:cNvSpPr/>
          <p:nvPr/>
        </p:nvSpPr>
        <p:spPr>
          <a:xfrm>
            <a:off x="4337913"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2,376</a:t>
            </a:r>
          </a:p>
          <a:p>
            <a:pPr algn="ctr">
              <a:lnSpc>
                <a:spcPct val="92000"/>
              </a:lnSpc>
              <a:spcAft>
                <a:spcPts val="0"/>
              </a:spcAft>
            </a:pPr>
            <a:r>
              <a:rPr sz="1150" b="0" i="0">
                <a:solidFill>
                  <a:srgbClr val="5B7179"/>
                </a:solidFill>
                <a:latin typeface="Calibri"/>
              </a:rPr>
              <a:t>holdout groups</a:t>
            </a:r>
          </a:p>
        </p:txBody>
      </p:sp>
      <p:sp>
        <p:nvSpPr>
          <p:cNvPr id="14" name="Rounded Rectangle 13"/>
          <p:cNvSpPr/>
          <p:nvPr/>
        </p:nvSpPr>
        <p:spPr>
          <a:xfrm>
            <a:off x="8127187"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C96E0A"/>
                </a:solidFill>
                <a:latin typeface="Cambria"/>
              </a:rPr>
              <a:t>0.02</a:t>
            </a:r>
          </a:p>
          <a:p>
            <a:pPr algn="ctr">
              <a:lnSpc>
                <a:spcPct val="92000"/>
              </a:lnSpc>
              <a:spcAft>
                <a:spcPts val="0"/>
              </a:spcAft>
            </a:pPr>
            <a:r>
              <a:rPr sz="1150" b="0" i="0">
                <a:solidFill>
                  <a:srgbClr val="5B7179"/>
                </a:solidFill>
                <a:latin typeface="Calibri"/>
              </a:rPr>
              <a:t>pre-registered effect size</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Leave-genus-out, the primary rank; leave-family-out adds 14,692 cells in 171 groups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amended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0 of 8,614 rows gated · 49 before the amendments</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Why C12 failed: ATP from nothing in 44 models</a:t>
            </a:r>
          </a:p>
          <a:p>
            <a:pPr algn="l">
              <a:spcAft>
                <a:spcPts val="0"/>
              </a:spcAft>
            </a:pPr>
            <a:r>
              <a:rPr sz="1350" b="0" i="0">
                <a:solidFill>
                  <a:srgbClr val="5B7179"/>
                </a:solidFill>
                <a:latin typeface="Calibri"/>
              </a:rPr>
              <a:t>Pre-registered run · each a closed loop that one gapfilled reaction completes</a:t>
            </a:r>
          </a:p>
        </p:txBody>
      </p:sp>
      <p:graphicFrame>
        <p:nvGraphicFramePr>
          <p:cNvPr id="4" name="Chart 3"/>
          <p:cNvGraphicFramePr>
            <a:graphicFrameLocks noGrp="1"/>
          </p:cNvGraphicFramePr>
          <p:nvPr/>
        </p:nvGraphicFramePr>
        <p:xfrm>
          <a:off x="457200" y="1325880"/>
          <a:ext cx="6400800" cy="4480560"/>
        </p:xfrm>
        <a:graphic>
          <a:graphicData uri="http://schemas.openxmlformats.org/drawingml/2006/chart">
            <c:chart xmlns:c="http://schemas.openxmlformats.org/drawingml/2006/chart" r:id="rId2"/>
          </a:graphicData>
        </a:graphic>
      </p:graphicFrame>
      <p:sp>
        <p:nvSpPr>
          <p:cNvPr id="5" name="Rounded Rectangle 4"/>
          <p:cNvSpPr/>
          <p:nvPr/>
        </p:nvSpPr>
        <p:spPr>
          <a:xfrm>
            <a:off x="7178040" y="1371600"/>
            <a:ext cx="4465015"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44 / 218</a:t>
            </a:r>
          </a:p>
          <a:p>
            <a:pPr algn="l">
              <a:lnSpc>
                <a:spcPct val="92000"/>
              </a:lnSpc>
              <a:spcAft>
                <a:spcPts val="0"/>
              </a:spcAft>
            </a:pPr>
            <a:r>
              <a:rPr sz="1150" b="0" i="0">
                <a:solidFill>
                  <a:srgbClr val="5B7179"/>
                </a:solidFill>
                <a:latin typeface="Calibri"/>
              </a:rPr>
              <a:t>rebuilt models leak · 20 genomes</a:t>
            </a:r>
          </a:p>
        </p:txBody>
      </p:sp>
      <p:sp>
        <p:nvSpPr>
          <p:cNvPr id="6" name="Rectangle 5"/>
          <p:cNvSpPr/>
          <p:nvPr/>
        </p:nvSpPr>
        <p:spPr>
          <a:xfrm>
            <a:off x="7178040" y="2880360"/>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ectangle 6"/>
          <p:cNvSpPr/>
          <p:nvPr/>
        </p:nvSpPr>
        <p:spPr>
          <a:xfrm>
            <a:off x="7178040" y="2880360"/>
            <a:ext cx="128016" cy="795528"/>
          </a:xfrm>
          <a:prstGeom prst="rect">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7470648" y="2935224"/>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Template direction</a:t>
            </a:r>
          </a:p>
          <a:p>
            <a:pPr algn="l">
              <a:spcAft>
                <a:spcPts val="0"/>
              </a:spcAft>
            </a:pPr>
            <a:r>
              <a:rPr sz="1250" b="0" i="0">
                <a:solidFill>
                  <a:srgbClr val="5B7179"/>
                </a:solidFill>
                <a:latin typeface="Calibri"/>
              </a:rPr>
              <a:t>catalase only 2 H₂O + O₂ → 2 H₂O₂</a:t>
            </a:r>
          </a:p>
        </p:txBody>
      </p:sp>
      <p:sp>
        <p:nvSpPr>
          <p:cNvPr id="9" name="Rectangle 8"/>
          <p:cNvSpPr/>
          <p:nvPr/>
        </p:nvSpPr>
        <p:spPr>
          <a:xfrm>
            <a:off x="7178040" y="3950208"/>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7178040" y="3950208"/>
            <a:ext cx="128016" cy="7955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TextBox 10"/>
          <p:cNvSpPr txBox="1"/>
          <p:nvPr/>
        </p:nvSpPr>
        <p:spPr>
          <a:xfrm>
            <a:off x="7470648" y="4005072"/>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Negative reverse penalty</a:t>
            </a:r>
          </a:p>
          <a:p>
            <a:pPr algn="l">
              <a:spcAft>
                <a:spcPts val="0"/>
              </a:spcAft>
            </a:pPr>
            <a:r>
              <a:rPr sz="1250" b="0" i="0">
                <a:solidFill>
                  <a:srgbClr val="5B7179"/>
                </a:solidFill>
                <a:latin typeface="Calibri"/>
              </a:rPr>
              <a:t>reverse made cheaper · 29 of 44</a:t>
            </a:r>
          </a:p>
        </p:txBody>
      </p:sp>
      <p:sp>
        <p:nvSpPr>
          <p:cNvPr id="12" name="Rectangle 11"/>
          <p:cNvSpPr/>
          <p:nvPr/>
        </p:nvSpPr>
        <p:spPr>
          <a:xfrm>
            <a:off x="7178040" y="5020056"/>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7178040" y="5020056"/>
            <a:ext cx="128016" cy="795528"/>
          </a:xfrm>
          <a:prstGeom prst="rect">
            <a:avLst/>
          </a:prstGeom>
          <a:solidFill>
            <a:srgbClr val="A7B8B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TextBox 13"/>
          <p:cNvSpPr txBox="1"/>
          <p:nvPr/>
        </p:nvSpPr>
        <p:spPr>
          <a:xfrm>
            <a:off x="7470648" y="5074920"/>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Fork drops reversals</a:t>
            </a:r>
          </a:p>
          <a:p>
            <a:pPr algn="l">
              <a:spcAft>
                <a:spcPts val="0"/>
              </a:spcAft>
            </a:pPr>
            <a:r>
              <a:rPr sz="1250" b="0" i="0">
                <a:solidFill>
                  <a:srgbClr val="5B7179"/>
                </a:solidFill>
                <a:latin typeface="Calibri"/>
              </a:rPr>
              <a:t>growth only, no leak</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the MSGapfill reaction whose removal ends each loop · 218 models, 20 genomes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template fixes close every leak</a:t>
            </a:r>
          </a:p>
          <a:p>
            <a:pPr algn="l">
              <a:spcAft>
                <a:spcPts val="0"/>
              </a:spcAft>
            </a:pPr>
            <a:r>
              <a:rPr sz="1350" b="0" i="0">
                <a:solidFill>
                  <a:srgbClr val="5B7179"/>
                </a:solidFill>
                <a:latin typeface="Calibri"/>
              </a:rPr>
              <a:t>rxn00006, rxn10966, rxn00381, rxn00084, rxn08167: forward only</a:t>
            </a:r>
          </a:p>
        </p:txBody>
      </p:sp>
      <p:graphicFrame>
        <p:nvGraphicFramePr>
          <p:cNvPr id="4" name="Table 3"/>
          <p:cNvGraphicFramePr>
            <a:graphicFrameLocks noGrp="1"/>
          </p:cNvGraphicFramePr>
          <p:nvPr/>
        </p:nvGraphicFramePr>
        <p:xfrm>
          <a:off x="548640" y="1371600"/>
          <a:ext cx="6583680" cy="2560320"/>
        </p:xfrm>
        <a:graphic>
          <a:graphicData uri="http://schemas.openxmlformats.org/drawingml/2006/table">
            <a:tbl>
              <a:tblPr firstRow="1" bandRow="1">
                <a:tableStyleId>{5C22544A-7EE6-4342-B048-85BDC9FD1C3A}</a:tableStyleId>
              </a:tblPr>
              <a:tblGrid>
                <a:gridCol w="1920240"/>
                <a:gridCol w="1371600"/>
                <a:gridCol w="1600200"/>
                <a:gridCol w="1691640"/>
              </a:tblGrid>
              <a:tr h="512064">
                <a:tc>
                  <a:txBody>
                    <a:bodyPr wrap="square"/>
                    <a:lstStyle/>
                    <a:p>
                      <a:pPr algn="l">
                        <a:spcAft>
                          <a:spcPts val="0"/>
                        </a:spcAft>
                      </a:pPr>
                      <a:r>
                        <a:rPr sz="1400" b="1" i="0">
                          <a:solidFill>
                            <a:srgbClr val="FFFFFF"/>
                          </a:solidFill>
                          <a:latin typeface="Calibri"/>
                        </a:rPr>
                        <a:t>218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Shipped</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Reversals only</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Fix + reversals</a:t>
                      </a:r>
                    </a:p>
                  </a:txBody>
                  <a:tcPr marL="91440" marR="91440" marT="27432" marB="27432" anchor="ctr">
                    <a:solidFill>
                      <a:srgbClr val="028090"/>
                    </a:solidFill>
                  </a:tcPr>
                </a:tc>
              </a:tr>
              <a:tr h="512064">
                <a:tc>
                  <a:txBody>
                    <a:bodyPr wrap="square"/>
                    <a:lstStyle/>
                    <a:p>
                      <a:pPr algn="l">
                        <a:spcAft>
                          <a:spcPts val="0"/>
                        </a:spcAft>
                      </a:pPr>
                      <a:r>
                        <a:rPr sz="1500" b="1" i="0">
                          <a:solidFill>
                            <a:srgbClr val="10292E"/>
                          </a:solidFill>
                          <a:latin typeface="Calibri"/>
                        </a:rPr>
                        <a:t>Leaking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New leaks</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r>
              <a:tr h="512064">
                <a:tc>
                  <a:txBody>
                    <a:bodyPr wrap="square"/>
                    <a:lstStyle/>
                    <a:p>
                      <a:pPr algn="l">
                        <a:spcAft>
                          <a:spcPts val="0"/>
                        </a:spcAft>
                      </a:pPr>
                      <a:r>
                        <a:rPr sz="1500" b="1" i="0">
                          <a:solidFill>
                            <a:srgbClr val="10292E"/>
                          </a:solidFill>
                          <a:latin typeface="Calibri"/>
                        </a:rPr>
                        <a:t>Not growing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10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Growth ratio</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reference</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1.000</a:t>
                      </a:r>
                    </a:p>
                  </a:txBody>
                  <a:tcPr marL="91440" marR="91440" marT="27432" marB="27432" anchor="ctr">
                    <a:lnB w="15875" cap="flat" cmpd="sng" algn="ctr">
                      <a:solidFill>
                        <a:srgbClr val="028090"/>
                      </a:solidFill>
                    </a:lnB>
                    <a:solidFill>
                      <a:srgbClr val="FFFFFF"/>
                    </a:solidFill>
                  </a:tcPr>
                </a:tc>
              </a:tr>
            </a:tbl>
          </a:graphicData>
        </a:graphic>
      </p:graphicFrame>
      <p:sp>
        <p:nvSpPr>
          <p:cNvPr id="5" name="Rounded Rectangle 4"/>
          <p:cNvSpPr/>
          <p:nvPr/>
        </p:nvSpPr>
        <p:spPr>
          <a:xfrm>
            <a:off x="7406640" y="1371600"/>
            <a:ext cx="4236415" cy="2560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600"/>
              </a:spcAft>
            </a:pPr>
            <a:r>
              <a:rPr sz="2800" b="1" i="0">
                <a:solidFill>
                  <a:srgbClr val="02C39A"/>
                </a:solidFill>
                <a:latin typeface="Cambria"/>
              </a:rPr>
              <a:t>C12 passes</a:t>
            </a:r>
          </a:p>
          <a:p>
            <a:pPr algn="l">
              <a:spcAft>
                <a:spcPts val="400"/>
              </a:spcAft>
            </a:pPr>
            <a:r>
              <a:rPr sz="1600" b="0" i="0">
                <a:solidFill>
                  <a:srgbClr val="FFFFFF"/>
                </a:solidFill>
                <a:latin typeface="Calibri"/>
              </a:rPr>
              <a:t>EC numbers unchanged</a:t>
            </a:r>
          </a:p>
          <a:p>
            <a:pPr algn="l">
              <a:spcAft>
                <a:spcPts val="0"/>
              </a:spcAft>
            </a:pPr>
            <a:r>
              <a:rPr sz="1600" b="0" i="0">
                <a:solidFill>
                  <a:srgbClr val="FFFFFF"/>
                </a:solidFill>
                <a:latin typeface="Calibri"/>
              </a:rPr>
              <a:t>0 of 8,614 gapfilled rows gated, all 200 genomes</a:t>
            </a:r>
          </a:p>
        </p:txBody>
      </p:sp>
      <p:sp>
        <p:nvSpPr>
          <p:cNvPr id="6" name="Rounded Rectangle 5"/>
          <p:cNvSpPr/>
          <p:nvPr/>
        </p:nvSpPr>
        <p:spPr>
          <a:xfrm>
            <a:off x="548640"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Amend SPEC</a:t>
            </a:r>
          </a:p>
          <a:p>
            <a:pPr algn="ctr">
              <a:lnSpc>
                <a:spcPct val="95000"/>
              </a:lnSpc>
              <a:spcAft>
                <a:spcPts val="0"/>
              </a:spcAft>
            </a:pPr>
            <a:r>
              <a:rPr sz="1400" b="0" i="0">
                <a:solidFill>
                  <a:srgbClr val="5B7179"/>
                </a:solidFill>
                <a:latin typeface="Calibri"/>
              </a:rPr>
              <a:t>post hoc, disclosed</a:t>
            </a:r>
          </a:p>
        </p:txBody>
      </p:sp>
      <p:sp>
        <p:nvSpPr>
          <p:cNvPr id="7" name="Right Arrow 6"/>
          <p:cNvSpPr/>
          <p:nvPr/>
        </p:nvSpPr>
        <p:spPr>
          <a:xfrm>
            <a:off x="3130219"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3683"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ATP pass</a:t>
            </a:r>
          </a:p>
          <a:p>
            <a:pPr algn="ctr">
              <a:lnSpc>
                <a:spcPct val="95000"/>
              </a:lnSpc>
              <a:spcAft>
                <a:spcPts val="0"/>
              </a:spcAft>
            </a:pPr>
            <a:r>
              <a:rPr sz="1400" b="0" i="0">
                <a:solidFill>
                  <a:srgbClr val="5B7179"/>
                </a:solidFill>
                <a:latin typeface="Calibri"/>
              </a:rPr>
              <a:t>1,000 genomes · unchanged</a:t>
            </a:r>
          </a:p>
        </p:txBody>
      </p:sp>
      <p:sp>
        <p:nvSpPr>
          <p:cNvPr id="9" name="Right Arrow 8"/>
          <p:cNvSpPr/>
          <p:nvPr/>
        </p:nvSpPr>
        <p:spPr>
          <a:xfrm>
            <a:off x="5995263"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8727"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Gapfilled pass</a:t>
            </a:r>
          </a:p>
          <a:p>
            <a:pPr algn="ctr">
              <a:lnSpc>
                <a:spcPct val="95000"/>
              </a:lnSpc>
              <a:spcAft>
                <a:spcPts val="0"/>
              </a:spcAft>
            </a:pPr>
            <a:r>
              <a:rPr sz="1400" b="0" i="0">
                <a:solidFill>
                  <a:srgbClr val="5B7179"/>
                </a:solidFill>
                <a:latin typeface="Calibri"/>
              </a:rPr>
              <a:t>200 genomes · 0 gated</a:t>
            </a:r>
          </a:p>
        </p:txBody>
      </p:sp>
      <p:sp>
        <p:nvSpPr>
          <p:cNvPr id="11" name="Right Arrow 10"/>
          <p:cNvSpPr/>
          <p:nvPr/>
        </p:nvSpPr>
        <p:spPr>
          <a:xfrm>
            <a:off x="8860307"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3771"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Rescore</a:t>
            </a:r>
          </a:p>
          <a:p>
            <a:pPr algn="ctr">
              <a:lnSpc>
                <a:spcPct val="95000"/>
              </a:lnSpc>
              <a:spcAft>
                <a:spcPts val="0"/>
              </a:spcAft>
            </a:pPr>
            <a:r>
              <a:rPr sz="1400" b="0" i="0">
                <a:solidFill>
                  <a:srgbClr val="5B7179"/>
                </a:solidFill>
                <a:latin typeface="Calibri"/>
              </a:rPr>
              <a:t>C11, C12 pass · valid</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ModelSEEDTemplates 21a8084, validated first on the 20 affected genomes · rerun 2026-10-29 on ModelSEEDpy c2e31a0 (A-C13)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Only 5 of 41 direction conflicts are template errors</a:t>
            </a:r>
          </a:p>
          <a:p>
            <a:pPr algn="l">
              <a:spcAft>
                <a:spcPts val="0"/>
              </a:spcAft>
            </a:pPr>
            <a:r>
              <a:rPr sz="1350" b="0" i="0">
                <a:solidFill>
                  <a:srgbClr val="5B7179"/>
                </a:solidFill>
                <a:latin typeface="Calibri"/>
              </a:rPr>
              <a:t>41 reactions allowed only in the direction the database forbids</a:t>
            </a:r>
          </a:p>
        </p:txBody>
      </p:sp>
      <p:graphicFrame>
        <p:nvGraphicFramePr>
          <p:cNvPr id="4" name="Chart 3"/>
          <p:cNvGraphicFramePr>
            <a:graphicFrameLocks noGrp="1"/>
          </p:cNvGraphicFramePr>
          <p:nvPr/>
        </p:nvGraphicFramePr>
        <p:xfrm>
          <a:off x="548640" y="1371600"/>
          <a:ext cx="502920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852160" y="1783080"/>
          <a:ext cx="5788152" cy="2560320"/>
        </p:xfrm>
        <a:graphic>
          <a:graphicData uri="http://schemas.openxmlformats.org/drawingml/2006/table">
            <a:tbl>
              <a:tblPr firstRow="1" bandRow="1">
                <a:tableStyleId>{5C22544A-7EE6-4342-B048-85BDC9FD1C3A}</a:tableStyleId>
              </a:tblPr>
              <a:tblGrid>
                <a:gridCol w="2240280"/>
                <a:gridCol w="1600200"/>
                <a:gridCol w="1947672"/>
              </a:tblGrid>
              <a:tr h="640080">
                <a:tc>
                  <a:txBody>
                    <a:bodyPr wrap="square"/>
                    <a:lstStyle/>
                    <a:p>
                      <a:pPr algn="l">
                        <a:spcAft>
                          <a:spcPts val="0"/>
                        </a:spcAft>
                      </a:pPr>
                      <a:r>
                        <a:rPr sz="1400" b="1" i="0">
                          <a:solidFill>
                            <a:srgbClr val="FFFFFF"/>
                          </a:solidFill>
                          <a:latin typeface="Calibri"/>
                        </a:rPr>
                        <a:t>218 gapfilled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Curated PRs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Database-aligned</a:t>
                      </a:r>
                    </a:p>
                  </a:txBody>
                  <a:tcPr marL="91440" marR="91440" marT="27432" marB="27432" anchor="ctr">
                    <a:solidFill>
                      <a:srgbClr val="028090"/>
                    </a:solidFill>
                  </a:tcPr>
                </a:tc>
              </a:tr>
              <a:tr h="640080">
                <a:tc>
                  <a:txBody>
                    <a:bodyPr wrap="square"/>
                    <a:lstStyle/>
                    <a:p>
                      <a:pPr algn="l">
                        <a:spcAft>
                          <a:spcPts val="0"/>
                        </a:spcAft>
                      </a:pPr>
                      <a:r>
                        <a:rPr sz="1500" b="1" i="0">
                          <a:solidFill>
                            <a:srgbClr val="10292E"/>
                          </a:solidFill>
                          <a:latin typeface="Calibri"/>
                        </a:rPr>
                        <a:t>Leaking models</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44 → 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 → 0</a:t>
                      </a:r>
                    </a:p>
                  </a:txBody>
                  <a:tcPr marL="91440" marR="91440" marT="27432" marB="27432" anchor="ctr">
                    <a:solidFill>
                      <a:srgbClr val="EFF5F5"/>
                    </a:solidFill>
                  </a:tcPr>
                </a:tc>
              </a:tr>
              <a:tr h="640080">
                <a:tc>
                  <a:txBody>
                    <a:bodyPr wrap="square"/>
                    <a:lstStyle/>
                    <a:p>
                      <a:pPr algn="l">
                        <a:spcAft>
                          <a:spcPts val="0"/>
                        </a:spcAft>
                      </a:pPr>
                      <a:r>
                        <a:rPr sz="1500" b="1" i="0">
                          <a:solidFill>
                            <a:srgbClr val="10292E"/>
                          </a:solidFill>
                          <a:latin typeface="Calibri"/>
                        </a:rPr>
                        <a:t>Cannot grow</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11 (one archaeon)</a:t>
                      </a:r>
                    </a:p>
                  </a:txBody>
                  <a:tcPr marL="91440" marR="91440" marT="27432" marB="27432" anchor="ctr">
                    <a:solidFill>
                      <a:srgbClr val="FFFFFF"/>
                    </a:solidFill>
                  </a:tcPr>
                </a:tc>
              </a:tr>
              <a:tr h="640080">
                <a:tc>
                  <a:txBody>
                    <a:bodyPr wrap="square"/>
                    <a:lstStyle/>
                    <a:p>
                      <a:pPr algn="l">
                        <a:spcAft>
                          <a:spcPts val="0"/>
                        </a:spcAft>
                      </a:pPr>
                      <a:r>
                        <a:rPr sz="1500" b="1" i="0">
                          <a:solidFill>
                            <a:srgbClr val="10292E"/>
                          </a:solidFill>
                          <a:latin typeface="Calibri"/>
                        </a:rPr>
                        <a:t>Median growth ratio</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1" i="0">
                          <a:solidFill>
                            <a:srgbClr val="028090"/>
                          </a:solidFill>
                          <a:latin typeface="Calibri"/>
                        </a:rPr>
                        <a:t>1.00</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0" i="0">
                          <a:solidFill>
                            <a:srgbClr val="10292E"/>
                          </a:solidFill>
                          <a:latin typeface="Calibri"/>
                        </a:rPr>
                        <a:t>0.81</a:t>
                      </a:r>
                    </a:p>
                  </a:txBody>
                  <a:tcPr marL="91440" marR="91440" marT="27432" marB="27432" anchor="ctr">
                    <a:lnB w="15875" cap="flat" cmpd="sng" algn="ctr">
                      <a:solidFill>
                        <a:srgbClr val="028090"/>
                      </a:solidFill>
                    </a:lnB>
                    <a:solidFill>
                      <a:srgbClr val="EFF5F5"/>
                    </a:solidFill>
                  </a:tcPr>
                </a:tc>
              </a:tr>
            </a:tbl>
          </a:graphicData>
        </a:graphic>
      </p:graphicFrame>
      <p:sp>
        <p:nvSpPr>
          <p:cNvPr id="6" name="TextBox 5"/>
          <p:cNvSpPr txBox="1"/>
          <p:nvPr/>
        </p:nvSpPr>
        <p:spPr>
          <a:xfrm>
            <a:off x="5852160" y="4800600"/>
            <a:ext cx="5790895" cy="73152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Curated PRs submitted · issue #10 filed</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218 gapfilled models of 20 genomes, gapfiller reversals applied · growth relative to the original templates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Depth 100 is now the standard</a:t>
            </a:r>
          </a:p>
          <a:p>
            <a:pPr algn="l">
              <a:spcAft>
                <a:spcPts val="0"/>
              </a:spcAft>
            </a:pPr>
            <a:r>
              <a:rPr sz="1350" b="0" i="0">
                <a:solidFill>
                  <a:srgbClr val="5B7179"/>
                </a:solidFill>
                <a:latin typeface="Calibri"/>
              </a:rPr>
              <a:t>Every record keeps 100 hits, not 20 · chart: self-exclusion, exact-tie union</a:t>
            </a:r>
          </a:p>
        </p:txBody>
      </p:sp>
      <p:graphicFrame>
        <p:nvGraphicFramePr>
          <p:cNvPr id="4" name="Chart 3"/>
          <p:cNvGraphicFramePr>
            <a:graphicFrameLocks noGrp="1"/>
          </p:cNvGraphicFramePr>
          <p:nvPr/>
        </p:nvGraphicFramePr>
        <p:xfrm>
          <a:off x="548640" y="1371600"/>
          <a:ext cx="484632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760720" y="1417320"/>
          <a:ext cx="5879592" cy="3017520"/>
        </p:xfrm>
        <a:graphic>
          <a:graphicData uri="http://schemas.openxmlformats.org/drawingml/2006/table">
            <a:tbl>
              <a:tblPr firstRow="1" bandRow="1">
                <a:tableStyleId>{5C22544A-7EE6-4342-B048-85BDC9FD1C3A}</a:tableStyleId>
              </a:tblPr>
              <a:tblGrid>
                <a:gridCol w="2770632"/>
                <a:gridCol w="1554480"/>
                <a:gridCol w="1554480"/>
              </a:tblGrid>
              <a:tr h="603504">
                <a:tc>
                  <a:txBody>
                    <a:bodyPr wrap="square"/>
                    <a:lstStyle/>
                    <a:p>
                      <a:pPr algn="l">
                        <a:spcAft>
                          <a:spcPts val="0"/>
                        </a:spcAft>
                      </a:pPr>
                      <a:r>
                        <a:rPr sz="1400" b="1" i="0">
                          <a:solidFill>
                            <a:srgbClr val="FFFFFF"/>
                          </a:solidFill>
                          <a:latin typeface="Calibri"/>
                        </a:rPr>
                        <a:t>Self-exclusion metric</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20</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100</a:t>
                      </a:r>
                    </a:p>
                  </a:txBody>
                  <a:tcPr marL="91440" marR="91440" marT="27432" marB="27432" anchor="ctr">
                    <a:solidFill>
                      <a:srgbClr val="028090"/>
                    </a:solidFill>
                  </a:tcPr>
                </a:tc>
              </a:tr>
              <a:tr h="603504">
                <a:tc>
                  <a:txBody>
                    <a:bodyPr wrap="square"/>
                    <a:lstStyle/>
                    <a:p>
                      <a:pPr algn="l">
                        <a:spcAft>
                          <a:spcPts val="0"/>
                        </a:spcAft>
                      </a:pPr>
                      <a:r>
                        <a:rPr sz="1500" b="1" i="0">
                          <a:solidFill>
                            <a:srgbClr val="10292E"/>
                          </a:solidFill>
                          <a:latin typeface="Calibri"/>
                        </a:rPr>
                        <a:t>Population genus</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0.30–0.48</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0.40–0.56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Population gene capture</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48–60%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60–68%</a:t>
                      </a:r>
                    </a:p>
                  </a:txBody>
                  <a:tcPr marL="91440" marR="91440" marT="27432" marB="27432" anchor="ctr">
                    <a:solidFill>
                      <a:srgbClr val="FFFFFF"/>
                    </a:solidFill>
                  </a:tcPr>
                </a:tc>
              </a:tr>
              <a:tr h="603504">
                <a:tc>
                  <a:txBody>
                    <a:bodyPr wrap="square"/>
                    <a:lstStyle/>
                    <a:p>
                      <a:pPr algn="l">
                        <a:spcAft>
                          <a:spcPts val="0"/>
                        </a:spcAft>
                      </a:pPr>
                      <a:r>
                        <a:rPr sz="1500" b="1" i="0">
                          <a:solidFill>
                            <a:srgbClr val="10292E"/>
                          </a:solidFill>
                          <a:latin typeface="Calibri"/>
                        </a:rPr>
                        <a:t>Gap to PICRUSt2 (union)</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−0.129</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−0.016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Region pairs that differ</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28/28</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24/28</a:t>
                      </a:r>
                    </a:p>
                  </a:txBody>
                  <a:tcPr marL="91440" marR="91440" marT="27432" marB="27432" anchor="ctr">
                    <a:lnB w="15875" cap="flat" cmpd="sng" algn="ctr">
                      <a:solidFill>
                        <a:srgbClr val="028090"/>
                      </a:solidFill>
                    </a:lnB>
                    <a:solidFill>
                      <a:srgbClr val="FFFFFF"/>
                    </a:solidFill>
                  </a:tcPr>
                </a:tc>
              </a:tr>
            </a:tbl>
          </a:graphicData>
        </a:graphic>
      </p:graphicFrame>
      <p:sp>
        <p:nvSpPr>
          <p:cNvPr id="6" name="TextBox 5"/>
          <p:cNvSpPr txBox="1"/>
          <p:nvPr/>
        </p:nvSpPr>
        <p:spPr>
          <a:xfrm>
            <a:off x="5760720" y="4800600"/>
            <a:ext cx="588233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Still emptied at depth 100: 5,598 amplicons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67,991 amplicons, τ = 0.987 · table: legacy reducer, the only rule with a depth-20 headline scoring, unless marked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One rule throughout: the exact-tie union</a:t>
            </a:r>
          </a:p>
          <a:p>
            <a:pPr algn="l">
              <a:spcAft>
                <a:spcPts val="0"/>
              </a:spcAft>
            </a:pPr>
            <a:r>
              <a:rPr sz="1350" b="0" i="0">
                <a:solidFill>
                  <a:srgbClr val="02C39A"/>
                </a:solidFill>
                <a:latin typeface="Calibri"/>
              </a:rPr>
              <a:t>Decided 2026-10-27 · the legacy reducer stays a user option</a:t>
            </a:r>
          </a:p>
        </p:txBody>
      </p:sp>
      <p:graphicFrame>
        <p:nvGraphicFramePr>
          <p:cNvPr id="4" name="Table 3"/>
          <p:cNvGraphicFramePr>
            <a:graphicFrameLocks noGrp="1"/>
          </p:cNvGraphicFramePr>
          <p:nvPr/>
        </p:nvGraphicFramePr>
        <p:xfrm>
          <a:off x="548640" y="1417320"/>
          <a:ext cx="11091672" cy="3291840"/>
        </p:xfrm>
        <a:graphic>
          <a:graphicData uri="http://schemas.openxmlformats.org/drawingml/2006/table">
            <a:tbl>
              <a:tblPr firstRow="1" bandRow="1">
                <a:tableStyleId>{5C22544A-7EE6-4342-B048-85BDC9FD1C3A}</a:tableStyleId>
              </a:tblPr>
              <a:tblGrid>
                <a:gridCol w="4572000"/>
                <a:gridCol w="3200400"/>
                <a:gridCol w="3319272"/>
              </a:tblGrid>
              <a:tr h="822960">
                <a:tc>
                  <a:txBody>
                    <a:bodyPr wrap="square"/>
                    <a:lstStyle/>
                    <a:p>
                      <a:pPr algn="l">
                        <a:spcAft>
                          <a:spcPts val="0"/>
                        </a:spcAft>
                      </a:pPr>
                      <a:r>
                        <a:rPr sz="1800" b="1" i="0">
                          <a:solidFill>
                            <a:srgbClr val="FFFFFF"/>
                          </a:solidFill>
                          <a:latin typeface="Calibri"/>
                        </a:rPr>
                        <a:t>Original panel, depth 100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Exact-tie union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Legacy reducer</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r>
              <a:tr h="822960">
                <a:tc>
                  <a:txBody>
                    <a:bodyPr wrap="square"/>
                    <a:lstStyle/>
                    <a:p>
                      <a:pPr algn="l">
                        <a:spcAft>
                          <a:spcPts val="0"/>
                        </a:spcAft>
                      </a:pPr>
                      <a:r>
                        <a:rPr sz="1900" b="1" i="0">
                          <a:solidFill>
                            <a:srgbClr val="FFFFFF"/>
                          </a:solidFill>
                          <a:latin typeface="Calibri"/>
                        </a:rPr>
                        <a:t>Source kept when in the record</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99.1%</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81.3%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r h="822960">
                <a:tc>
                  <a:txBody>
                    <a:bodyPr wrap="square"/>
                    <a:lstStyle/>
                    <a:p>
                      <a:pPr algn="l">
                        <a:spcAft>
                          <a:spcPts val="0"/>
                        </a:spcAft>
                      </a:pPr>
                      <a:r>
                        <a:rPr sz="1900" b="1" i="0">
                          <a:solidFill>
                            <a:srgbClr val="FFFFFF"/>
                          </a:solidFill>
                          <a:latin typeface="Calibri"/>
                        </a:rPr>
                        <a:t>Population gap to PICRUSt2</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−0.016 (significant)</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−0.002 (n.s.)</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r>
              <a:tr h="822960">
                <a:tc>
                  <a:txBody>
                    <a:bodyPr wrap="square"/>
                    <a:lstStyle/>
                    <a:p>
                      <a:pPr algn="l">
                        <a:spcAft>
                          <a:spcPts val="0"/>
                        </a:spcAft>
                      </a:pPr>
                      <a:r>
                        <a:rPr sz="1900" b="1" i="0">
                          <a:solidFill>
                            <a:srgbClr val="FFFFFF"/>
                          </a:solidFill>
                          <a:latin typeface="Calibri"/>
                        </a:rPr>
                        <a:t>Controlled benchmark, folds won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0 of 10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10 of 10 (by 0.001–0.003)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bl>
          </a:graphicData>
        </a:graphic>
      </p:graphicFrame>
      <p:sp>
        <p:nvSpPr>
          <p:cNvPr id="5" name="TextBox 4"/>
          <p:cNvSpPr txBox="1"/>
          <p:nvPr/>
        </p:nvSpPr>
        <p:spPr>
          <a:xfrm>
            <a:off x="548640" y="525780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Broader and less precise, but what users run</a:t>
            </a:r>
            <a:r>
              <a:rPr sz="1800" b="1">
                <a:solidFill>
                  <a:srgbClr val="E8871A"/>
                </a:solidFill>
                <a:latin typeface="Cambria"/>
              </a:rPr>
              <a:t>  ·  legacy stays an option</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Fold choice: leave-one-fold-out population EC F1 on the shared-reference benchmark, 5 folds × genus and family holdout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Share of genomes carrying a full-length 16S (≥ 1,200 bp)</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7772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Fed to PICRUSt2, each contig becomes an organism</a:t>
            </a:r>
          </a:p>
        </p:txBody>
      </p:sp>
      <p:sp>
        <p:nvSpPr>
          <p:cNvPr id="5" name="Rounded Rectangle 4"/>
          <p:cNvSpPr/>
          <p:nvPr/>
        </p:nvSpPr>
        <p:spPr>
          <a:xfrm>
            <a:off x="7726679" y="242316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1,429 vs 93</a:t>
            </a:r>
          </a:p>
          <a:p>
            <a:pPr algn="l">
              <a:lnSpc>
                <a:spcPct val="92000"/>
              </a:lnSpc>
              <a:spcAft>
                <a:spcPts val="0"/>
              </a:spcAft>
            </a:pPr>
            <a:r>
              <a:rPr sz="1150" b="0" i="0">
                <a:solidFill>
                  <a:srgbClr val="5B7179"/>
                </a:solidFill>
                <a:latin typeface="Calibri"/>
              </a:rPr>
              <a:t>EC numbers asserted vs true, one MAG</a:t>
            </a:r>
          </a:p>
        </p:txBody>
      </p:sp>
      <p:sp>
        <p:nvSpPr>
          <p:cNvPr id="6" name="Rounded Rectangle 5"/>
          <p:cNvSpPr/>
          <p:nvPr/>
        </p:nvSpPr>
        <p:spPr>
          <a:xfrm>
            <a:off x="7726679" y="411480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0.064</a:t>
            </a:r>
          </a:p>
          <a:p>
            <a:pPr algn="l">
              <a:lnSpc>
                <a:spcPct val="92000"/>
              </a:lnSpc>
              <a:spcAft>
                <a:spcPts val="0"/>
              </a:spcAft>
            </a:pPr>
            <a:r>
              <a:rPr sz="1150" b="0" i="0">
                <a:solidFill>
                  <a:srgbClr val="5B7179"/>
                </a:solidFill>
                <a:latin typeface="Calibri"/>
              </a:rPr>
              <a:t>precision; its one 16S alone scores 0.512</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r232: 450,594 MAGs, 449,073 isolates  ·  synthetic: 9,997 panel genomes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Fragment first, so every genome degrades alike</a:t>
            </a:r>
          </a:p>
          <a:p>
            <a:pPr algn="l">
              <a:spcAft>
                <a:spcPts val="0"/>
              </a:spcAft>
            </a:pPr>
            <a:r>
              <a:rPr sz="1350" b="0" i="0">
                <a:solidFill>
                  <a:srgbClr val="5B7179"/>
                </a:solidFill>
                <a:latin typeface="Calibri"/>
              </a:rPr>
              <a:t>Bases never mutated: a draft loses sequence, not identity</a:t>
            </a:r>
          </a:p>
        </p:txBody>
      </p:sp>
      <p:sp>
        <p:nvSpPr>
          <p:cNvPr id="3" name="Rounded Rectangle 2"/>
          <p:cNvSpPr/>
          <p:nvPr/>
        </p:nvSpPr>
        <p:spPr>
          <a:xfrm>
            <a:off x="548640"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Fragment</a:t>
            </a:r>
          </a:p>
          <a:p>
            <a:pPr algn="ctr">
              <a:lnSpc>
                <a:spcPct val="95000"/>
              </a:lnSpc>
              <a:spcAft>
                <a:spcPts val="0"/>
              </a:spcAft>
            </a:pPr>
            <a:r>
              <a:rPr sz="1500" b="0" i="0">
                <a:solidFill>
                  <a:srgbClr val="5B7179"/>
                </a:solidFill>
                <a:latin typeface="Calibri"/>
              </a:rPr>
              <a:t>~50 kb, 2.5 kb floor</a:t>
            </a:r>
          </a:p>
        </p:txBody>
      </p:sp>
      <p:sp>
        <p:nvSpPr>
          <p:cNvPr id="4" name="Right Arrow 3"/>
          <p:cNvSpPr/>
          <p:nvPr/>
        </p:nvSpPr>
        <p:spPr>
          <a:xfrm>
            <a:off x="4082186"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Drop</a:t>
            </a:r>
          </a:p>
          <a:p>
            <a:pPr algn="ctr">
              <a:lnSpc>
                <a:spcPct val="95000"/>
              </a:lnSpc>
              <a:spcAft>
                <a:spcPts val="0"/>
              </a:spcAft>
            </a:pPr>
            <a:r>
              <a:rPr sz="1500" b="0" i="0">
                <a:solidFill>
                  <a:srgbClr val="5B7179"/>
                </a:solidFill>
                <a:latin typeface="Calibri"/>
              </a:rPr>
              <a:t>whole pieces, 100% → 1%</a:t>
            </a:r>
          </a:p>
        </p:txBody>
      </p:sp>
      <p:sp>
        <p:nvSpPr>
          <p:cNvPr id="6" name="Right Arrow 5"/>
          <p:cNvSpPr/>
          <p:nvPr/>
        </p:nvSpPr>
        <p:spPr>
          <a:xfrm>
            <a:off x="7908340"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Label</a:t>
            </a:r>
          </a:p>
          <a:p>
            <a:pPr algn="ctr">
              <a:lnSpc>
                <a:spcPct val="95000"/>
              </a:lnSpc>
              <a:spcAft>
                <a:spcPts val="0"/>
              </a:spcAft>
            </a:pPr>
            <a:r>
              <a:rPr sz="1500" b="0" i="0">
                <a:solidFill>
                  <a:srgbClr val="5B7179"/>
                </a:solidFill>
                <a:latin typeface="Calibri"/>
              </a:rPr>
              <a:t>MAG id on every header</a:t>
            </a:r>
          </a:p>
        </p:txBody>
      </p:sp>
      <p:sp>
        <p:nvSpPr>
          <p:cNvPr id="8" name="Rectangle 7"/>
          <p:cNvSpPr/>
          <p:nvPr/>
        </p:nvSpPr>
        <p:spPr>
          <a:xfrm>
            <a:off x="822959" y="3063240"/>
            <a:ext cx="2893466" cy="274320"/>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ectangle 8"/>
          <p:cNvSpPr/>
          <p:nvPr/>
        </p:nvSpPr>
        <p:spPr>
          <a:xfrm>
            <a:off x="822959"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1202106"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Rectangle 10"/>
          <p:cNvSpPr/>
          <p:nvPr/>
        </p:nvSpPr>
        <p:spPr>
          <a:xfrm>
            <a:off x="1386683"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Rectangle 11"/>
          <p:cNvSpPr/>
          <p:nvPr/>
        </p:nvSpPr>
        <p:spPr>
          <a:xfrm>
            <a:off x="1700973"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1950406" y="3566160"/>
            <a:ext cx="389138"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Rectangle 13"/>
          <p:cNvSpPr/>
          <p:nvPr/>
        </p:nvSpPr>
        <p:spPr>
          <a:xfrm>
            <a:off x="2394409"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5" name="Rectangle 14"/>
          <p:cNvSpPr/>
          <p:nvPr/>
        </p:nvSpPr>
        <p:spPr>
          <a:xfrm>
            <a:off x="257898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Rectangle 15"/>
          <p:cNvSpPr/>
          <p:nvPr/>
        </p:nvSpPr>
        <p:spPr>
          <a:xfrm>
            <a:off x="2828420"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Rectangle 16"/>
          <p:cNvSpPr/>
          <p:nvPr/>
        </p:nvSpPr>
        <p:spPr>
          <a:xfrm>
            <a:off x="3207566"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8" name="Rectangle 17"/>
          <p:cNvSpPr/>
          <p:nvPr/>
        </p:nvSpPr>
        <p:spPr>
          <a:xfrm>
            <a:off x="352185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9" name="Rectangle 18"/>
          <p:cNvSpPr/>
          <p:nvPr/>
        </p:nvSpPr>
        <p:spPr>
          <a:xfrm>
            <a:off x="464911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0" name="Rectangle 19"/>
          <p:cNvSpPr/>
          <p:nvPr/>
        </p:nvSpPr>
        <p:spPr>
          <a:xfrm>
            <a:off x="5028260" y="3314700"/>
            <a:ext cx="129712"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Rectangle 20"/>
          <p:cNvSpPr/>
          <p:nvPr/>
        </p:nvSpPr>
        <p:spPr>
          <a:xfrm>
            <a:off x="5212837"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Rectangle 21"/>
          <p:cNvSpPr/>
          <p:nvPr/>
        </p:nvSpPr>
        <p:spPr>
          <a:xfrm>
            <a:off x="5527127"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Rectangle 22"/>
          <p:cNvSpPr/>
          <p:nvPr/>
        </p:nvSpPr>
        <p:spPr>
          <a:xfrm>
            <a:off x="5776561" y="3314700"/>
            <a:ext cx="389138"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Rectangle 23"/>
          <p:cNvSpPr/>
          <p:nvPr/>
        </p:nvSpPr>
        <p:spPr>
          <a:xfrm>
            <a:off x="6220564"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Rectangle 24"/>
          <p:cNvSpPr/>
          <p:nvPr/>
        </p:nvSpPr>
        <p:spPr>
          <a:xfrm>
            <a:off x="640514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Rectangle 25"/>
          <p:cNvSpPr/>
          <p:nvPr/>
        </p:nvSpPr>
        <p:spPr>
          <a:xfrm>
            <a:off x="665457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ectangle 26"/>
          <p:cNvSpPr/>
          <p:nvPr/>
        </p:nvSpPr>
        <p:spPr>
          <a:xfrm>
            <a:off x="7033721"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8" name="Rectangle 27"/>
          <p:cNvSpPr/>
          <p:nvPr/>
        </p:nvSpPr>
        <p:spPr>
          <a:xfrm>
            <a:off x="734801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9" name="Rectangle 28"/>
          <p:cNvSpPr/>
          <p:nvPr/>
        </p:nvSpPr>
        <p:spPr>
          <a:xfrm>
            <a:off x="8475268"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0" name="Rectangle 29"/>
          <p:cNvSpPr/>
          <p:nvPr/>
        </p:nvSpPr>
        <p:spPr>
          <a:xfrm>
            <a:off x="847526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1" name="Rectangle 30"/>
          <p:cNvSpPr/>
          <p:nvPr/>
        </p:nvSpPr>
        <p:spPr>
          <a:xfrm>
            <a:off x="9038992"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2" name="Rectangle 31"/>
          <p:cNvSpPr/>
          <p:nvPr/>
        </p:nvSpPr>
        <p:spPr>
          <a:xfrm>
            <a:off x="903899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3" name="Rectangle 32"/>
          <p:cNvSpPr/>
          <p:nvPr/>
        </p:nvSpPr>
        <p:spPr>
          <a:xfrm>
            <a:off x="9353282"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4" name="Rectangle 33"/>
          <p:cNvSpPr/>
          <p:nvPr/>
        </p:nvSpPr>
        <p:spPr>
          <a:xfrm>
            <a:off x="935328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5" name="Rectangle 34"/>
          <p:cNvSpPr/>
          <p:nvPr/>
        </p:nvSpPr>
        <p:spPr>
          <a:xfrm>
            <a:off x="10046718"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6" name="Rectangle 35"/>
          <p:cNvSpPr/>
          <p:nvPr/>
        </p:nvSpPr>
        <p:spPr>
          <a:xfrm>
            <a:off x="1004671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7" name="Rectangle 36"/>
          <p:cNvSpPr/>
          <p:nvPr/>
        </p:nvSpPr>
        <p:spPr>
          <a:xfrm>
            <a:off x="10480729"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8" name="Rectangle 37"/>
          <p:cNvSpPr/>
          <p:nvPr/>
        </p:nvSpPr>
        <p:spPr>
          <a:xfrm>
            <a:off x="10480729"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9" name="Rectangle 38"/>
          <p:cNvSpPr/>
          <p:nvPr/>
        </p:nvSpPr>
        <p:spPr>
          <a:xfrm>
            <a:off x="10859875"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0" name="Rectangle 39"/>
          <p:cNvSpPr/>
          <p:nvPr/>
        </p:nvSpPr>
        <p:spPr>
          <a:xfrm>
            <a:off x="10859875"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1" name="Rounded Rectangle 40"/>
          <p:cNvSpPr/>
          <p:nvPr/>
        </p:nvSpPr>
        <p:spPr>
          <a:xfrm>
            <a:off x="548640"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19.8%</a:t>
            </a:r>
          </a:p>
          <a:p>
            <a:pPr algn="l">
              <a:lnSpc>
                <a:spcPct val="92000"/>
              </a:lnSpc>
              <a:spcAft>
                <a:spcPts val="0"/>
              </a:spcAft>
            </a:pPr>
            <a:r>
              <a:rPr sz="1150" b="0" i="0">
                <a:solidFill>
                  <a:srgbClr val="5B7179"/>
                </a:solidFill>
                <a:latin typeface="Calibri"/>
              </a:rPr>
              <a:t>panel genomes: one closed contig</a:t>
            </a:r>
          </a:p>
        </p:txBody>
      </p:sp>
      <p:sp>
        <p:nvSpPr>
          <p:cNvPr id="42" name="Rounded Rectangle 41"/>
          <p:cNvSpPr/>
          <p:nvPr/>
        </p:nvSpPr>
        <p:spPr>
          <a:xfrm>
            <a:off x="4374794"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139,958</a:t>
            </a:r>
          </a:p>
          <a:p>
            <a:pPr algn="l">
              <a:lnSpc>
                <a:spcPct val="92000"/>
              </a:lnSpc>
              <a:spcAft>
                <a:spcPts val="0"/>
              </a:spcAft>
            </a:pPr>
            <a:r>
              <a:rPr sz="1150" b="0" i="0">
                <a:solidFill>
                  <a:srgbClr val="5B7179"/>
                </a:solidFill>
                <a:latin typeface="Calibri"/>
              </a:rPr>
              <a:t>drafts, 14 completeness levels</a:t>
            </a:r>
          </a:p>
        </p:txBody>
      </p:sp>
      <p:sp>
        <p:nvSpPr>
          <p:cNvPr id="43" name="Rounded Rectangle 42"/>
          <p:cNvSpPr/>
          <p:nvPr/>
        </p:nvSpPr>
        <p:spPr>
          <a:xfrm>
            <a:off x="8200948"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8</a:t>
            </a:r>
            <a:r>
              <a:rPr sz="3200" b="1">
                <a:solidFill>
                  <a:srgbClr val="C96E0A"/>
                </a:solidFill>
                <a:latin typeface="Calibri"/>
              </a:rPr>
              <a:t>  →  </a:t>
            </a:r>
            <a:r>
              <a:rPr sz="3200" b="1">
                <a:solidFill>
                  <a:srgbClr val="C96E0A"/>
                </a:solidFill>
                <a:latin typeface="Cambria"/>
              </a:rPr>
              <a:t>5</a:t>
            </a:r>
          </a:p>
          <a:p>
            <a:pPr algn="l">
              <a:lnSpc>
                <a:spcPct val="92000"/>
              </a:lnSpc>
              <a:spcAft>
                <a:spcPts val="0"/>
              </a:spcAft>
            </a:pPr>
            <a:r>
              <a:rPr sz="1150" b="0" i="0">
                <a:solidFill>
                  <a:srgbClr val="5B7179"/>
                </a:solidFill>
                <a:latin typeface="Calibri"/>
              </a:rPr>
              <a:t>same-header queries → skani results</a:t>
            </a:r>
          </a:p>
        </p:txBody>
      </p:sp>
      <p:sp>
        <p:nvSpPr>
          <p:cNvPr id="44" name="TextBox 4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Random generator seeded by a CRC32 of the genome id · mag_validation/synth_mags.py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Completeness is a null axis for the MAG arm</a:t>
            </a:r>
          </a:p>
          <a:p>
            <a:pPr algn="l">
              <a:spcAft>
                <a:spcPts val="0"/>
              </a:spcAft>
            </a:pPr>
            <a:r>
              <a:rPr sz="1350" b="0" i="0">
                <a:solidFill>
                  <a:srgbClr val="5B7179"/>
                </a:solidFill>
                <a:latin typeface="Calibri"/>
              </a:rPr>
              <a:t>Synthetic MAGs matched by whole-genome ANI, 100% → 30% complete</a:t>
            </a:r>
          </a:p>
        </p:txBody>
      </p:sp>
      <p:graphicFrame>
        <p:nvGraphicFramePr>
          <p:cNvPr id="3" name="Chart 2"/>
          <p:cNvGraphicFramePr>
            <a:graphicFrameLocks noGrp="1"/>
          </p:cNvGraphicFramePr>
          <p:nvPr/>
        </p:nvGraphicFramePr>
        <p:xfrm>
          <a:off x="548640" y="1417320"/>
          <a:ext cx="6858000" cy="406908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0.807</a:t>
            </a:r>
            <a:r>
              <a:rPr sz="2800" b="1">
                <a:solidFill>
                  <a:srgbClr val="028090"/>
                </a:solidFill>
                <a:latin typeface="Calibri"/>
              </a:rPr>
              <a:t>  →  </a:t>
            </a:r>
            <a:r>
              <a:rPr sz="2800" b="1">
                <a:solidFill>
                  <a:srgbClr val="028090"/>
                </a:solidFill>
                <a:latin typeface="Cambria"/>
              </a:rPr>
              <a:t>0.805</a:t>
            </a:r>
          </a:p>
          <a:p>
            <a:pPr algn="l">
              <a:lnSpc>
                <a:spcPct val="92000"/>
              </a:lnSpc>
              <a:spcAft>
                <a:spcPts val="0"/>
              </a:spcAft>
            </a:pPr>
            <a:r>
              <a:rPr sz="1150" b="0" i="0">
                <a:solidFill>
                  <a:srgbClr val="5B7179"/>
                </a:solidFill>
                <a:latin typeface="Calibri"/>
              </a:rPr>
              <a:t>gene-capture F1, 100% → 30%</a:t>
            </a:r>
          </a:p>
        </p:txBody>
      </p:sp>
      <p:sp>
        <p:nvSpPr>
          <p:cNvPr id="5" name="Rounded Rectangle 4"/>
          <p:cNvSpPr/>
          <p:nvPr/>
        </p:nvSpPr>
        <p:spPr>
          <a:xfrm>
            <a:off x="7726679" y="27889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0.308</a:t>
            </a:r>
            <a:r>
              <a:rPr sz="2800" b="1">
                <a:solidFill>
                  <a:srgbClr val="028090"/>
                </a:solidFill>
                <a:latin typeface="Calibri"/>
              </a:rPr>
              <a:t>  →  </a:t>
            </a:r>
            <a:r>
              <a:rPr sz="2800" b="1">
                <a:solidFill>
                  <a:srgbClr val="028090"/>
                </a:solidFill>
                <a:latin typeface="Cambria"/>
              </a:rPr>
              <a:t>0.307</a:t>
            </a:r>
          </a:p>
          <a:p>
            <a:pPr algn="l">
              <a:lnSpc>
                <a:spcPct val="92000"/>
              </a:lnSpc>
              <a:spcAft>
                <a:spcPts val="0"/>
              </a:spcAft>
            </a:pPr>
            <a:r>
              <a:rPr sz="1150" b="0" i="0">
                <a:solidFill>
                  <a:srgbClr val="5B7179"/>
                </a:solidFill>
                <a:latin typeface="Calibri"/>
              </a:rPr>
              <a:t>resolve rate, 100% → 30%</a:t>
            </a:r>
          </a:p>
        </p:txBody>
      </p:sp>
      <p:sp>
        <p:nvSpPr>
          <p:cNvPr id="6" name="Rounded Rectangle 5"/>
          <p:cNvSpPr/>
          <p:nvPr/>
        </p:nvSpPr>
        <p:spPr>
          <a:xfrm>
            <a:off x="7726679" y="41605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0.910</a:t>
            </a:r>
            <a:r>
              <a:rPr sz="2800" b="1">
                <a:solidFill>
                  <a:srgbClr val="028090"/>
                </a:solidFill>
                <a:latin typeface="Calibri"/>
              </a:rPr>
              <a:t>  →  </a:t>
            </a:r>
            <a:r>
              <a:rPr sz="2800" b="1">
                <a:solidFill>
                  <a:srgbClr val="028090"/>
                </a:solidFill>
                <a:latin typeface="Cambria"/>
              </a:rPr>
              <a:t>0.912</a:t>
            </a:r>
          </a:p>
          <a:p>
            <a:pPr algn="l">
              <a:lnSpc>
                <a:spcPct val="92000"/>
              </a:lnSpc>
              <a:spcAft>
                <a:spcPts val="0"/>
              </a:spcAft>
            </a:pPr>
            <a:r>
              <a:rPr sz="1150" b="0" i="0">
                <a:solidFill>
                  <a:srgbClr val="5B7179"/>
                </a:solidFill>
                <a:latin typeface="Calibri"/>
              </a:rPr>
              <a:t>genus accuracy, 100% → 30%</a:t>
            </a:r>
          </a:p>
        </p:txBody>
      </p:sp>
      <p:sp>
        <p:nvSpPr>
          <p:cNvPr id="7" name="TextBox 6"/>
          <p:cNvSpPr txBox="1"/>
          <p:nvPr/>
        </p:nvSpPr>
        <p:spPr>
          <a:xfrm>
            <a:off x="548640" y="576072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Selection gates on the MAG's aligned fraction, which never moves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2,000-organism GTDB subsample, self-inclusion  ·  cards: panel, self-exclusion at ANI 95, 0% contamination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+0.103 to +0.212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0.605</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exact-tie union  ·  conditional on both arms answering, n = 1,603–2,311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A looser gate buys worse answers</a:t>
            </a:r>
          </a:p>
        </p:txBody>
      </p:sp>
      <p:sp>
        <p:nvSpPr>
          <p:cNvPr id="5" name="Rounded Rectangle 4"/>
          <p:cNvSpPr/>
          <p:nvPr/>
        </p:nvSpPr>
        <p:spPr>
          <a:xfrm>
            <a:off x="7726679" y="210312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0.599 vs 0.807</a:t>
            </a:r>
          </a:p>
          <a:p>
            <a:pPr algn="l">
              <a:lnSpc>
                <a:spcPct val="92000"/>
              </a:lnSpc>
              <a:spcAft>
                <a:spcPts val="0"/>
              </a:spcAft>
            </a:pPr>
            <a:r>
              <a:rPr sz="1150" b="0" i="0">
                <a:solidFill>
                  <a:srgbClr val="5B7179"/>
                </a:solidFill>
                <a:latin typeface="Calibri"/>
              </a:rPr>
              <a:t>gene-capture F1, newly admitted vs kept</a:t>
            </a:r>
          </a:p>
        </p:txBody>
      </p:sp>
      <p:sp>
        <p:nvSpPr>
          <p:cNvPr id="6" name="Rounded Rectangle 5"/>
          <p:cNvSpPr/>
          <p:nvPr/>
        </p:nvSpPr>
        <p:spPr>
          <a:xfrm>
            <a:off x="7726679" y="384048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26.7%</a:t>
            </a:r>
          </a:p>
          <a:p>
            <a:pPr algn="l">
              <a:lnSpc>
                <a:spcPct val="92000"/>
              </a:lnSpc>
              <a:spcAft>
                <a:spcPts val="0"/>
              </a:spcAft>
            </a:pPr>
            <a:r>
              <a:rPr sz="1150" b="0" i="0">
                <a:solidFill>
                  <a:srgbClr val="5B7179"/>
                </a:solidFill>
                <a:latin typeface="Calibri"/>
              </a:rPr>
              <a:t>of newly admitted beat full-length 16S (0.710)</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Self-exclusion at ANI 95, 100% complete  ·  16S level: depth-100 records, exact-tie union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GTDB-to-BV-BRC map would let GTDB predict function</a:t>
            </a:r>
          </a:p>
          <a:p>
            <a:pPr algn="l">
              <a:spcAft>
                <a:spcPts val="0"/>
              </a:spcAft>
            </a:pPr>
            <a:r>
              <a:rPr sz="1350" b="0" i="0">
                <a:solidFill>
                  <a:srgbClr val="5B7179"/>
                </a:solidFill>
                <a:latin typeface="Calibri"/>
              </a:rPr>
              <a:t>GTDB hits: GCA/GCF only; genes need BV-BRC IDs</a:t>
            </a:r>
          </a:p>
        </p:txBody>
      </p:sp>
      <p:sp>
        <p:nvSpPr>
          <p:cNvPr id="4" name="Rounded Rectangle 3"/>
          <p:cNvSpPr/>
          <p:nvPr/>
        </p:nvSpPr>
        <p:spPr>
          <a:xfrm>
            <a:off x="548640"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GTDB hit</a:t>
            </a:r>
          </a:p>
          <a:p>
            <a:pPr algn="ctr">
              <a:lnSpc>
                <a:spcPct val="95000"/>
              </a:lnSpc>
              <a:spcAft>
                <a:spcPts val="0"/>
              </a:spcAft>
            </a:pPr>
            <a:r>
              <a:rPr sz="1500" b="0" i="0">
                <a:solidFill>
                  <a:srgbClr val="5B7179"/>
                </a:solidFill>
                <a:latin typeface="Calibri"/>
              </a:rPr>
              <a:t>GCA/GCF: classify only</a:t>
            </a:r>
          </a:p>
        </p:txBody>
      </p:sp>
      <p:sp>
        <p:nvSpPr>
          <p:cNvPr id="5" name="Right Arrow 4"/>
          <p:cNvSpPr/>
          <p:nvPr/>
        </p:nvSpPr>
        <p:spPr>
          <a:xfrm>
            <a:off x="3125647"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8255"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BV-BRC ID</a:t>
            </a:r>
          </a:p>
          <a:p>
            <a:pPr algn="ctr">
              <a:lnSpc>
                <a:spcPct val="95000"/>
              </a:lnSpc>
              <a:spcAft>
                <a:spcPts val="0"/>
              </a:spcAft>
            </a:pPr>
            <a:r>
              <a:rPr sz="1500" b="0" i="0">
                <a:solidFill>
                  <a:srgbClr val="5B7179"/>
                </a:solidFill>
                <a:latin typeface="Calibri"/>
              </a:rPr>
              <a:t>new map: 99.9%</a:t>
            </a:r>
          </a:p>
        </p:txBody>
      </p:sp>
      <p:sp>
        <p:nvSpPr>
          <p:cNvPr id="7" name="Right Arrow 6"/>
          <p:cNvSpPr/>
          <p:nvPr/>
        </p:nvSpPr>
        <p:spPr>
          <a:xfrm>
            <a:off x="5995263"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87871"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PGFams</a:t>
            </a:r>
          </a:p>
          <a:p>
            <a:pPr algn="ctr">
              <a:lnSpc>
                <a:spcPct val="95000"/>
              </a:lnSpc>
              <a:spcAft>
                <a:spcPts val="0"/>
              </a:spcAft>
            </a:pPr>
            <a:r>
              <a:rPr sz="1500" b="0" i="0">
                <a:solidFill>
                  <a:srgbClr val="5B7179"/>
                </a:solidFill>
                <a:latin typeface="Calibri"/>
              </a:rPr>
              <a:t>36,607 cached; fetch rest</a:t>
            </a:r>
          </a:p>
        </p:txBody>
      </p:sp>
      <p:sp>
        <p:nvSpPr>
          <p:cNvPr id="9" name="Right Arrow 8"/>
          <p:cNvSpPr/>
          <p:nvPr/>
        </p:nvSpPr>
        <p:spPr>
          <a:xfrm>
            <a:off x="8864879"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57487"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Model</a:t>
            </a:r>
          </a:p>
          <a:p>
            <a:pPr algn="ctr">
              <a:lnSpc>
                <a:spcPct val="95000"/>
              </a:lnSpc>
              <a:spcAft>
                <a:spcPts val="0"/>
              </a:spcAft>
            </a:pPr>
            <a:r>
              <a:rPr sz="1500" b="0" i="0">
                <a:solidFill>
                  <a:srgbClr val="5B7179"/>
                </a:solidFill>
                <a:latin typeface="Calibri"/>
              </a:rPr>
              <a:t>gene union → FBA</a:t>
            </a:r>
          </a:p>
        </p:txBody>
      </p:sp>
      <p:graphicFrame>
        <p:nvGraphicFramePr>
          <p:cNvPr id="11" name="Table 10"/>
          <p:cNvGraphicFramePr>
            <a:graphicFrameLocks noGrp="1"/>
          </p:cNvGraphicFramePr>
          <p:nvPr/>
        </p:nvGraphicFramePr>
        <p:xfrm>
          <a:off x="548640" y="3200400"/>
          <a:ext cx="5355183" cy="2286000"/>
        </p:xfrm>
        <a:graphic>
          <a:graphicData uri="http://schemas.openxmlformats.org/drawingml/2006/table">
            <a:tbl>
              <a:tblPr firstRow="1" bandRow="1">
                <a:tableStyleId>{5C22544A-7EE6-4342-B048-85BDC9FD1C3A}</a:tableStyleId>
              </a:tblPr>
              <a:tblGrid>
                <a:gridCol w="2286000"/>
                <a:gridCol w="1737360"/>
                <a:gridCol w="1331823"/>
              </a:tblGrid>
              <a:tr h="457200">
                <a:tc>
                  <a:txBody>
                    <a:bodyPr wrap="square"/>
                    <a:lstStyle/>
                    <a:p>
                      <a:pPr algn="l">
                        <a:spcAft>
                          <a:spcPts val="0"/>
                        </a:spcAft>
                      </a:pPr>
                      <a:r>
                        <a:rPr sz="1300" b="1" i="0">
                          <a:solidFill>
                            <a:srgbClr val="FFFFFF"/>
                          </a:solidFill>
                          <a:latin typeface="Calibri"/>
                        </a:rPr>
                        <a:t>Linked by</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Representatives</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Share</a:t>
                      </a:r>
                    </a:p>
                  </a:txBody>
                  <a:tcPr marL="91440" marR="91440" marT="27432" marB="27432" anchor="ctr">
                    <a:solidFill>
                      <a:srgbClr val="028090"/>
                    </a:solidFill>
                  </a:tcPr>
                </a:tc>
              </a:tr>
              <a:tr h="457200">
                <a:tc>
                  <a:txBody>
                    <a:bodyPr wrap="square"/>
                    <a:lstStyle/>
                    <a:p>
                      <a:pPr algn="l">
                        <a:spcAft>
                          <a:spcPts val="0"/>
                        </a:spcAft>
                      </a:pPr>
                      <a:r>
                        <a:rPr sz="1400" b="1" i="0">
                          <a:solidFill>
                            <a:srgbClr val="10292E"/>
                          </a:solidFill>
                          <a:latin typeface="Calibri"/>
                        </a:rPr>
                        <a:t>Exact accession</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109,492</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76.2%</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GCF ↔ GCA swap</a:t>
                      </a:r>
                    </a:p>
                  </a:txBody>
                  <a:tcPr marL="91440" marR="91440" marT="27432" marB="27432" anchor="ctr">
                    <a:solidFill>
                      <a:srgbClr val="FFFFFF"/>
                    </a:solidFill>
                  </a:tcPr>
                </a:tc>
                <a:tc>
                  <a:txBody>
                    <a:bodyPr wrap="square"/>
                    <a:lstStyle/>
                    <a:p>
                      <a:pPr algn="ctr">
                        <a:spcAft>
                          <a:spcPts val="0"/>
                        </a:spcAft>
                      </a:pPr>
                      <a:r>
                        <a:rPr sz="1400" b="1" i="0">
                          <a:solidFill>
                            <a:srgbClr val="028090"/>
                          </a:solidFill>
                          <a:latin typeface="Calibri"/>
                        </a:rPr>
                        <a:t>31,906</a:t>
                      </a:r>
                    </a:p>
                  </a:txBody>
                  <a:tcPr marL="91440" marR="91440" marT="27432" marB="27432" anchor="ctr">
                    <a:solidFill>
                      <a:srgbClr val="FFFFFF"/>
                    </a:solidFill>
                  </a:tcPr>
                </a:tc>
                <a:tc>
                  <a:txBody>
                    <a:bodyPr wrap="square"/>
                    <a:lstStyle/>
                    <a:p>
                      <a:pPr algn="ctr">
                        <a:spcAft>
                          <a:spcPts val="0"/>
                        </a:spcAft>
                      </a:pPr>
                      <a:r>
                        <a:rPr sz="1400" b="0" i="0">
                          <a:solidFill>
                            <a:srgbClr val="10292E"/>
                          </a:solidFill>
                          <a:latin typeface="Calibri"/>
                        </a:rPr>
                        <a:t>22.2%</a:t>
                      </a:r>
                    </a:p>
                  </a:txBody>
                  <a:tcPr marL="91440" marR="91440" marT="27432" marB="27432" anchor="ctr">
                    <a:solidFill>
                      <a:srgbClr val="FFFFFF"/>
                    </a:solidFill>
                  </a:tcPr>
                </a:tc>
              </a:tr>
              <a:tr h="457200">
                <a:tc>
                  <a:txBody>
                    <a:bodyPr wrap="square"/>
                    <a:lstStyle/>
                    <a:p>
                      <a:pPr algn="l">
                        <a:spcAft>
                          <a:spcPts val="0"/>
                        </a:spcAft>
                      </a:pPr>
                      <a:r>
                        <a:rPr sz="1400" b="1" i="0">
                          <a:solidFill>
                            <a:srgbClr val="10292E"/>
                          </a:solidFill>
                          <a:latin typeface="Calibri"/>
                        </a:rPr>
                        <a:t>BioSample, other</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2,111</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1.5%</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Unmapped</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1" i="0">
                          <a:solidFill>
                            <a:srgbClr val="028090"/>
                          </a:solidFill>
                          <a:latin typeface="Calibri"/>
                        </a:rPr>
                        <a:t>105</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0" i="0">
                          <a:solidFill>
                            <a:srgbClr val="10292E"/>
                          </a:solidFill>
                          <a:latin typeface="Calibri"/>
                        </a:rPr>
                        <a:t>0.1%</a:t>
                      </a:r>
                    </a:p>
                  </a:txBody>
                  <a:tcPr marL="91440" marR="91440" marT="27432" marB="27432" anchor="ctr">
                    <a:lnB w="15875" cap="flat" cmpd="sng" algn="ctr">
                      <a:solidFill>
                        <a:srgbClr val="028090"/>
                      </a:solidFill>
                    </a:lnB>
                    <a:solidFill>
                      <a:srgbClr val="FFFFFF"/>
                    </a:solidFill>
                  </a:tcPr>
                </a:tc>
              </a:tr>
            </a:tbl>
          </a:graphicData>
        </a:graphic>
      </p:graphicFrame>
      <p:sp>
        <p:nvSpPr>
          <p:cNvPr id="12" name="Rounded Rectangle 11"/>
          <p:cNvSpPr/>
          <p:nvPr/>
        </p:nvSpPr>
        <p:spPr>
          <a:xfrm>
            <a:off x="6287871" y="3200400"/>
            <a:ext cx="53551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198 / 198</a:t>
            </a:r>
          </a:p>
          <a:p>
            <a:pPr algn="l">
              <a:lnSpc>
                <a:spcPct val="92000"/>
              </a:lnSpc>
              <a:spcAft>
                <a:spcPts val="0"/>
              </a:spcAft>
            </a:pPr>
            <a:r>
              <a:rPr sz="1150" b="0" i="0">
                <a:solidFill>
                  <a:srgbClr val="5B7179"/>
                </a:solidFill>
                <a:latin typeface="Calibri"/>
              </a:rPr>
              <a:t>real-MAG GTDB picks already mapped</a:t>
            </a:r>
          </a:p>
        </p:txBody>
      </p:sp>
      <p:sp>
        <p:nvSpPr>
          <p:cNvPr id="13" name="TextBox 12"/>
          <p:cNvSpPr txBox="1"/>
          <p:nvPr/>
        </p:nvSpPr>
        <p:spPr>
          <a:xfrm>
            <a:off x="6287871" y="4681728"/>
            <a:ext cx="5355183" cy="731520"/>
          </a:xfrm>
          <a:prstGeom prst="rect">
            <a:avLst/>
          </a:prstGeom>
          <a:noFill/>
        </p:spPr>
        <p:txBody>
          <a:bodyPr wrap="square" lIns="0" rIns="0" tIns="0" bIns="0" anchor="t">
            <a:spAutoFit/>
          </a:bodyPr>
          <a:lstStyle/>
          <a:p>
            <a:pPr algn="l">
              <a:spcAft>
                <a:spcPts val="0"/>
              </a:spcAft>
            </a:pPr>
            <a:r>
              <a:rPr sz="1800" b="1" i="0">
                <a:solidFill>
                  <a:srgbClr val="C96E0A"/>
                </a:solidFill>
                <a:latin typeface="Cambria"/>
              </a:rPr>
              <a:t>Deferred to future work: it changes GTDB picks</a:t>
            </a:r>
          </a:p>
        </p:txBody>
      </p:sp>
      <p:sp>
        <p:nvSpPr>
          <p:cNvPr id="14" name="TextBox 1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r226: 143,614 species representatives  ·  map built 2026-10-20 (reference_maps/gtdb_r226_acc_to_bvbrc.tsv.gz)</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Three panels, from flattened to the database's mix</a:t>
            </a:r>
          </a:p>
          <a:p>
            <a:pPr algn="l">
              <a:spcAft>
                <a:spcPts val="0"/>
              </a:spcAft>
            </a:pPr>
            <a:r>
              <a:rPr sz="1350" b="0" i="0">
                <a:solidFill>
                  <a:srgbClr val="5B7179"/>
                </a:solidFill>
                <a:latin typeface="Calibri"/>
              </a:rPr>
              <a:t>Same size and pipeline; sampled on three different principles</a:t>
            </a:r>
          </a:p>
        </p:txBody>
      </p:sp>
      <p:graphicFrame>
        <p:nvGraphicFramePr>
          <p:cNvPr id="3" name="Table 2"/>
          <p:cNvGraphicFramePr>
            <a:graphicFrameLocks noGrp="1"/>
          </p:cNvGraphicFramePr>
          <p:nvPr/>
        </p:nvGraphicFramePr>
        <p:xfrm>
          <a:off x="548640" y="1508760"/>
          <a:ext cx="7589518" cy="3657600"/>
        </p:xfrm>
        <a:graphic>
          <a:graphicData uri="http://schemas.openxmlformats.org/drawingml/2006/table">
            <a:tbl>
              <a:tblPr firstRow="1" bandRow="1">
                <a:tableStyleId>{5C22544A-7EE6-4342-B048-85BDC9FD1C3A}</a:tableStyleId>
              </a:tblPr>
              <a:tblGrid>
                <a:gridCol w="1691640"/>
                <a:gridCol w="2148840"/>
                <a:gridCol w="1874519"/>
                <a:gridCol w="1874519"/>
              </a:tblGrid>
              <a:tr h="731520">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Taxonomy-stratified</a:t>
                      </a:r>
                    </a:p>
                  </a:txBody>
                  <a:tcPr marL="91440" marR="91440" marT="27432" marB="27432" anchor="ctr">
                    <a:solidFill>
                      <a:srgbClr val="B07600"/>
                    </a:solidFill>
                  </a:tcPr>
                </a:tc>
                <a:tc>
                  <a:txBody>
                    <a:bodyPr wrap="square"/>
                    <a:lstStyle/>
                    <a:p>
                      <a:pPr algn="ctr">
                        <a:spcAft>
                          <a:spcPts val="0"/>
                        </a:spcAft>
                      </a:pPr>
                      <a:r>
                        <a:rPr sz="1600" b="1" i="0">
                          <a:solidFill>
                            <a:srgbClr val="FFFFFF"/>
                          </a:solidFill>
                          <a:latin typeface="Calibri"/>
                        </a:rPr>
                        <a:t>k-means (16S)</a:t>
                      </a:r>
                    </a:p>
                  </a:txBody>
                  <a:tcPr marL="91440" marR="91440" marT="27432" marB="27432" anchor="ctr">
                    <a:solidFill>
                      <a:srgbClr val="0072B2"/>
                    </a:solidFill>
                  </a:tcPr>
                </a:tc>
                <a:tc>
                  <a:txBody>
                    <a:bodyPr wrap="square"/>
                    <a:lstStyle/>
                    <a:p>
                      <a:pPr algn="ctr">
                        <a:spcAft>
                          <a:spcPts val="0"/>
                        </a:spcAft>
                      </a:pPr>
                      <a:r>
                        <a:rPr sz="1600" b="1" i="0">
                          <a:solidFill>
                            <a:srgbClr val="FFFFFF"/>
                          </a:solidFill>
                          <a:latin typeface="Calibri"/>
                        </a:rPr>
                        <a:t>Uniform random</a:t>
                      </a:r>
                    </a:p>
                  </a:txBody>
                  <a:tcPr marL="91440" marR="91440" marT="27432" marB="27432" anchor="ctr">
                    <a:solidFill>
                      <a:srgbClr val="009E73"/>
                    </a:solidFill>
                  </a:tcPr>
                </a:tc>
              </a:tr>
              <a:tr h="731520">
                <a:tc>
                  <a:txBody>
                    <a:bodyPr wrap="square"/>
                    <a:lstStyle/>
                    <a:p>
                      <a:pPr algn="l">
                        <a:spcAft>
                          <a:spcPts val="0"/>
                        </a:spcAft>
                      </a:pPr>
                      <a:r>
                        <a:rPr sz="1700" b="1" i="0">
                          <a:solidFill>
                            <a:srgbClr val="10292E"/>
                          </a:solidFill>
                          <a:latin typeface="Calibri"/>
                        </a:rPr>
                        <a:t>Archaea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4.9%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Phyla</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206</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142</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130</a:t>
                      </a:r>
                    </a:p>
                  </a:txBody>
                  <a:tcPr marL="91440" marR="91440" marT="27432" marB="27432" anchor="ctr">
                    <a:solidFill>
                      <a:srgbClr val="FFFFFF"/>
                    </a:solidFill>
                  </a:tcPr>
                </a:tc>
              </a:tr>
              <a:tr h="731520">
                <a:tc>
                  <a:txBody>
                    <a:bodyPr wrap="square"/>
                    <a:lstStyle/>
                    <a:p>
                      <a:pPr algn="l">
                        <a:spcAft>
                          <a:spcPts val="0"/>
                        </a:spcAft>
                      </a:pPr>
                      <a:r>
                        <a:rPr sz="1700" b="1" i="0">
                          <a:solidFill>
                            <a:srgbClr val="10292E"/>
                          </a:solidFill>
                          <a:latin typeface="Calibri"/>
                        </a:rPr>
                        <a:t>Named genera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2,500</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1,499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Genus Gini</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0.524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0.684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0.723</a:t>
                      </a:r>
                    </a:p>
                  </a:txBody>
                  <a:tcPr marL="91440" marR="91440" marT="27432" marB="27432" anchor="ctr">
                    <a:lnB w="15875" cap="flat" cmpd="sng" algn="ctr">
                      <a:solidFill>
                        <a:srgbClr val="028090"/>
                      </a:solidFill>
                    </a:lnB>
                    <a:solidFill>
                      <a:srgbClr val="FFFFFF"/>
                    </a:solidFill>
                  </a:tcPr>
                </a:tc>
              </a:tr>
            </a:tbl>
          </a:graphicData>
        </a:graphic>
      </p:graphicFrame>
      <p:sp>
        <p:nvSpPr>
          <p:cNvPr id="4" name="Rounded Rectangle 3"/>
          <p:cNvSpPr/>
          <p:nvPr/>
        </p:nvSpPr>
        <p:spPr>
          <a:xfrm>
            <a:off x="8458200" y="150876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140,197</a:t>
            </a:r>
          </a:p>
          <a:p>
            <a:pPr algn="l">
              <a:lnSpc>
                <a:spcPct val="92000"/>
              </a:lnSpc>
              <a:spcAft>
                <a:spcPts val="0"/>
              </a:spcAft>
            </a:pPr>
            <a:r>
              <a:rPr sz="1150" b="0" i="0">
                <a:solidFill>
                  <a:srgbClr val="5B7179"/>
                </a:solidFill>
                <a:latin typeface="Calibri"/>
              </a:rPr>
              <a:t>admissible organisms: the pool behind k-means and random</a:t>
            </a:r>
          </a:p>
        </p:txBody>
      </p:sp>
      <p:sp>
        <p:nvSpPr>
          <p:cNvPr id="5" name="Rounded Rectangle 4"/>
          <p:cNvSpPr/>
          <p:nvPr/>
        </p:nvSpPr>
        <p:spPr>
          <a:xfrm>
            <a:off x="8458200" y="347472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49</a:t>
            </a:r>
          </a:p>
          <a:p>
            <a:pPr algn="l">
              <a:lnSpc>
                <a:spcPct val="92000"/>
              </a:lnSpc>
              <a:spcAft>
                <a:spcPts val="0"/>
              </a:spcAft>
            </a:pPr>
            <a:r>
              <a:rPr sz="1150" b="0" i="0">
                <a:solidFill>
                  <a:srgbClr val="5B7179"/>
                </a:solidFill>
                <a:latin typeface="Calibri"/>
              </a:rPr>
              <a:t>organisms in all three panels: largely disjoint samples</a:t>
            </a:r>
          </a:p>
        </p:txBody>
      </p:sp>
      <p:sp>
        <p:nvSpPr>
          <p:cNvPr id="6" name="TextBox 5"/>
          <p:cNvSpPr txBox="1"/>
          <p:nvPr/>
        </p:nvSpPr>
        <p:spPr>
          <a:xfrm>
            <a:off x="548640" y="548640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Random is the null: no correction, the pool's own skew</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Each panel 10,000 organisms · random panel drawn uniformly, seed 1729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Stratified over-samples sparse space; random tracks it</a:t>
            </a:r>
          </a:p>
          <a:p>
            <a:pPr algn="l">
              <a:spcAft>
                <a:spcPts val="0"/>
              </a:spcAft>
            </a:pPr>
            <a:r>
              <a:rPr sz="1350" b="0" i="0">
                <a:solidFill>
                  <a:srgbClr val="5B7179"/>
                </a:solidFill>
                <a:latin typeface="Calibri"/>
              </a:rPr>
              <a:t>Local density in the full 1024-d embedding, not in the projection</a:t>
            </a:r>
          </a:p>
        </p:txBody>
      </p:sp>
      <p:pic>
        <p:nvPicPr>
          <p:cNvPr id="3" name="Picture 2" descr="F_panel_space_three_slide.png"/>
          <p:cNvPicPr>
            <a:picLocks noChangeAspect="1"/>
          </p:cNvPicPr>
          <p:nvPr/>
        </p:nvPicPr>
        <p:blipFill>
          <a:blip r:embed="rId2"/>
          <a:stretch>
            <a:fillRect/>
          </a:stretch>
        </p:blipFill>
        <p:spPr>
          <a:xfrm>
            <a:off x="548640" y="1417320"/>
            <a:ext cx="11094415" cy="3842294"/>
          </a:xfrm>
          <a:prstGeom prst="rect">
            <a:avLst/>
          </a:prstGeom>
        </p:spPr>
      </p:pic>
      <p:sp>
        <p:nvSpPr>
          <p:cNvPr id="4" name="TextBox 3"/>
          <p:cNvSpPr txBox="1"/>
          <p:nvPr/>
        </p:nvSpPr>
        <p:spPr>
          <a:xfrm>
            <a:off x="548640" y="544068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Two sparsest deciles: 49.1% of stratified picks, 23.8% of random, 19.2% of sequences</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Shares of on-frame picks: 9,097 of the stratified panel's 10,000; all 10,000 k-means and 10,000 random picks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−0.20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0.07</a:t>
            </a:r>
          </a:p>
          <a:p>
            <a:pPr algn="l">
              <a:lnSpc>
                <a:spcPct val="92000"/>
              </a:lnSpc>
              <a:spcAft>
                <a:spcPts val="0"/>
              </a:spcAft>
            </a:pPr>
            <a:r>
              <a:rPr sz="1150" b="0" i="0">
                <a:solidFill>
                  <a:srgbClr val="5B7179"/>
                </a:solidFill>
                <a:latin typeface="Calibri"/>
              </a:rPr>
              <a:t>conditional genus accuracy, either direction</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0.028</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exact-tie union · 1,000 phylum-stratified bootstrap replicates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coverage gap is emptied records</a:t>
            </a:r>
          </a:p>
          <a:p>
            <a:pPr algn="l">
              <a:spcAft>
                <a:spcPts val="0"/>
              </a:spcAft>
            </a:pPr>
            <a:r>
              <a:rPr sz="1350" b="0" i="0">
                <a:solidFill>
                  <a:srgbClr val="5B7179"/>
                </a:solidFill>
                <a:latin typeface="Calibri"/>
              </a:rPr>
              <a:t>Full-length 16S · self-exclusion at τ = 0.987 · a 100-hit record</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2.4–3.4%</a:t>
            </a:r>
          </a:p>
          <a:p>
            <a:pPr algn="l">
              <a:lnSpc>
                <a:spcPct val="92000"/>
              </a:lnSpc>
              <a:spcAft>
                <a:spcPts val="0"/>
              </a:spcAft>
            </a:pPr>
            <a:r>
              <a:rPr sz="1150" b="0" i="0">
                <a:solidFill>
                  <a:srgbClr val="5B7179"/>
                </a:solidFill>
                <a:latin typeface="Calibri"/>
              </a:rPr>
              <a:t>uncovered where the record survives, on every panel</a:t>
            </a:r>
          </a:p>
        </p:txBody>
      </p:sp>
      <p:sp>
        <p:nvSpPr>
          <p:cNvPr id="5" name="Rounded Rectangle 4"/>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99.1% vs 68.0%</a:t>
            </a:r>
          </a:p>
          <a:p>
            <a:pPr algn="l">
              <a:lnSpc>
                <a:spcPct val="92000"/>
              </a:lnSpc>
              <a:spcAft>
                <a:spcPts val="0"/>
              </a:spcAft>
            </a:pPr>
            <a:r>
              <a:rPr sz="1150" b="0" i="0">
                <a:solidFill>
                  <a:srgbClr val="5B7179"/>
                </a:solidFill>
                <a:latin typeface="Calibri"/>
              </a:rPr>
              <a:t>source genome among its 100 hits, stratified vs random</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Record depth 100 · exact-tie union · coverage = gene capture, crude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Same panels: 16S coverage falls, genome resolve rate rises</a:t>
            </a:r>
          </a:p>
        </p:txBody>
      </p:sp>
      <p:graphicFrame>
        <p:nvGraphicFramePr>
          <p:cNvPr id="3" name="Chart 2"/>
          <p:cNvGraphicFramePr>
            <a:graphicFrameLocks noGrp="1"/>
          </p:cNvGraphicFramePr>
          <p:nvPr/>
        </p:nvGraphicFramePr>
        <p:xfrm>
          <a:off x="548640" y="1417320"/>
          <a:ext cx="7086600"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5650992"/>
            <a:ext cx="7086600"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The coverage gap tracks the record, not the organisms</a:t>
            </a:r>
          </a:p>
        </p:txBody>
      </p:sp>
      <p:sp>
        <p:nvSpPr>
          <p:cNvPr id="5" name="Rounded Rectangle 4"/>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+0.14</a:t>
            </a:r>
          </a:p>
          <a:p>
            <a:pPr algn="l">
              <a:lnSpc>
                <a:spcPct val="92000"/>
              </a:lnSpc>
              <a:spcAft>
                <a:spcPts val="0"/>
              </a:spcAft>
            </a:pPr>
            <a:r>
              <a:rPr sz="1150" b="0" i="0">
                <a:solidFill>
                  <a:srgbClr val="5B7179"/>
                </a:solidFill>
                <a:latin typeface="Calibri"/>
              </a:rPr>
              <a:t>random − stratified against GTDB, 95% CI +0.11 to +0.17</a:t>
            </a:r>
          </a:p>
        </p:txBody>
      </p:sp>
      <p:sp>
        <p:nvSpPr>
          <p:cNvPr id="6" name="Rounded Rectangle 5"/>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&lt; 1%</a:t>
            </a:r>
          </a:p>
          <a:p>
            <a:pPr algn="l">
              <a:lnSpc>
                <a:spcPct val="92000"/>
              </a:lnSpc>
              <a:spcAft>
                <a:spcPts val="0"/>
              </a:spcAft>
            </a:pPr>
            <a:r>
              <a:rPr sz="1150" b="0" i="0">
                <a:solidFill>
                  <a:srgbClr val="5B7179"/>
                </a:solidFill>
                <a:latin typeface="Calibri"/>
              </a:rPr>
              <a:t>GTDB records emptied by exclusion; 16S: 4.7–33.4%</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Phylum-standardized · GTDB r226, exclusion at ANI ≥ 95 · 16S at record depth 100, exact-tie union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Since the last deck · each claim re-derived from the primary files</a:t>
            </a:r>
          </a:p>
        </p:txBody>
      </p:sp>
      <p:sp>
        <p:nvSpPr>
          <p:cNvPr id="4" name="Rounded Rectangle 3"/>
          <p:cNvSpPr/>
          <p:nvPr/>
        </p:nvSpPr>
        <p:spPr>
          <a:xfrm>
            <a:off x="548640"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85 / 91</a:t>
            </a:r>
          </a:p>
          <a:p>
            <a:pPr algn="l">
              <a:lnSpc>
                <a:spcPct val="92000"/>
              </a:lnSpc>
              <a:spcAft>
                <a:spcPts val="0"/>
              </a:spcAft>
            </a:pPr>
            <a:r>
              <a:rPr sz="1150" b="0" i="0">
                <a:solidFill>
                  <a:srgbClr val="5B7179"/>
                </a:solidFill>
                <a:latin typeface="Calibri"/>
              </a:rPr>
              <a:t>depth-100 report claims confirmed</a:t>
            </a:r>
          </a:p>
        </p:txBody>
      </p:sp>
      <p:sp>
        <p:nvSpPr>
          <p:cNvPr id="5" name="Rounded Rectangle 4"/>
          <p:cNvSpPr/>
          <p:nvPr/>
        </p:nvSpPr>
        <p:spPr>
          <a:xfrm>
            <a:off x="4338218"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67 · 32 · 4 · 9</a:t>
            </a:r>
          </a:p>
          <a:p>
            <a:pPr algn="l">
              <a:lnSpc>
                <a:spcPct val="92000"/>
              </a:lnSpc>
              <a:spcAft>
                <a:spcPts val="0"/>
              </a:spcAft>
            </a:pPr>
            <a:r>
              <a:rPr sz="1150" b="0" i="0">
                <a:solidFill>
                  <a:srgbClr val="5B7179"/>
                </a:solidFill>
                <a:latin typeface="Calibri"/>
              </a:rPr>
              <a:t>manuscript findings in 4 rounds, all fixed</a:t>
            </a:r>
          </a:p>
        </p:txBody>
      </p:sp>
      <p:sp>
        <p:nvSpPr>
          <p:cNvPr id="6" name="Rounded Rectangle 5"/>
          <p:cNvSpPr/>
          <p:nvPr/>
        </p:nvSpPr>
        <p:spPr>
          <a:xfrm>
            <a:off x="8127796"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 rounds</a:t>
            </a:r>
          </a:p>
          <a:p>
            <a:pPr algn="l">
              <a:lnSpc>
                <a:spcPct val="92000"/>
              </a:lnSpc>
              <a:spcAft>
                <a:spcPts val="0"/>
              </a:spcAft>
            </a:pPr>
            <a:r>
              <a:rPr sz="1150" b="0" i="0">
                <a:solidFill>
                  <a:srgbClr val="5B7179"/>
                </a:solidFill>
                <a:latin typeface="Calibri"/>
              </a:rPr>
              <a:t>ModelSEED PR reviews; one caught a NadX block</a:t>
            </a:r>
          </a:p>
        </p:txBody>
      </p:sp>
      <p:graphicFrame>
        <p:nvGraphicFramePr>
          <p:cNvPr id="7" name="Table 6"/>
          <p:cNvGraphicFramePr>
            <a:graphicFrameLocks noGrp="1"/>
          </p:cNvGraphicFramePr>
          <p:nvPr/>
        </p:nvGraphicFramePr>
        <p:xfrm>
          <a:off x="548640" y="3063240"/>
          <a:ext cx="11094415" cy="2834640"/>
        </p:xfrm>
        <a:graphic>
          <a:graphicData uri="http://schemas.openxmlformats.org/drawingml/2006/table">
            <a:tbl>
              <a:tblPr firstRow="1" bandRow="1">
                <a:tableStyleId>{5C22544A-7EE6-4342-B048-85BDC9FD1C3A}</a:tableStyleId>
              </a:tblPr>
              <a:tblGrid>
                <a:gridCol w="7863840"/>
                <a:gridCol w="3230575"/>
              </a:tblGrid>
              <a:tr h="566928">
                <a:tc>
                  <a:txBody>
                    <a:bodyPr wrap="square"/>
                    <a:lstStyle/>
                    <a:p>
                      <a:pPr algn="l">
                        <a:spcAft>
                          <a:spcPts val="0"/>
                        </a:spcAft>
                      </a:pPr>
                      <a:r>
                        <a:rPr sz="1500" b="1" i="0">
                          <a:solidFill>
                            <a:srgbClr val="FFFFFF"/>
                          </a:solidFill>
                          <a:latin typeface="Calibri"/>
                        </a:rPr>
                        <a:t>Fault caught</a:t>
                      </a:r>
                    </a:p>
                  </a:txBody>
                  <a:tcPr marL="91440" marR="91440" marT="27432" marB="27432" anchor="ctr">
                    <a:solidFill>
                      <a:srgbClr val="028090"/>
                    </a:solidFill>
                  </a:tcPr>
                </a:tc>
                <a:tc>
                  <a:txBody>
                    <a:bodyPr wrap="square"/>
                    <a:lstStyle/>
                    <a:p>
                      <a:pPr algn="ctr">
                        <a:spcAft>
                          <a:spcPts val="0"/>
                        </a:spcAft>
                      </a:pPr>
                      <a:r>
                        <a:rPr sz="1500" b="1" i="0">
                          <a:solidFill>
                            <a:srgbClr val="FFFFFF"/>
                          </a:solidFill>
                          <a:latin typeface="Calibri"/>
                        </a:rPr>
                        <a:t>Status</a:t>
                      </a:r>
                    </a:p>
                  </a:txBody>
                  <a:tcPr marL="91440" marR="91440" marT="27432" marB="27432" anchor="ctr">
                    <a:solidFill>
                      <a:srgbClr val="028090"/>
                    </a:solidFill>
                  </a:tcPr>
                </a:tc>
              </a:tr>
              <a:tr h="566928">
                <a:tc>
                  <a:txBody>
                    <a:bodyPr wrap="square"/>
                    <a:lstStyle/>
                    <a:p>
                      <a:pPr algn="l">
                        <a:spcAft>
                          <a:spcPts val="0"/>
                        </a:spcAft>
                      </a:pPr>
                      <a:r>
                        <a:rPr sz="1600" b="1" i="0">
                          <a:solidFill>
                            <a:srgbClr val="10292E"/>
                          </a:solidFill>
                          <a:latin typeface="Calibri"/>
                        </a:rPr>
                        <a:t>ModelSEEDpy fork drops gapfill reversals</a:t>
                      </a:r>
                    </a:p>
                  </a:txBody>
                  <a:tcPr marL="91440" marR="91440" marT="27432" marB="27432" anchor="ctr">
                    <a:solidFill>
                      <a:srgbClr val="EFF5F5"/>
                    </a:solidFill>
                  </a:tcPr>
                </a:tc>
                <a:tc>
                  <a:txBody>
                    <a:bodyPr wrap="square"/>
                    <a:lstStyle/>
                    <a:p>
                      <a:pPr algn="ctr">
                        <a:spcAft>
                          <a:spcPts val="0"/>
                        </a:spcAft>
                      </a:pPr>
                      <a:r>
                        <a:rPr sz="1600" b="1" i="0">
                          <a:solidFill>
                            <a:srgbClr val="028090"/>
                          </a:solidFill>
                          <a:latin typeface="Calibri"/>
                        </a:rPr>
                        <a:t>fixed · PR ready</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ModelSEEDpy builds free demand sources</a:t>
                      </a:r>
                    </a:p>
                  </a:txBody>
                  <a:tcPr marL="91440" marR="91440" marT="27432" marB="27432" anchor="ctr">
                    <a:solidFill>
                      <a:srgbClr val="FFFFFF"/>
                    </a:solidFill>
                  </a:tcPr>
                </a:tc>
                <a:tc>
                  <a:txBody>
                    <a:bodyPr wrap="square"/>
                    <a:lstStyle/>
                    <a:p>
                      <a:pPr algn="ctr">
                        <a:spcAft>
                          <a:spcPts val="0"/>
                        </a:spcAft>
                      </a:pPr>
                      <a:r>
                        <a:rPr sz="1600" b="1" i="0">
                          <a:solidFill>
                            <a:srgbClr val="028090"/>
                          </a:solidFill>
                          <a:latin typeface="Calibri"/>
                        </a:rPr>
                        <a:t>rerun on the fix (A-C13)</a:t>
                      </a:r>
                    </a:p>
                  </a:txBody>
                  <a:tcPr marL="91440" marR="91440" marT="27432" marB="27432" anchor="ctr">
                    <a:solidFill>
                      <a:srgbClr val="FFFFFF"/>
                    </a:solidFill>
                  </a:tcPr>
                </a:tc>
              </a:tr>
              <a:tr h="566928">
                <a:tc>
                  <a:txBody>
                    <a:bodyPr wrap="square"/>
                    <a:lstStyle/>
                    <a:p>
                      <a:pPr algn="l">
                        <a:spcAft>
                          <a:spcPts val="0"/>
                        </a:spcAft>
                      </a:pPr>
                      <a:r>
                        <a:rPr sz="1600" b="1" i="0">
                          <a:solidFill>
                            <a:srgbClr val="10292E"/>
                          </a:solidFill>
                          <a:latin typeface="Calibri"/>
                        </a:rPr>
                        <a:t>Legacy abstentions: 6,482 vs 7,344</a:t>
                      </a:r>
                    </a:p>
                  </a:txBody>
                  <a:tcPr marL="91440" marR="91440" marT="27432" marB="27432" anchor="ctr">
                    <a:solidFill>
                      <a:srgbClr val="EFF5F5"/>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Source-taxon mismatch, k-means/random</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lnB w="15875" cap="flat" cmpd="sng" algn="ctr">
                      <a:solidFill>
                        <a:srgbClr val="028090"/>
                      </a:solidFill>
                    </a:lnB>
                    <a:solidFill>
                      <a:srgbClr val="FFFFFF"/>
                    </a:solidFill>
                  </a:tcPr>
                </a:tc>
              </a:tr>
            </a:tbl>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Report check: region_validation_d100/D100_VS_D20.md section 5 · PR texts: region_validation/shared_reference/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Rounded Rectangle 2"/>
          <p:cNvSpPr/>
          <p:nvPr/>
        </p:nvSpPr>
        <p:spPr>
          <a:xfrm>
            <a:off x="548640" y="1371600"/>
            <a:ext cx="5364327" cy="530352"/>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Decided</a:t>
            </a:r>
          </a:p>
        </p:txBody>
      </p:sp>
      <p:sp>
        <p:nvSpPr>
          <p:cNvPr id="4" name="Rounded Rectangle 3"/>
          <p:cNvSpPr/>
          <p:nvPr/>
        </p:nvSpPr>
        <p:spPr>
          <a:xfrm>
            <a:off x="548640"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Exact-tie union throughout</a:t>
            </a:r>
          </a:p>
        </p:txBody>
      </p:sp>
      <p:sp>
        <p:nvSpPr>
          <p:cNvPr id="5" name="Oval 4"/>
          <p:cNvSpPr/>
          <p:nvPr/>
        </p:nvSpPr>
        <p:spPr>
          <a:xfrm>
            <a:off x="777240" y="230886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6" name="Rounded Rectangle 5"/>
          <p:cNvSpPr/>
          <p:nvPr/>
        </p:nvSpPr>
        <p:spPr>
          <a:xfrm>
            <a:off x="548640"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GTDB map: future work</a:t>
            </a:r>
          </a:p>
        </p:txBody>
      </p:sp>
      <p:sp>
        <p:nvSpPr>
          <p:cNvPr id="7" name="Oval 6"/>
          <p:cNvSpPr/>
          <p:nvPr/>
        </p:nvSpPr>
        <p:spPr>
          <a:xfrm>
            <a:off x="777240" y="336042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8" name="Rounded Rectangle 7"/>
          <p:cNvSpPr/>
          <p:nvPr/>
        </p:nvSpPr>
        <p:spPr>
          <a:xfrm>
            <a:off x="548640"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ModelSEED PRs and issue #10 filed</a:t>
            </a:r>
          </a:p>
        </p:txBody>
      </p:sp>
      <p:sp>
        <p:nvSpPr>
          <p:cNvPr id="9" name="Oval 8"/>
          <p:cNvSpPr/>
          <p:nvPr/>
        </p:nvSpPr>
        <p:spPr>
          <a:xfrm>
            <a:off x="777240" y="441198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0" name="Rounded Rectangle 9"/>
          <p:cNvSpPr/>
          <p:nvPr/>
        </p:nvSpPr>
        <p:spPr>
          <a:xfrm>
            <a:off x="548640"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C12 amended: passes</a:t>
            </a:r>
          </a:p>
        </p:txBody>
      </p:sp>
      <p:sp>
        <p:nvSpPr>
          <p:cNvPr id="11" name="Oval 10"/>
          <p:cNvSpPr/>
          <p:nvPr/>
        </p:nvSpPr>
        <p:spPr>
          <a:xfrm>
            <a:off x="777240" y="546354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12" name="Rounded Rectangle 11"/>
          <p:cNvSpPr/>
          <p:nvPr/>
        </p:nvSpPr>
        <p:spPr>
          <a:xfrm>
            <a:off x="6278727" y="1371600"/>
            <a:ext cx="5364327" cy="530352"/>
          </a:xfrm>
          <a:prstGeom prst="roundRect">
            <a:avLst>
              <a:gd name="adj" fmla="val 6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Next steps</a:t>
            </a:r>
          </a:p>
        </p:txBody>
      </p:sp>
      <p:sp>
        <p:nvSpPr>
          <p:cNvPr id="13" name="Rounded Rectangle 12"/>
          <p:cNvSpPr/>
          <p:nvPr/>
        </p:nvSpPr>
        <p:spPr>
          <a:xfrm>
            <a:off x="6278727"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Push the revised manuscript</a:t>
            </a:r>
          </a:p>
        </p:txBody>
      </p:sp>
      <p:sp>
        <p:nvSpPr>
          <p:cNvPr id="14" name="Oval 13"/>
          <p:cNvSpPr/>
          <p:nvPr/>
        </p:nvSpPr>
        <p:spPr>
          <a:xfrm>
            <a:off x="6507327" y="23088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15" name="Rounded Rectangle 14"/>
          <p:cNvSpPr/>
          <p:nvPr/>
        </p:nvSpPr>
        <p:spPr>
          <a:xfrm>
            <a:off x="6278727"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Decide the depth-100 KBase upload</a:t>
            </a:r>
          </a:p>
        </p:txBody>
      </p:sp>
      <p:sp>
        <p:nvSpPr>
          <p:cNvPr id="16" name="Oval 15"/>
          <p:cNvSpPr/>
          <p:nvPr/>
        </p:nvSpPr>
        <p:spPr>
          <a:xfrm>
            <a:off x="6507327" y="336042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17" name="Rounded Rectangle 16"/>
          <p:cNvSpPr/>
          <p:nvPr/>
        </p:nvSpPr>
        <p:spPr>
          <a:xfrm>
            <a:off x="6278727"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Resolve two open faults</a:t>
            </a:r>
          </a:p>
        </p:txBody>
      </p:sp>
      <p:sp>
        <p:nvSpPr>
          <p:cNvPr id="18" name="Oval 17"/>
          <p:cNvSpPr/>
          <p:nvPr/>
        </p:nvSpPr>
        <p:spPr>
          <a:xfrm>
            <a:off x="6507327" y="441198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9" name="Rounded Rectangle 18"/>
          <p:cNvSpPr/>
          <p:nvPr/>
        </p:nvSpPr>
        <p:spPr>
          <a:xfrm>
            <a:off x="6278727"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Close the loop to flux</a:t>
            </a:r>
          </a:p>
        </p:txBody>
      </p:sp>
      <p:sp>
        <p:nvSpPr>
          <p:cNvPr id="20" name="Oval 19"/>
          <p:cNvSpPr/>
          <p:nvPr/>
        </p:nvSpPr>
        <p:spPr>
          <a:xfrm>
            <a:off x="6507327" y="546354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