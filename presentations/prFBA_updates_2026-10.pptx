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Source present</c:v>
                </c:pt>
              </c:strCache>
            </c:strRef>
          </c:tx>
          <c:spPr>
            <a:solidFill>
              <a:srgbClr val="028090"/>
            </a:solidFill>
          </c:spPr>
          <c:dLbls>
            <c:numFmt formatCode="0.00" sourceLinked="0"/>
            <c:txPr>
              <a:bodyPr/>
              <a:lstStyle/>
              <a:p>
                <a:pPr>
                  <a:defRPr sz="900">
                    <a:solidFill>
                      <a:srgbClr val="5B7179"/>
                    </a:solidFill>
                    <a:latin typeface="Calibri"/>
                  </a:defRPr>
                </a:pPr>
              </a:p>
            </c:txPr>
            <c:dLblPos val="outEnd"/>
            <c:showLegendKey val="0"/>
            <c:showVal val="1"/>
            <c:showCatName val="0"/>
            <c:showSerName val="0"/>
            <c:showPercent val="0"/>
            <c:showBubbleSize val="0"/>
            <c:showLeaderLines val="1"/>
          </c:dLbls>
          <c:cat>
            <c:strRef>
              <c:f>Sheet1!$A$2:$A$9</c:f>
              <c:strCache>
                <c:ptCount val="8"/>
                <c:pt idx="0">
                  <c:v>Full-length</c:v>
                </c:pt>
                <c:pt idx="1">
                  <c:v>V1–V2</c:v>
                </c:pt>
                <c:pt idx="2">
                  <c:v>V1–V3</c:v>
                </c:pt>
                <c:pt idx="3">
                  <c:v>V7–V9</c:v>
                </c:pt>
                <c:pt idx="4">
                  <c:v>V3–V4</c:v>
                </c:pt>
                <c:pt idx="5">
                  <c:v>V4–V5 944R</c:v>
                </c:pt>
                <c:pt idx="6">
                  <c:v>V4–V5</c:v>
                </c:pt>
                <c:pt idx="7">
                  <c:v>V4</c:v>
                </c:pt>
              </c:strCache>
            </c:strRef>
          </c:cat>
          <c:val>
            <c:numRef>
              <c:f>Sheet1!$B$2:$B$9</c:f>
              <c:numCache>
                <c:formatCode>0.00</c:formatCode>
                <c:ptCount val="8"/>
                <c:pt idx="0">
                  <c:v>0.9861554845580405</c:v>
                </c:pt>
                <c:pt idx="1">
                  <c:v>0.9671387073347858</c:v>
                </c:pt>
                <c:pt idx="2">
                  <c:v>0.9724606580829757</c:v>
                </c:pt>
                <c:pt idx="3">
                  <c:v>0.9585709996997899</c:v>
                </c:pt>
                <c:pt idx="4">
                  <c:v>0.9526949068732488</c:v>
                </c:pt>
                <c:pt idx="5">
                  <c:v>0.9504801920768308</c:v>
                </c:pt>
                <c:pt idx="6">
                  <c:v>0.9499562299387219</c:v>
                </c:pt>
                <c:pt idx="7">
                  <c:v>0.9357447434200853</c:v>
                </c:pt>
              </c:numCache>
            </c:numRef>
          </c:val>
        </c:ser>
        <c:ser>
          <c:idx val="1"/>
          <c:order val="1"/>
          <c:tx>
            <c:strRef>
              <c:f>Sheet1!$C$1</c:f>
              <c:strCache>
                <c:ptCount val="1"/>
                <c:pt idx="0">
                  <c:v>Source removed</c:v>
                </c:pt>
              </c:strCache>
            </c:strRef>
          </c:tx>
          <c:spPr>
            <a:solidFill>
              <a:srgbClr val="E8871A"/>
            </a:solidFill>
          </c:spPr>
          <c:dLbls>
            <c:numFmt formatCode="0.00" sourceLinked="0"/>
            <c:txPr>
              <a:bodyPr/>
              <a:lstStyle/>
              <a:p>
                <a:pPr>
                  <a:defRPr sz="900">
                    <a:solidFill>
                      <a:srgbClr val="5B7179"/>
                    </a:solidFill>
                    <a:latin typeface="Calibri"/>
                  </a:defRPr>
                </a:pPr>
              </a:p>
            </c:txPr>
            <c:dLblPos val="outEnd"/>
            <c:showLegendKey val="0"/>
            <c:showVal val="1"/>
            <c:showCatName val="0"/>
            <c:showSerName val="0"/>
            <c:showPercent val="0"/>
            <c:showBubbleSize val="0"/>
            <c:showLeaderLines val="1"/>
          </c:dLbls>
          <c:cat>
            <c:strRef>
              <c:f>Sheet1!$A$2:$A$9</c:f>
              <c:strCache>
                <c:ptCount val="8"/>
                <c:pt idx="0">
                  <c:v>Full-length</c:v>
                </c:pt>
                <c:pt idx="1">
                  <c:v>V1–V2</c:v>
                </c:pt>
                <c:pt idx="2">
                  <c:v>V1–V3</c:v>
                </c:pt>
                <c:pt idx="3">
                  <c:v>V7–V9</c:v>
                </c:pt>
                <c:pt idx="4">
                  <c:v>V3–V4</c:v>
                </c:pt>
                <c:pt idx="5">
                  <c:v>V4–V5 944R</c:v>
                </c:pt>
                <c:pt idx="6">
                  <c:v>V4–V5</c:v>
                </c:pt>
                <c:pt idx="7">
                  <c:v>V4</c:v>
                </c:pt>
              </c:strCache>
            </c:strRef>
          </c:cat>
          <c:val>
            <c:numRef>
              <c:f>Sheet1!$C$2:$C$9</c:f>
              <c:numCache>
                <c:formatCode>0.00</c:formatCode>
                <c:ptCount val="8"/>
                <c:pt idx="0">
                  <c:v>0.7299113141628595</c:v>
                </c:pt>
                <c:pt idx="1">
                  <c:v>0.7196990805238228</c:v>
                </c:pt>
                <c:pt idx="2">
                  <c:v>0.7169404793967142</c:v>
                </c:pt>
                <c:pt idx="3">
                  <c:v>0.6525664173329895</c:v>
                </c:pt>
                <c:pt idx="4">
                  <c:v>0.6392534266550015</c:v>
                </c:pt>
                <c:pt idx="5">
                  <c:v>0.6309688103781397</c:v>
                </c:pt>
                <c:pt idx="6">
                  <c:v>0.626210979547901</c:v>
                </c:pt>
                <c:pt idx="7">
                  <c:v>0.5990246545651585</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max val="1.08"/>
          <c:min val="0.0"/>
        </c:scaling>
        <c:delete val="0"/>
        <c:axPos val="l"/>
        <c:majorGridlines>
          <c:spPr>
            <a:ln w="9525">
              <a:solidFill>
                <a:srgbClr val="DCE6E6"/>
              </a:solidFill>
            </a:ln>
          </c:spPr>
        </c:majorGridlines>
        <c:majorTickMark val="out"/>
        <c:minorTickMark val="none"/>
        <c:tickLblPos val="nextTo"/>
        <c:crossAx val="-2068027336"/>
        <c:crosses val="autoZero"/>
      </c:valAx>
    </c:plotArea>
    <c:legend>
      <c:legendPos val="b"/>
      <c:overlay val="0"/>
      <c:txPr>
        <a:bodyPr/>
        <a:lstStyle/>
        <a:p>
          <a:pPr>
            <a:defRPr sz="1100">
              <a:solidFill>
                <a:srgbClr val="10292E"/>
              </a:solidFill>
            </a:defRPr>
          </a:pPr>
        </a:p>
      </c:txPr>
    </c:legend>
    <c:dispBlanksAs val="gap"/>
  </c:chart>
  <c:txPr>
    <a:bodyPr/>
    <a:lstStyle/>
    <a:p>
      <a:pPr>
        <a:defRPr sz="1100">
          <a:solidFill>
            <a:srgbClr val="5B7179"/>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prFBA</c:v>
                </c:pt>
              </c:strCache>
            </c:strRef>
          </c:tx>
          <c:spPr>
            <a:ln w="31750">
              <a:solidFill>
                <a:srgbClr val="028090"/>
              </a:solidFill>
            </a:ln>
          </c:spPr>
          <c:dLbls>
            <c:numFmt formatCode="0.00" sourceLinked="0"/>
            <c:txPr>
              <a:bodyPr/>
              <a:lstStyle/>
              <a:p>
                <a:pPr>
                  <a:defRPr sz="900">
                    <a:solidFill>
                      <a:srgbClr val="5B7179"/>
                    </a:solidFill>
                    <a:latin typeface="Calibri"/>
                  </a:defRPr>
                </a:pPr>
              </a:p>
            </c:txPr>
            <c:dLblPos val="t"/>
            <c:showLegendKey val="0"/>
            <c:showVal val="1"/>
            <c:showCatName val="0"/>
            <c:showSerName val="0"/>
            <c:showPercent val="0"/>
            <c:showBubbleSize val="0"/>
            <c:showLeaderLines val="1"/>
          </c:dLbls>
          <c:cat>
            <c:strRef>
              <c:f>Sheet1!$A$2:$A$6</c:f>
              <c:strCache>
                <c:ptCount val="5"/>
                <c:pt idx="0">
                  <c:v>&lt; 0.01</c:v>
                </c:pt>
                <c:pt idx="1">
                  <c:v>0.01–0.05</c:v>
                </c:pt>
                <c:pt idx="2">
                  <c:v>0.05–0.15</c:v>
                </c:pt>
                <c:pt idx="3">
                  <c:v>0.15–0.5</c:v>
                </c:pt>
                <c:pt idx="4">
                  <c:v>≥ 0.5</c:v>
                </c:pt>
              </c:strCache>
            </c:strRef>
          </c:cat>
          <c:val>
            <c:numRef>
              <c:f>Sheet1!$B$2:$B$6</c:f>
              <c:numCache>
                <c:formatCode>0.00</c:formatCode>
                <c:ptCount val="5"/>
                <c:pt idx="0">
                  <c:v>0.8297</c:v>
                </c:pt>
                <c:pt idx="1">
                  <c:v>0.8291</c:v>
                </c:pt>
                <c:pt idx="2">
                  <c:v>0.7591</c:v>
                </c:pt>
                <c:pt idx="3">
                  <c:v>0.6695</c:v>
                </c:pt>
                <c:pt idx="4">
                  <c:v>0.6069</c:v>
                </c:pt>
              </c:numCache>
            </c:numRef>
          </c:val>
          <c:smooth val="0"/>
        </c:ser>
        <c:ser>
          <c:idx val="1"/>
          <c:order val="1"/>
          <c:tx>
            <c:strRef>
              <c:f>Sheet1!$C$1</c:f>
              <c:strCache>
                <c:ptCount val="1"/>
                <c:pt idx="0">
                  <c:v>PICRUSt2</c:v>
                </c:pt>
              </c:strCache>
            </c:strRef>
          </c:tx>
          <c:spPr>
            <a:ln w="31750">
              <a:solidFill>
                <a:srgbClr val="00A896"/>
              </a:solidFill>
            </a:ln>
          </c:spPr>
          <c:dLbls>
            <c:numFmt formatCode="0.00" sourceLinked="0"/>
            <c:txPr>
              <a:bodyPr/>
              <a:lstStyle/>
              <a:p>
                <a:pPr>
                  <a:defRPr sz="900">
                    <a:solidFill>
                      <a:srgbClr val="5B7179"/>
                    </a:solidFill>
                    <a:latin typeface="Calibri"/>
                  </a:defRPr>
                </a:pPr>
              </a:p>
            </c:txPr>
            <c:dLblPos val="t"/>
            <c:showLegendKey val="0"/>
            <c:showVal val="1"/>
            <c:showCatName val="0"/>
            <c:showSerName val="0"/>
            <c:showPercent val="0"/>
            <c:showBubbleSize val="0"/>
            <c:showLeaderLines val="1"/>
          </c:dLbls>
          <c:cat>
            <c:strRef>
              <c:f>Sheet1!$A$2:$A$6</c:f>
              <c:strCache>
                <c:ptCount val="5"/>
                <c:pt idx="0">
                  <c:v>&lt; 0.01</c:v>
                </c:pt>
                <c:pt idx="1">
                  <c:v>0.01–0.05</c:v>
                </c:pt>
                <c:pt idx="2">
                  <c:v>0.05–0.15</c:v>
                </c:pt>
                <c:pt idx="3">
                  <c:v>0.15–0.5</c:v>
                </c:pt>
                <c:pt idx="4">
                  <c:v>≥ 0.5</c:v>
                </c:pt>
              </c:strCache>
            </c:strRef>
          </c:cat>
          <c:val>
            <c:numRef>
              <c:f>Sheet1!$C$2:$C$6</c:f>
              <c:numCache>
                <c:formatCode>0.00</c:formatCode>
                <c:ptCount val="5"/>
                <c:pt idx="0">
                  <c:v>0.7349</c:v>
                </c:pt>
                <c:pt idx="1">
                  <c:v>0.7291</c:v>
                </c:pt>
                <c:pt idx="2">
                  <c:v>0.6284</c:v>
                </c:pt>
                <c:pt idx="3">
                  <c:v>0.4204</c:v>
                </c:pt>
                <c:pt idx="4">
                  <c:v>0.2346</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max val="1.0"/>
          <c:min val="0.0"/>
        </c:scaling>
        <c:delete val="0"/>
        <c:axPos val="l"/>
        <c:majorGridlines>
          <c:spPr>
            <a:ln w="9525">
              <a:solidFill>
                <a:srgbClr val="DCE6E6"/>
              </a:solidFill>
            </a:ln>
          </c:spPr>
        </c:majorGridlines>
        <c:majorTickMark val="out"/>
        <c:minorTickMark val="none"/>
        <c:tickLblPos val="nextTo"/>
        <c:crossAx val="2118791784"/>
        <c:crosses val="autoZero"/>
      </c:valAx>
    </c:plotArea>
    <c:legend>
      <c:legendPos val="b"/>
      <c:layout/>
      <c:overlay val="0"/>
      <c:txPr>
        <a:bodyPr/>
        <a:lstStyle/>
        <a:p>
          <a:pPr>
            <a:defRPr sz="1100">
              <a:solidFill>
                <a:srgbClr val="10292E"/>
              </a:solidFill>
            </a:defRPr>
          </a:pPr>
        </a:p>
      </c:txPr>
    </c:legend>
    <c:plotVisOnly val="1"/>
    <c:dispBlanksAs val="gap"/>
    <c:showDLblsOverMax val="0"/>
  </c:chart>
  <c:txPr>
    <a:bodyPr/>
    <a:lstStyle/>
    <a:p>
      <a:pPr>
        <a:defRPr sz="1100">
          <a:solidFill>
            <a:srgbClr val="5B7179"/>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Population EC-F1</c:v>
                </c:pt>
              </c:strCache>
            </c:strRef>
          </c:tx>
          <c:spPr>
            <a:solidFill>
              <a:srgbClr val="028090"/>
            </a:solidFill>
          </c:spPr>
          <c:dLbls>
            <c:numFmt formatCode="0.000" sourceLinked="0"/>
            <c:txPr>
              <a:bodyPr/>
              <a:lstStyle/>
              <a:p>
                <a:pPr>
                  <a:defRPr sz="900">
                    <a:solidFill>
                      <a:srgbClr val="5B7179"/>
                    </a:solidFill>
                    <a:latin typeface="Calibri"/>
                  </a:defRPr>
                </a:pPr>
              </a:p>
            </c:txPr>
            <c:dLblPos val="outEnd"/>
            <c:showLegendKey val="0"/>
            <c:showVal val="1"/>
            <c:showCatName val="0"/>
            <c:showSerName val="0"/>
            <c:showPercent val="0"/>
            <c:showBubbleSize val="0"/>
            <c:showLeaderLines val="1"/>
          </c:dLbls>
          <c:cat>
            <c:strRef>
              <c:f>Sheet1!$A$2:$A$8</c:f>
              <c:strCache>
                <c:ptCount val="7"/>
                <c:pt idx="0">
                  <c:v>Clade-max oracle (ceiling)</c:v>
                </c:pt>
                <c:pt idx="1">
                  <c:v>PICRUSt2</c:v>
                </c:pt>
                <c:pt idx="2">
                  <c:v>prFBA, forced to answer</c:v>
                </c:pt>
                <c:pt idx="3">
                  <c:v>Nearest neighbour</c:v>
                </c:pt>
                <c:pt idx="4">
                  <c:v>prFBA</c:v>
                </c:pt>
                <c:pt idx="5">
                  <c:v>Random, prFBA's coverage</c:v>
                </c:pt>
                <c:pt idx="6">
                  <c:v>Constant (floor)</c:v>
                </c:pt>
              </c:strCache>
            </c:strRef>
          </c:cat>
          <c:val>
            <c:numRef>
              <c:f>Sheet1!$B$2:$B$8</c:f>
              <c:numCache>
                <c:formatCode>0.000</c:formatCode>
                <c:ptCount val="7"/>
                <c:pt idx="0">
                  <c:v>0.7897</c:v>
                </c:pt>
                <c:pt idx="1">
                  <c:v>0.7787</c:v>
                </c:pt>
                <c:pt idx="2">
                  <c:v>0.7473</c:v>
                </c:pt>
                <c:pt idx="3">
                  <c:v>0.7451</c:v>
                </c:pt>
                <c:pt idx="4">
                  <c:v>0.6867</c:v>
                </c:pt>
                <c:pt idx="5">
                  <c:v>0.6661</c:v>
                </c:pt>
                <c:pt idx="6">
                  <c:v>0.6461</c:v>
                </c:pt>
              </c:numCache>
            </c:numRef>
          </c:val>
        </c:ser>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max val="0.85"/>
          <c:min val="0.0"/>
        </c:scaling>
        <c:delete val="0"/>
        <c:axPos val="b"/>
        <c:majorGridlines>
          <c:spPr>
            <a:ln w="9525">
              <a:solidFill>
                <a:srgbClr val="DCE6E6"/>
              </a:solidFill>
            </a:ln>
          </c:spPr>
        </c:majorGridlines>
        <c:majorTickMark val="out"/>
        <c:minorTickMark val="none"/>
        <c:tickLblPos val="nextTo"/>
        <c:crossAx val="-2068027336"/>
        <c:crosses val="autoZero"/>
      </c:valAx>
    </c:plotArea>
    <c:dispBlanksAs val="gap"/>
  </c:chart>
  <c:txPr>
    <a:bodyPr/>
    <a:lstStyle/>
    <a:p>
      <a:pPr>
        <a:defRPr sz="1050">
          <a:solidFill>
            <a:srgbClr val="5B7179"/>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Recovered</c:v>
                </c:pt>
              </c:strCache>
            </c:strRef>
          </c:tx>
          <c:spPr>
            <a:solidFill>
              <a:srgbClr val="028090"/>
            </a:solidFill>
          </c:spPr>
          <c:dLbls>
            <c:numFmt formatCode="0%" sourceLinked="0"/>
            <c:txPr>
              <a:bodyPr/>
              <a:lstStyle/>
              <a:p>
                <a:pPr>
                  <a:defRPr sz="900">
                    <a:solidFill>
                      <a:srgbClr val="5B7179"/>
                    </a:solidFill>
                    <a:latin typeface="Calibri"/>
                  </a:defRPr>
                </a:pPr>
              </a:p>
            </c:txPr>
            <c:dLblPos val="outEnd"/>
            <c:showLegendKey val="0"/>
            <c:showVal val="1"/>
            <c:showCatName val="0"/>
            <c:showSerName val="0"/>
            <c:showPercent val="0"/>
            <c:showBubbleSize val="0"/>
            <c:showLeaderLines val="1"/>
          </c:dLbls>
          <c:cat>
            <c:strRef>
              <c:f>Sheet1!$A$2:$A$5</c:f>
              <c:strCache>
                <c:ptCount val="4"/>
                <c:pt idx="0">
                  <c:v>50</c:v>
                </c:pt>
                <c:pt idx="1">
                  <c:v>100</c:v>
                </c:pt>
                <c:pt idx="2">
                  <c:v>200</c:v>
                </c:pt>
                <c:pt idx="3">
                  <c:v>500</c:v>
                </c:pt>
              </c:strCache>
            </c:strRef>
          </c:cat>
          <c:val>
            <c:numRef>
              <c:f>Sheet1!$B$2:$B$5</c:f>
              <c:numCache>
                <c:formatCode>0%</c:formatCode>
                <c:ptCount val="4"/>
                <c:pt idx="0">
                  <c:v>0.4625</c:v>
                </c:pt>
                <c:pt idx="1">
                  <c:v>0.684375</c:v>
                </c:pt>
                <c:pt idx="2">
                  <c:v>0.78125</c:v>
                </c:pt>
                <c:pt idx="3">
                  <c:v>0.884375</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max val="1.0"/>
        </c:scaling>
        <c:delete val="0"/>
        <c:axPos val="l"/>
        <c:majorGridlines>
          <c:spPr>
            <a:ln w="9525">
              <a:solidFill>
                <a:srgbClr val="DCE6E6"/>
              </a:solidFill>
            </a:ln>
          </c:spPr>
        </c:majorGridlines>
        <c:majorTickMark val="out"/>
        <c:minorTickMark val="none"/>
        <c:tickLblPos val="nextTo"/>
        <c:crossAx val="-2068027336"/>
        <c:crosses val="autoZero"/>
      </c:valAx>
    </c:plotArea>
    <c:dispBlanksAs val="gap"/>
  </c:chart>
  <c:txPr>
    <a:bodyPr/>
    <a:lstStyle/>
    <a:p>
      <a:pPr>
        <a:defRPr sz="1100">
          <a:solidFill>
            <a:srgbClr val="5B7179"/>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Isolate genomes</c:v>
                </c:pt>
              </c:strCache>
            </c:strRef>
          </c:tx>
          <c:spPr>
            <a:solidFill>
              <a:srgbClr val="028090"/>
            </a:solidFill>
          </c:spPr>
          <c:dLbls>
            <c:numFmt formatCode="0%" sourceLinked="0"/>
            <c:txPr>
              <a:bodyPr/>
              <a:lstStyle/>
              <a:p>
                <a:pPr>
                  <a:defRPr sz="900">
                    <a:solidFill>
                      <a:srgbClr val="5B7179"/>
                    </a:solidFill>
                    <a:latin typeface="Calibri"/>
                  </a:defRPr>
                </a:pPr>
              </a:p>
            </c:txPr>
            <c:dLblPos val="outEnd"/>
            <c:showLegendKey val="0"/>
            <c:showVal val="1"/>
            <c:showCatName val="0"/>
            <c:showSerName val="0"/>
            <c:showPercent val="0"/>
            <c:showBubbleSize val="0"/>
            <c:showLeaderLines val="1"/>
          </c:dLbls>
          <c:cat>
            <c:strRef>
              <c:f>Sheet1!$A$2:$A$3</c:f>
              <c:strCache>
                <c:ptCount val="2"/>
                <c:pt idx="0">
                  <c:v>Carries any SSU gene</c:v>
                </c:pt>
                <c:pt idx="1">
                  <c:v>Carries SSU ≥ 1,200 bp</c:v>
                </c:pt>
              </c:strCache>
            </c:strRef>
          </c:cat>
          <c:val>
            <c:numRef>
              <c:f>Sheet1!$B$2:$B$3</c:f>
              <c:numCache>
                <c:formatCode>0%</c:formatCode>
                <c:ptCount val="2"/>
                <c:pt idx="0">
                  <c:v>0.9738</c:v>
                </c:pt>
                <c:pt idx="1">
                  <c:v>0.8497</c:v>
                </c:pt>
              </c:numCache>
            </c:numRef>
          </c:val>
        </c:ser>
        <c:ser>
          <c:idx val="1"/>
          <c:order val="1"/>
          <c:tx>
            <c:strRef>
              <c:f>Sheet1!$C$1</c:f>
              <c:strCache>
                <c:ptCount val="1"/>
                <c:pt idx="0">
                  <c:v>MAGs</c:v>
                </c:pt>
              </c:strCache>
            </c:strRef>
          </c:tx>
          <c:spPr>
            <a:solidFill>
              <a:srgbClr val="E8871A"/>
            </a:solidFill>
          </c:spPr>
          <c:dLbls>
            <c:numFmt formatCode="0%" sourceLinked="0"/>
            <c:txPr>
              <a:bodyPr/>
              <a:lstStyle/>
              <a:p>
                <a:pPr>
                  <a:defRPr sz="900">
                    <a:solidFill>
                      <a:srgbClr val="5B7179"/>
                    </a:solidFill>
                    <a:latin typeface="Calibri"/>
                  </a:defRPr>
                </a:pPr>
              </a:p>
            </c:txPr>
            <c:dLblPos val="outEnd"/>
            <c:showLegendKey val="0"/>
            <c:showVal val="1"/>
            <c:showCatName val="0"/>
            <c:showSerName val="0"/>
            <c:showPercent val="0"/>
            <c:showBubbleSize val="0"/>
            <c:showLeaderLines val="1"/>
          </c:dLbls>
          <c:cat>
            <c:strRef>
              <c:f>Sheet1!$A$2:$A$3</c:f>
              <c:strCache>
                <c:ptCount val="2"/>
                <c:pt idx="0">
                  <c:v>Carries any SSU gene</c:v>
                </c:pt>
                <c:pt idx="1">
                  <c:v>Carries SSU ≥ 1,200 bp</c:v>
                </c:pt>
              </c:strCache>
            </c:strRef>
          </c:cat>
          <c:val>
            <c:numRef>
              <c:f>Sheet1!$C$2:$C$3</c:f>
              <c:numCache>
                <c:formatCode>0%</c:formatCode>
                <c:ptCount val="2"/>
                <c:pt idx="0">
                  <c:v>0.2546</c:v>
                </c:pt>
                <c:pt idx="1">
                  <c:v>0.1539</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max val="1.0"/>
          <c:min val="0.0"/>
        </c:scaling>
        <c:delete val="0"/>
        <c:axPos val="l"/>
        <c:majorGridlines>
          <c:spPr>
            <a:ln w="9525">
              <a:solidFill>
                <a:srgbClr val="DCE6E6"/>
              </a:solidFill>
            </a:ln>
          </c:spPr>
        </c:majorGridlines>
        <c:majorTickMark val="out"/>
        <c:minorTickMark val="none"/>
        <c:tickLblPos val="nextTo"/>
        <c:crossAx val="-2068027336"/>
        <c:crosses val="autoZero"/>
      </c:valAx>
    </c:plotArea>
    <c:legend>
      <c:legendPos val="b"/>
      <c:overlay val="0"/>
      <c:txPr>
        <a:bodyPr/>
        <a:lstStyle/>
        <a:p>
          <a:pPr>
            <a:defRPr sz="1100">
              <a:solidFill>
                <a:srgbClr val="10292E"/>
              </a:solidFill>
            </a:defRPr>
          </a:pPr>
        </a:p>
      </c:txPr>
    </c:legend>
    <c:dispBlanksAs val="gap"/>
  </c:chart>
  <c:txPr>
    <a:bodyPr/>
    <a:lstStyle/>
    <a:p>
      <a:pPr>
        <a:defRPr sz="1050">
          <a:solidFill>
            <a:srgbClr val="5B7179"/>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Conditional gene-capture F1</c:v>
                </c:pt>
              </c:strCache>
            </c:strRef>
          </c:tx>
          <c:spPr>
            <a:ln w="31750">
              <a:solidFill>
                <a:srgbClr val="028090"/>
              </a:solidFill>
            </a:ln>
          </c:spPr>
          <c:dLbls>
            <c:numFmt formatCode="0.000" sourceLinked="0"/>
            <c:txPr>
              <a:bodyPr/>
              <a:lstStyle/>
              <a:p>
                <a:pPr>
                  <a:defRPr sz="900">
                    <a:solidFill>
                      <a:srgbClr val="5B7179"/>
                    </a:solidFill>
                    <a:latin typeface="Calibri"/>
                  </a:defRPr>
                </a:pPr>
              </a:p>
            </c:txPr>
            <c:dLblPos val="t"/>
            <c:showLegendKey val="0"/>
            <c:showVal val="1"/>
            <c:showCatName val="0"/>
            <c:showSerName val="0"/>
            <c:showPercent val="0"/>
            <c:showBubbleSize val="0"/>
            <c:showLeaderLines val="1"/>
          </c:dLbls>
          <c:cat>
            <c:strRef>
              <c:f>Sheet1!$A$2:$A$6</c:f>
              <c:strCache>
                <c:ptCount val="5"/>
                <c:pt idx="0">
                  <c:v>100%</c:v>
                </c:pt>
                <c:pt idx="1">
                  <c:v>90%</c:v>
                </c:pt>
                <c:pt idx="2">
                  <c:v>70%</c:v>
                </c:pt>
                <c:pt idx="3">
                  <c:v>50%</c:v>
                </c:pt>
                <c:pt idx="4">
                  <c:v>30%</c:v>
                </c:pt>
              </c:strCache>
            </c:strRef>
          </c:cat>
          <c:val>
            <c:numRef>
              <c:f>Sheet1!$B$2:$B$6</c:f>
              <c:numCache>
                <c:formatCode>0.000</c:formatCode>
                <c:ptCount val="5"/>
                <c:pt idx="0">
                  <c:v>0.8068</c:v>
                </c:pt>
                <c:pt idx="1">
                  <c:v>0.807</c:v>
                </c:pt>
                <c:pt idx="2">
                  <c:v>0.8071</c:v>
                </c:pt>
                <c:pt idx="3">
                  <c:v>0.8067</c:v>
                </c:pt>
                <c:pt idx="4">
                  <c:v>0.8052</c:v>
                </c:pt>
              </c:numCache>
            </c:numRef>
          </c:val>
          <c:smooth val="0"/>
        </c:ser>
        <c:ser>
          <c:idx val="1"/>
          <c:order val="1"/>
          <c:tx>
            <c:strRef>
              <c:f>Sheet1!$C$1</c:f>
              <c:strCache>
                <c:ptCount val="1"/>
                <c:pt idx="0">
                  <c:v>Resolve rate (coverage)</c:v>
                </c:pt>
              </c:strCache>
            </c:strRef>
          </c:tx>
          <c:spPr>
            <a:ln w="31750">
              <a:solidFill>
                <a:srgbClr val="E8871A"/>
              </a:solidFill>
            </a:ln>
          </c:spPr>
          <c:dLbls>
            <c:numFmt formatCode="0.000" sourceLinked="0"/>
            <c:txPr>
              <a:bodyPr/>
              <a:lstStyle/>
              <a:p>
                <a:pPr>
                  <a:defRPr sz="900">
                    <a:solidFill>
                      <a:srgbClr val="5B7179"/>
                    </a:solidFill>
                    <a:latin typeface="Calibri"/>
                  </a:defRPr>
                </a:pPr>
              </a:p>
            </c:txPr>
            <c:dLblPos val="t"/>
            <c:showLegendKey val="0"/>
            <c:showVal val="1"/>
            <c:showCatName val="0"/>
            <c:showSerName val="0"/>
            <c:showPercent val="0"/>
            <c:showBubbleSize val="0"/>
            <c:showLeaderLines val="1"/>
          </c:dLbls>
          <c:cat>
            <c:strRef>
              <c:f>Sheet1!$A$2:$A$6</c:f>
              <c:strCache>
                <c:ptCount val="5"/>
                <c:pt idx="0">
                  <c:v>100%</c:v>
                </c:pt>
                <c:pt idx="1">
                  <c:v>90%</c:v>
                </c:pt>
                <c:pt idx="2">
                  <c:v>70%</c:v>
                </c:pt>
                <c:pt idx="3">
                  <c:v>50%</c:v>
                </c:pt>
                <c:pt idx="4">
                  <c:v>30%</c:v>
                </c:pt>
              </c:strCache>
            </c:strRef>
          </c:cat>
          <c:val>
            <c:numRef>
              <c:f>Sheet1!$C$2:$C$6</c:f>
              <c:numCache>
                <c:formatCode>0.000</c:formatCode>
                <c:ptCount val="5"/>
                <c:pt idx="0">
                  <c:v>0.3075</c:v>
                </c:pt>
                <c:pt idx="1">
                  <c:v>0.3081</c:v>
                </c:pt>
                <c:pt idx="2">
                  <c:v>0.3057</c:v>
                </c:pt>
                <c:pt idx="3">
                  <c:v>0.3074</c:v>
                </c:pt>
                <c:pt idx="4">
                  <c:v>0.3069</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max val="1.0"/>
          <c:min val="0.0"/>
        </c:scaling>
        <c:delete val="0"/>
        <c:axPos val="l"/>
        <c:majorGridlines>
          <c:spPr>
            <a:ln w="9525">
              <a:solidFill>
                <a:srgbClr val="DCE6E6"/>
              </a:solidFill>
            </a:ln>
          </c:spPr>
        </c:majorGridlines>
        <c:majorTickMark val="out"/>
        <c:minorTickMark val="none"/>
        <c:tickLblPos val="nextTo"/>
        <c:crossAx val="2118791784"/>
        <c:crosses val="autoZero"/>
      </c:valAx>
    </c:plotArea>
    <c:legend>
      <c:legendPos val="b"/>
      <c:layout/>
      <c:overlay val="0"/>
      <c:txPr>
        <a:bodyPr/>
        <a:lstStyle/>
        <a:p>
          <a:pPr>
            <a:defRPr sz="1100">
              <a:solidFill>
                <a:srgbClr val="10292E"/>
              </a:solidFill>
            </a:defRPr>
          </a:pPr>
        </a:p>
      </c:txPr>
    </c:legend>
    <c:plotVisOnly val="1"/>
    <c:dispBlanksAs val="gap"/>
    <c:showDLblsOverMax val="0"/>
  </c:chart>
  <c:txPr>
    <a:bodyPr/>
    <a:lstStyle/>
    <a:p>
      <a:pPr>
        <a:defRPr sz="1100">
          <a:solidFill>
            <a:srgbClr val="5B7179"/>
          </a:solidFill>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MAG, whole-genome ANI</c:v>
                </c:pt>
              </c:strCache>
            </c:strRef>
          </c:tx>
          <c:spPr>
            <a:ln w="31750">
              <a:solidFill>
                <a:srgbClr val="028090"/>
              </a:solidFill>
            </a:ln>
          </c:spPr>
          <c:cat>
            <c:strRef>
              <c:f>Sheet1!$A$2:$A$15</c:f>
              <c:strCache>
                <c:ptCount val="14"/>
                <c:pt idx="0">
                  <c:v>100%</c:v>
                </c:pt>
                <c:pt idx="1">
                  <c:v>90%</c:v>
                </c:pt>
                <c:pt idx="2">
                  <c:v>70%</c:v>
                </c:pt>
                <c:pt idx="3">
                  <c:v>50%</c:v>
                </c:pt>
                <c:pt idx="4">
                  <c:v>30%</c:v>
                </c:pt>
                <c:pt idx="5">
                  <c:v>25%</c:v>
                </c:pt>
                <c:pt idx="6">
                  <c:v>20%</c:v>
                </c:pt>
                <c:pt idx="7">
                  <c:v>15%</c:v>
                </c:pt>
                <c:pt idx="8">
                  <c:v>10%</c:v>
                </c:pt>
                <c:pt idx="9">
                  <c:v>7%</c:v>
                </c:pt>
                <c:pt idx="10">
                  <c:v>5%</c:v>
                </c:pt>
                <c:pt idx="11">
                  <c:v>3%</c:v>
                </c:pt>
                <c:pt idx="12">
                  <c:v>2%</c:v>
                </c:pt>
                <c:pt idx="13">
                  <c:v>1%</c:v>
                </c:pt>
              </c:strCache>
            </c:strRef>
          </c:cat>
          <c:val>
            <c:numRef>
              <c:f>Sheet1!$B$2:$B$15</c:f>
              <c:numCache>
                <c:formatCode>0.000</c:formatCode>
                <c:ptCount val="14"/>
                <c:pt idx="0">
                  <c:v>0.8136</c:v>
                </c:pt>
                <c:pt idx="1">
                  <c:v>0.8136</c:v>
                </c:pt>
                <c:pt idx="2">
                  <c:v>0.8135</c:v>
                </c:pt>
                <c:pt idx="3">
                  <c:v>0.8121</c:v>
                </c:pt>
                <c:pt idx="4">
                  <c:v>0.8107</c:v>
                </c:pt>
                <c:pt idx="5">
                  <c:v>0.8106</c:v>
                </c:pt>
                <c:pt idx="6">
                  <c:v>0.8114</c:v>
                </c:pt>
                <c:pt idx="7">
                  <c:v>0.8097</c:v>
                </c:pt>
                <c:pt idx="8">
                  <c:v>0.8056</c:v>
                </c:pt>
                <c:pt idx="9">
                  <c:v>0.802</c:v>
                </c:pt>
                <c:pt idx="10">
                  <c:v>0.7962</c:v>
                </c:pt>
                <c:pt idx="11">
                  <c:v>0.7932</c:v>
                </c:pt>
                <c:pt idx="12">
                  <c:v>0.7922</c:v>
                </c:pt>
                <c:pt idx="13">
                  <c:v>0.7806</c:v>
                </c:pt>
              </c:numCache>
            </c:numRef>
          </c:val>
          <c:smooth val="0"/>
        </c:ser>
        <c:ser>
          <c:idx val="1"/>
          <c:order val="1"/>
          <c:tx>
            <c:strRef>
              <c:f>Sheet1!$C$1</c:f>
              <c:strCache>
                <c:ptCount val="1"/>
                <c:pt idx="0">
                  <c:v>Full-length 16S amplicon</c:v>
                </c:pt>
              </c:strCache>
            </c:strRef>
          </c:tx>
          <c:spPr>
            <a:ln w="31750">
              <a:solidFill>
                <a:srgbClr val="E8871A"/>
              </a:solidFill>
            </a:ln>
          </c:spPr>
          <c:cat>
            <c:strRef>
              <c:f>Sheet1!$A$2:$A$15</c:f>
              <c:strCache>
                <c:ptCount val="14"/>
                <c:pt idx="0">
                  <c:v>100%</c:v>
                </c:pt>
                <c:pt idx="1">
                  <c:v>90%</c:v>
                </c:pt>
                <c:pt idx="2">
                  <c:v>70%</c:v>
                </c:pt>
                <c:pt idx="3">
                  <c:v>50%</c:v>
                </c:pt>
                <c:pt idx="4">
                  <c:v>30%</c:v>
                </c:pt>
                <c:pt idx="5">
                  <c:v>25%</c:v>
                </c:pt>
                <c:pt idx="6">
                  <c:v>20%</c:v>
                </c:pt>
                <c:pt idx="7">
                  <c:v>15%</c:v>
                </c:pt>
                <c:pt idx="8">
                  <c:v>10%</c:v>
                </c:pt>
                <c:pt idx="9">
                  <c:v>7%</c:v>
                </c:pt>
                <c:pt idx="10">
                  <c:v>5%</c:v>
                </c:pt>
                <c:pt idx="11">
                  <c:v>3%</c:v>
                </c:pt>
                <c:pt idx="12">
                  <c:v>2%</c:v>
                </c:pt>
                <c:pt idx="13">
                  <c:v>1%</c:v>
                </c:pt>
              </c:strCache>
            </c:strRef>
          </c:cat>
          <c:val>
            <c:numRef>
              <c:f>Sheet1!$C$2:$C$15</c:f>
              <c:numCache>
                <c:formatCode>0.000</c:formatCode>
                <c:ptCount val="14"/>
                <c:pt idx="0">
                  <c:v>0.7092</c:v>
                </c:pt>
                <c:pt idx="1">
                  <c:v>0.7084</c:v>
                </c:pt>
                <c:pt idx="2">
                  <c:v>0.7085</c:v>
                </c:pt>
                <c:pt idx="3">
                  <c:v>0.7087</c:v>
                </c:pt>
                <c:pt idx="4">
                  <c:v>0.7092</c:v>
                </c:pt>
                <c:pt idx="5">
                  <c:v>0.7069</c:v>
                </c:pt>
                <c:pt idx="6">
                  <c:v>0.7095</c:v>
                </c:pt>
                <c:pt idx="7">
                  <c:v>0.7082</c:v>
                </c:pt>
                <c:pt idx="8">
                  <c:v>0.7042</c:v>
                </c:pt>
                <c:pt idx="9">
                  <c:v>0.7034</c:v>
                </c:pt>
                <c:pt idx="10">
                  <c:v>0.7061</c:v>
                </c:pt>
                <c:pt idx="11">
                  <c:v>0.7032</c:v>
                </c:pt>
                <c:pt idx="12">
                  <c:v>0.706</c:v>
                </c:pt>
                <c:pt idx="13">
                  <c:v>0.7009</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max val="0.88"/>
          <c:min val="0.6"/>
        </c:scaling>
        <c:delete val="0"/>
        <c:axPos val="l"/>
        <c:majorGridlines>
          <c:spPr>
            <a:ln w="9525">
              <a:solidFill>
                <a:srgbClr val="DCE6E6"/>
              </a:solidFill>
            </a:ln>
          </c:spPr>
        </c:majorGridlines>
        <c:majorTickMark val="out"/>
        <c:minorTickMark val="none"/>
        <c:tickLblPos val="nextTo"/>
        <c:crossAx val="2118791784"/>
        <c:crosses val="autoZero"/>
      </c:valAx>
    </c:plotArea>
    <c:legend>
      <c:legendPos val="b"/>
      <c:layout/>
      <c:overlay val="0"/>
      <c:txPr>
        <a:bodyPr/>
        <a:lstStyle/>
        <a:p>
          <a:pPr>
            <a:defRPr sz="1100">
              <a:solidFill>
                <a:srgbClr val="10292E"/>
              </a:solidFill>
            </a:defRPr>
          </a:pPr>
        </a:p>
      </c:txPr>
    </c:legend>
    <c:plotVisOnly val="1"/>
    <c:dispBlanksAs val="gap"/>
    <c:showDLblsOverMax val="0"/>
  </c:chart>
  <c:txPr>
    <a:bodyPr/>
    <a:lstStyle/>
    <a:p>
      <a:pPr>
        <a:defRPr sz="1100">
          <a:solidFill>
            <a:srgbClr val="5B7179"/>
          </a:solidFill>
          <a:latin typeface="Calibr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Share with a qualifying hit</c:v>
                </c:pt>
              </c:strCache>
            </c:strRef>
          </c:tx>
          <c:spPr>
            <a:solidFill>
              <a:srgbClr val="028090"/>
            </a:solidFill>
          </c:spPr>
          <c:dLbls>
            <c:numFmt formatCode="0.000" sourceLinked="0"/>
            <c:txPr>
              <a:bodyPr/>
              <a:lstStyle/>
              <a:p>
                <a:pPr>
                  <a:defRPr sz="900">
                    <a:solidFill>
                      <a:srgbClr val="5B7179"/>
                    </a:solidFill>
                    <a:latin typeface="Calibri"/>
                  </a:defRPr>
                </a:pPr>
              </a:p>
            </c:txPr>
            <c:dLblPos val="outEnd"/>
            <c:showLegendKey val="0"/>
            <c:showVal val="1"/>
            <c:showCatName val="0"/>
            <c:showSerName val="0"/>
            <c:showPercent val="0"/>
            <c:showBubbleSize val="0"/>
            <c:showLeaderLines val="1"/>
          </c:dLbls>
          <c:cat>
            <c:strRef>
              <c:f>Sheet1!$A$2:$A$7</c:f>
              <c:strCache>
                <c:ptCount val="6"/>
                <c:pt idx="0">
                  <c:v>any surviving hit at all (ceiling)</c:v>
                </c:pt>
                <c:pt idx="1">
                  <c:v>both relaxed — ANI ≥ 80, AF ≥ 2%</c:v>
                </c:pt>
                <c:pt idx="2">
                  <c:v>AF gate 15% → 2%</c:v>
                </c:pt>
                <c:pt idx="3">
                  <c:v>AF gate 15% → 5%</c:v>
                </c:pt>
                <c:pt idx="4">
                  <c:v>ANI floor 83 → 0</c:v>
                </c:pt>
                <c:pt idx="5">
                  <c:v>as shipped — ANI ≥ 83, AF ≥ 15%</c:v>
                </c:pt>
              </c:strCache>
            </c:strRef>
          </c:cat>
          <c:val>
            <c:numRef>
              <c:f>Sheet1!$B$2:$B$7</c:f>
              <c:numCache>
                <c:formatCode>0.000</c:formatCode>
                <c:ptCount val="6"/>
                <c:pt idx="0">
                  <c:v>0.655</c:v>
                </c:pt>
                <c:pt idx="1">
                  <c:v>0.567</c:v>
                </c:pt>
                <c:pt idx="2">
                  <c:v>0.452</c:v>
                </c:pt>
                <c:pt idx="3">
                  <c:v>0.379</c:v>
                </c:pt>
                <c:pt idx="4">
                  <c:v>0.316</c:v>
                </c:pt>
                <c:pt idx="5">
                  <c:v>0.311</c:v>
                </c:pt>
              </c:numCache>
            </c:numRef>
          </c:val>
        </c:ser>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max val="0.72"/>
          <c:min val="0.0"/>
        </c:scaling>
        <c:delete val="0"/>
        <c:axPos val="b"/>
        <c:majorGridlines>
          <c:spPr>
            <a:ln w="9525">
              <a:solidFill>
                <a:srgbClr val="DCE6E6"/>
              </a:solidFill>
            </a:ln>
          </c:spPr>
        </c:majorGridlines>
        <c:majorTickMark val="out"/>
        <c:minorTickMark val="none"/>
        <c:tickLblPos val="nextTo"/>
        <c:crossAx val="-2068027336"/>
        <c:crosses val="autoZero"/>
      </c:valAx>
    </c:plotArea>
    <c:dispBlanksAs val="gap"/>
  </c:chart>
  <c:txPr>
    <a:bodyPr/>
    <a:lstStyle/>
    <a:p>
      <a:pPr>
        <a:defRPr sz="1050">
          <a:solidFill>
            <a:srgbClr val="5B7179"/>
          </a:solidFill>
          <a:latin typeface="Calibri"/>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Taxonomy-stratified</c:v>
                </c:pt>
              </c:strCache>
            </c:strRef>
          </c:tx>
          <c:spPr>
            <a:solidFill>
              <a:srgbClr val="028090"/>
            </a:solidFill>
          </c:spPr>
          <c:cat>
            <c:strRef>
              <c:f>Sheet1!$A$2:$A$9</c:f>
              <c:strCache>
                <c:ptCount val="8"/>
                <c:pt idx="0">
                  <c:v>Full-length</c:v>
                </c:pt>
                <c:pt idx="1">
                  <c:v>V1–V2</c:v>
                </c:pt>
                <c:pt idx="2">
                  <c:v>V1–V3</c:v>
                </c:pt>
                <c:pt idx="3">
                  <c:v>V3–V4</c:v>
                </c:pt>
                <c:pt idx="4">
                  <c:v>V4</c:v>
                </c:pt>
                <c:pt idx="5">
                  <c:v>V4–V5</c:v>
                </c:pt>
                <c:pt idx="6">
                  <c:v>V4–V5 944R</c:v>
                </c:pt>
                <c:pt idx="7">
                  <c:v>V7–V9</c:v>
                </c:pt>
              </c:strCache>
            </c:strRef>
          </c:cat>
          <c:val>
            <c:numRef>
              <c:f>Sheet1!$B$2:$B$9</c:f>
              <c:numCache>
                <c:formatCode>0.00</c:formatCode>
                <c:ptCount val="8"/>
                <c:pt idx="0">
                  <c:v>0.6449884824013378</c:v>
                </c:pt>
                <c:pt idx="1">
                  <c:v>0.6498147659307936</c:v>
                </c:pt>
                <c:pt idx="2">
                  <c:v>0.6493290061419105</c:v>
                </c:pt>
                <c:pt idx="3">
                  <c:v>0.5976849441632452</c:v>
                </c:pt>
                <c:pt idx="4">
                  <c:v>0.5850248849258205</c:v>
                </c:pt>
                <c:pt idx="5">
                  <c:v>0.5903263084591241</c:v>
                </c:pt>
                <c:pt idx="6">
                  <c:v>0.593568072896616</c:v>
                </c:pt>
                <c:pt idx="7">
                  <c:v>0.59857093698692</c:v>
                </c:pt>
              </c:numCache>
            </c:numRef>
          </c:val>
        </c:ser>
        <c:ser>
          <c:idx val="1"/>
          <c:order val="1"/>
          <c:tx>
            <c:strRef>
              <c:f>Sheet1!$C$1</c:f>
              <c:strCache>
                <c:ptCount val="1"/>
                <c:pt idx="0">
                  <c:v>k-means</c:v>
                </c:pt>
              </c:strCache>
            </c:strRef>
          </c:tx>
          <c:spPr>
            <a:solidFill>
              <a:srgbClr val="E8871A"/>
            </a:solidFill>
          </c:spPr>
          <c:cat>
            <c:strRef>
              <c:f>Sheet1!$A$2:$A$9</c:f>
              <c:strCache>
                <c:ptCount val="8"/>
                <c:pt idx="0">
                  <c:v>Full-length</c:v>
                </c:pt>
                <c:pt idx="1">
                  <c:v>V1–V2</c:v>
                </c:pt>
                <c:pt idx="2">
                  <c:v>V1–V3</c:v>
                </c:pt>
                <c:pt idx="3">
                  <c:v>V3–V4</c:v>
                </c:pt>
                <c:pt idx="4">
                  <c:v>V4</c:v>
                </c:pt>
                <c:pt idx="5">
                  <c:v>V4–V5</c:v>
                </c:pt>
                <c:pt idx="6">
                  <c:v>V4–V5 944R</c:v>
                </c:pt>
                <c:pt idx="7">
                  <c:v>V7–V9</c:v>
                </c:pt>
              </c:strCache>
            </c:strRef>
          </c:cat>
          <c:val>
            <c:numRef>
              <c:f>Sheet1!$C$2:$C$9</c:f>
              <c:numCache>
                <c:formatCode>0.00</c:formatCode>
                <c:ptCount val="8"/>
                <c:pt idx="0">
                  <c:v>0.6428211622027478</c:v>
                </c:pt>
                <c:pt idx="1">
                  <c:v>0.6401445661133603</c:v>
                </c:pt>
                <c:pt idx="2">
                  <c:v>0.6429100392380583</c:v>
                </c:pt>
                <c:pt idx="3">
                  <c:v>0.5915583417294901</c:v>
                </c:pt>
                <c:pt idx="4">
                  <c:v>0.5628526048184671</c:v>
                </c:pt>
                <c:pt idx="5">
                  <c:v>0.5738559495201965</c:v>
                </c:pt>
                <c:pt idx="6">
                  <c:v>0.5812972921453693</c:v>
                </c:pt>
                <c:pt idx="7">
                  <c:v>0.578824738643992</c:v>
                </c:pt>
              </c:numCache>
            </c:numRef>
          </c:val>
        </c:ser>
        <c:ser>
          <c:idx val="2"/>
          <c:order val="2"/>
          <c:tx>
            <c:strRef>
              <c:f>Sheet1!$D$1</c:f>
              <c:strCache>
                <c:ptCount val="1"/>
                <c:pt idx="0">
                  <c:v>Uniform random</c:v>
                </c:pt>
              </c:strCache>
            </c:strRef>
          </c:tx>
          <c:spPr>
            <a:solidFill>
              <a:srgbClr val="00A896"/>
            </a:solidFill>
          </c:spPr>
          <c:cat>
            <c:strRef>
              <c:f>Sheet1!$A$2:$A$9</c:f>
              <c:strCache>
                <c:ptCount val="8"/>
                <c:pt idx="0">
                  <c:v>Full-length</c:v>
                </c:pt>
                <c:pt idx="1">
                  <c:v>V1–V2</c:v>
                </c:pt>
                <c:pt idx="2">
                  <c:v>V1–V3</c:v>
                </c:pt>
                <c:pt idx="3">
                  <c:v>V3–V4</c:v>
                </c:pt>
                <c:pt idx="4">
                  <c:v>V4</c:v>
                </c:pt>
                <c:pt idx="5">
                  <c:v>V4–V5</c:v>
                </c:pt>
                <c:pt idx="6">
                  <c:v>V4–V5 944R</c:v>
                </c:pt>
                <c:pt idx="7">
                  <c:v>V7–V9</c:v>
                </c:pt>
              </c:strCache>
            </c:strRef>
          </c:cat>
          <c:val>
            <c:numRef>
              <c:f>Sheet1!$D$2:$D$9</c:f>
              <c:numCache>
                <c:formatCode>0.00</c:formatCode>
                <c:ptCount val="8"/>
                <c:pt idx="0">
                  <c:v>0.640336582200654</c:v>
                </c:pt>
                <c:pt idx="1">
                  <c:v>0.6354066600185744</c:v>
                </c:pt>
                <c:pt idx="2">
                  <c:v>0.6407237394157305</c:v>
                </c:pt>
                <c:pt idx="3">
                  <c:v>0.5871296469125683</c:v>
                </c:pt>
                <c:pt idx="4">
                  <c:v>0.5604463196176226</c:v>
                </c:pt>
                <c:pt idx="5">
                  <c:v>0.5717877391387822</c:v>
                </c:pt>
                <c:pt idx="6">
                  <c:v>0.5775551426436781</c:v>
                </c:pt>
                <c:pt idx="7">
                  <c:v>0.5714568750240316</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max val="0.8"/>
          <c:min val="0.0"/>
        </c:scaling>
        <c:delete val="0"/>
        <c:axPos val="l"/>
        <c:majorGridlines>
          <c:spPr>
            <a:ln w="9525">
              <a:solidFill>
                <a:srgbClr val="DCE6E6"/>
              </a:solidFill>
            </a:ln>
          </c:spPr>
        </c:majorGridlines>
        <c:majorTickMark val="out"/>
        <c:minorTickMark val="none"/>
        <c:tickLblPos val="nextTo"/>
        <c:crossAx val="-2068027336"/>
        <c:crosses val="autoZero"/>
      </c:valAx>
    </c:plotArea>
    <c:legend>
      <c:legendPos val="b"/>
      <c:overlay val="0"/>
      <c:txPr>
        <a:bodyPr/>
        <a:lstStyle/>
        <a:p>
          <a:pPr>
            <a:defRPr sz="1100">
              <a:solidFill>
                <a:srgbClr val="10292E"/>
              </a:solidFill>
            </a:defRPr>
          </a:pPr>
        </a:p>
      </c:txPr>
    </c:legend>
    <c:dispBlanksAs val="gap"/>
  </c:chart>
  <c:txPr>
    <a:bodyPr/>
    <a:lstStyle/>
    <a:p>
      <a:pPr>
        <a:defRPr sz="1050">
          <a:solidFill>
            <a:srgbClr val="5B7179"/>
          </a:solidFill>
          <a:latin typeface="Calibri"/>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Taxonomy-stratified</c:v>
                </c:pt>
              </c:strCache>
            </c:strRef>
          </c:tx>
          <c:spPr>
            <a:solidFill>
              <a:srgbClr val="028090"/>
            </a:solidFill>
          </c:spPr>
          <c:cat>
            <c:strRef>
              <c:f>Sheet1!$A$2:$A$9</c:f>
              <c:strCache>
                <c:ptCount val="8"/>
                <c:pt idx="0">
                  <c:v>Full-length</c:v>
                </c:pt>
                <c:pt idx="1">
                  <c:v>V1–V2</c:v>
                </c:pt>
                <c:pt idx="2">
                  <c:v>V1–V3</c:v>
                </c:pt>
                <c:pt idx="3">
                  <c:v>V3–V4</c:v>
                </c:pt>
                <c:pt idx="4">
                  <c:v>V4</c:v>
                </c:pt>
                <c:pt idx="5">
                  <c:v>V4–V5</c:v>
                </c:pt>
                <c:pt idx="6">
                  <c:v>V4–V5 944R</c:v>
                </c:pt>
                <c:pt idx="7">
                  <c:v>V7–V9</c:v>
                </c:pt>
              </c:strCache>
            </c:strRef>
          </c:cat>
          <c:val>
            <c:numRef>
              <c:f>Sheet1!$B$2:$B$9</c:f>
              <c:numCache>
                <c:formatCode>0.00</c:formatCode>
                <c:ptCount val="8"/>
                <c:pt idx="0">
                  <c:v>0.6292428773010931</c:v>
                </c:pt>
                <c:pt idx="1">
                  <c:v>0.5933768941532203</c:v>
                </c:pt>
                <c:pt idx="2">
                  <c:v>0.6165430453520959</c:v>
                </c:pt>
                <c:pt idx="3">
                  <c:v>0.5383735881298486</c:v>
                </c:pt>
                <c:pt idx="4">
                  <c:v>0.48142545937652353</c:v>
                </c:pt>
                <c:pt idx="5">
                  <c:v>0.48366640837946834</c:v>
                </c:pt>
                <c:pt idx="6">
                  <c:v>0.4871054935499214</c:v>
                </c:pt>
                <c:pt idx="7">
                  <c:v>0.5150572364487426</c:v>
                </c:pt>
              </c:numCache>
            </c:numRef>
          </c:val>
        </c:ser>
        <c:ser>
          <c:idx val="1"/>
          <c:order val="1"/>
          <c:tx>
            <c:strRef>
              <c:f>Sheet1!$C$1</c:f>
              <c:strCache>
                <c:ptCount val="1"/>
                <c:pt idx="0">
                  <c:v>k-means</c:v>
                </c:pt>
              </c:strCache>
            </c:strRef>
          </c:tx>
          <c:spPr>
            <a:solidFill>
              <a:srgbClr val="E8871A"/>
            </a:solidFill>
          </c:spPr>
          <c:cat>
            <c:strRef>
              <c:f>Sheet1!$A$2:$A$9</c:f>
              <c:strCache>
                <c:ptCount val="8"/>
                <c:pt idx="0">
                  <c:v>Full-length</c:v>
                </c:pt>
                <c:pt idx="1">
                  <c:v>V1–V2</c:v>
                </c:pt>
                <c:pt idx="2">
                  <c:v>V1–V3</c:v>
                </c:pt>
                <c:pt idx="3">
                  <c:v>V3–V4</c:v>
                </c:pt>
                <c:pt idx="4">
                  <c:v>V4</c:v>
                </c:pt>
                <c:pt idx="5">
                  <c:v>V4–V5</c:v>
                </c:pt>
                <c:pt idx="6">
                  <c:v>V4–V5 944R</c:v>
                </c:pt>
                <c:pt idx="7">
                  <c:v>V7–V9</c:v>
                </c:pt>
              </c:strCache>
            </c:strRef>
          </c:cat>
          <c:val>
            <c:numRef>
              <c:f>Sheet1!$C$2:$C$9</c:f>
              <c:numCache>
                <c:formatCode>0.00</c:formatCode>
                <c:ptCount val="8"/>
                <c:pt idx="0">
                  <c:v>0.3756821584979872</c:v>
                </c:pt>
                <c:pt idx="1">
                  <c:v>0.3550503559912076</c:v>
                </c:pt>
                <c:pt idx="2">
                  <c:v>0.3777031273302313</c:v>
                </c:pt>
                <c:pt idx="3">
                  <c:v>0.29177083793436337</c:v>
                </c:pt>
                <c:pt idx="4">
                  <c:v>0.2514040509141043</c:v>
                </c:pt>
                <c:pt idx="5">
                  <c:v>0.26487057028946126</c:v>
                </c:pt>
                <c:pt idx="6">
                  <c:v>0.26316821448987104</c:v>
                </c:pt>
                <c:pt idx="7">
                  <c:v>0.28098782554750595</c:v>
                </c:pt>
              </c:numCache>
            </c:numRef>
          </c:val>
        </c:ser>
        <c:ser>
          <c:idx val="2"/>
          <c:order val="2"/>
          <c:tx>
            <c:strRef>
              <c:f>Sheet1!$D$1</c:f>
              <c:strCache>
                <c:ptCount val="1"/>
                <c:pt idx="0">
                  <c:v>Uniform random</c:v>
                </c:pt>
              </c:strCache>
            </c:strRef>
          </c:tx>
          <c:spPr>
            <a:solidFill>
              <a:srgbClr val="00A896"/>
            </a:solidFill>
          </c:spPr>
          <c:cat>
            <c:strRef>
              <c:f>Sheet1!$A$2:$A$9</c:f>
              <c:strCache>
                <c:ptCount val="8"/>
                <c:pt idx="0">
                  <c:v>Full-length</c:v>
                </c:pt>
                <c:pt idx="1">
                  <c:v>V1–V2</c:v>
                </c:pt>
                <c:pt idx="2">
                  <c:v>V1–V3</c:v>
                </c:pt>
                <c:pt idx="3">
                  <c:v>V3–V4</c:v>
                </c:pt>
                <c:pt idx="4">
                  <c:v>V4</c:v>
                </c:pt>
                <c:pt idx="5">
                  <c:v>V4–V5</c:v>
                </c:pt>
                <c:pt idx="6">
                  <c:v>V4–V5 944R</c:v>
                </c:pt>
                <c:pt idx="7">
                  <c:v>V7–V9</c:v>
                </c:pt>
              </c:strCache>
            </c:strRef>
          </c:cat>
          <c:val>
            <c:numRef>
              <c:f>Sheet1!$D$2:$D$9</c:f>
              <c:numCache>
                <c:formatCode>0.00</c:formatCode>
                <c:ptCount val="8"/>
                <c:pt idx="0">
                  <c:v>0.3218042598187721</c:v>
                </c:pt>
                <c:pt idx="1">
                  <c:v>0.32698167115475657</c:v>
                </c:pt>
                <c:pt idx="2">
                  <c:v>0.3217850130535217</c:v>
                </c:pt>
                <c:pt idx="3">
                  <c:v>0.2468475340277863</c:v>
                </c:pt>
                <c:pt idx="4">
                  <c:v>0.21036643728810622</c:v>
                </c:pt>
                <c:pt idx="5">
                  <c:v>0.2181215634870283</c:v>
                </c:pt>
                <c:pt idx="6">
                  <c:v>0.2185952423282107</c:v>
                </c:pt>
                <c:pt idx="7">
                  <c:v>0.2189026044974912</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max val="0.8"/>
          <c:min val="0.0"/>
        </c:scaling>
        <c:delete val="0"/>
        <c:axPos val="l"/>
        <c:majorGridlines>
          <c:spPr>
            <a:ln w="9525">
              <a:solidFill>
                <a:srgbClr val="DCE6E6"/>
              </a:solidFill>
            </a:ln>
          </c:spPr>
        </c:majorGridlines>
        <c:majorTickMark val="out"/>
        <c:minorTickMark val="none"/>
        <c:tickLblPos val="nextTo"/>
        <c:crossAx val="-2068027336"/>
        <c:crosses val="autoZero"/>
      </c:valAx>
    </c:plotArea>
    <c:legend>
      <c:legendPos val="b"/>
      <c:overlay val="0"/>
      <c:txPr>
        <a:bodyPr/>
        <a:lstStyle/>
        <a:p>
          <a:pPr>
            <a:defRPr sz="1100">
              <a:solidFill>
                <a:srgbClr val="10292E"/>
              </a:solidFill>
            </a:defRPr>
          </a:pPr>
        </a:p>
      </c:txPr>
    </c:legend>
    <c:dispBlanksAs val="gap"/>
  </c:chart>
  <c:txPr>
    <a:bodyPr/>
    <a:lstStyle/>
    <a:p>
      <a:pPr>
        <a:defRPr sz="1050">
          <a:solidFill>
            <a:srgbClr val="5B7179"/>
          </a:solidFill>
          <a:latin typeface="Calibri"/>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Taxonomy-stratified</c:v>
                </c:pt>
              </c:strCache>
            </c:strRef>
          </c:tx>
          <c:spPr>
            <a:solidFill>
              <a:srgbClr val="028090"/>
            </a:solidFill>
          </c:spPr>
          <c:dLbls>
            <c:numFmt formatCode="0.00" sourceLinked="0"/>
            <c:txPr>
              <a:bodyPr/>
              <a:lstStyle/>
              <a:p>
                <a:pPr>
                  <a:defRPr sz="950">
                    <a:solidFill>
                      <a:srgbClr val="5B7179"/>
                    </a:solidFill>
                    <a:latin typeface="Calibri"/>
                  </a:defRPr>
                </a:pPr>
              </a:p>
            </c:txPr>
            <c:dLblPos val="outEnd"/>
            <c:showLegendKey val="0"/>
            <c:showVal val="1"/>
            <c:showCatName val="0"/>
            <c:showSerName val="0"/>
            <c:showPercent val="0"/>
            <c:showBubbleSize val="0"/>
            <c:showLeaderLines val="1"/>
          </c:dLbls>
          <c:cat>
            <c:strRef>
              <c:f>Sheet1!$A$2:$A$3</c:f>
              <c:strCache>
                <c:ptCount val="2"/>
                <c:pt idx="0">
                  <c:v>16S V4 amplicon, genus coverage</c:v>
                </c:pt>
                <c:pt idx="1">
                  <c:v>Whole-genome MAG vs GTDB, resolve rate</c:v>
                </c:pt>
              </c:strCache>
            </c:strRef>
          </c:cat>
          <c:val>
            <c:numRef>
              <c:f>Sheet1!$B$2:$B$3</c:f>
              <c:numCache>
                <c:formatCode>0.00</c:formatCode>
                <c:ptCount val="2"/>
                <c:pt idx="0">
                  <c:v>0.48142545937652353</c:v>
                </c:pt>
                <c:pt idx="1">
                  <c:v>0.5768245170258804</c:v>
                </c:pt>
              </c:numCache>
            </c:numRef>
          </c:val>
        </c:ser>
        <c:ser>
          <c:idx val="1"/>
          <c:order val="1"/>
          <c:tx>
            <c:strRef>
              <c:f>Sheet1!$C$1</c:f>
              <c:strCache>
                <c:ptCount val="1"/>
                <c:pt idx="0">
                  <c:v>k-means</c:v>
                </c:pt>
              </c:strCache>
            </c:strRef>
          </c:tx>
          <c:spPr>
            <a:solidFill>
              <a:srgbClr val="E8871A"/>
            </a:solidFill>
          </c:spPr>
          <c:dLbls>
            <c:numFmt formatCode="0.00" sourceLinked="0"/>
            <c:txPr>
              <a:bodyPr/>
              <a:lstStyle/>
              <a:p>
                <a:pPr>
                  <a:defRPr sz="950">
                    <a:solidFill>
                      <a:srgbClr val="5B7179"/>
                    </a:solidFill>
                    <a:latin typeface="Calibri"/>
                  </a:defRPr>
                </a:pPr>
              </a:p>
            </c:txPr>
            <c:dLblPos val="outEnd"/>
            <c:showLegendKey val="0"/>
            <c:showVal val="1"/>
            <c:showCatName val="0"/>
            <c:showSerName val="0"/>
            <c:showPercent val="0"/>
            <c:showBubbleSize val="0"/>
            <c:showLeaderLines val="1"/>
          </c:dLbls>
          <c:cat>
            <c:strRef>
              <c:f>Sheet1!$A$2:$A$3</c:f>
              <c:strCache>
                <c:ptCount val="2"/>
                <c:pt idx="0">
                  <c:v>16S V4 amplicon, genus coverage</c:v>
                </c:pt>
                <c:pt idx="1">
                  <c:v>Whole-genome MAG vs GTDB, resolve rate</c:v>
                </c:pt>
              </c:strCache>
            </c:strRef>
          </c:cat>
          <c:val>
            <c:numRef>
              <c:f>Sheet1!$C$2:$C$3</c:f>
              <c:numCache>
                <c:formatCode>0.00</c:formatCode>
                <c:ptCount val="2"/>
                <c:pt idx="0">
                  <c:v>0.2514040509141043</c:v>
                </c:pt>
                <c:pt idx="1">
                  <c:v>0.675383203051457</c:v>
                </c:pt>
              </c:numCache>
            </c:numRef>
          </c:val>
        </c:ser>
        <c:ser>
          <c:idx val="2"/>
          <c:order val="2"/>
          <c:tx>
            <c:strRef>
              <c:f>Sheet1!$D$1</c:f>
              <c:strCache>
                <c:ptCount val="1"/>
                <c:pt idx="0">
                  <c:v>Uniform random</c:v>
                </c:pt>
              </c:strCache>
            </c:strRef>
          </c:tx>
          <c:spPr>
            <a:solidFill>
              <a:srgbClr val="00A896"/>
            </a:solidFill>
          </c:spPr>
          <c:dLbls>
            <c:numFmt formatCode="0.00" sourceLinked="0"/>
            <c:txPr>
              <a:bodyPr/>
              <a:lstStyle/>
              <a:p>
                <a:pPr>
                  <a:defRPr sz="950">
                    <a:solidFill>
                      <a:srgbClr val="5B7179"/>
                    </a:solidFill>
                    <a:latin typeface="Calibri"/>
                  </a:defRPr>
                </a:pPr>
              </a:p>
            </c:txPr>
            <c:dLblPos val="outEnd"/>
            <c:showLegendKey val="0"/>
            <c:showVal val="1"/>
            <c:showCatName val="0"/>
            <c:showSerName val="0"/>
            <c:showPercent val="0"/>
            <c:showBubbleSize val="0"/>
            <c:showLeaderLines val="1"/>
          </c:dLbls>
          <c:cat>
            <c:strRef>
              <c:f>Sheet1!$A$2:$A$3</c:f>
              <c:strCache>
                <c:ptCount val="2"/>
                <c:pt idx="0">
                  <c:v>16S V4 amplicon, genus coverage</c:v>
                </c:pt>
                <c:pt idx="1">
                  <c:v>Whole-genome MAG vs GTDB, resolve rate</c:v>
                </c:pt>
              </c:strCache>
            </c:strRef>
          </c:cat>
          <c:val>
            <c:numRef>
              <c:f>Sheet1!$D$2:$D$3</c:f>
              <c:numCache>
                <c:formatCode>0.00</c:formatCode>
                <c:ptCount val="2"/>
                <c:pt idx="0">
                  <c:v>0.21036643728810622</c:v>
                </c:pt>
                <c:pt idx="1">
                  <c:v>0.7153385075515551</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max val="0.85"/>
          <c:min val="0.0"/>
        </c:scaling>
        <c:delete val="0"/>
        <c:axPos val="l"/>
        <c:majorGridlines>
          <c:spPr>
            <a:ln w="9525">
              <a:solidFill>
                <a:srgbClr val="DCE6E6"/>
              </a:solidFill>
            </a:ln>
          </c:spPr>
        </c:majorGridlines>
        <c:majorTickMark val="out"/>
        <c:minorTickMark val="none"/>
        <c:tickLblPos val="nextTo"/>
        <c:crossAx val="-2068027336"/>
        <c:crosses val="autoZero"/>
      </c:valAx>
    </c:plotArea>
    <c:legend>
      <c:legendPos val="b"/>
      <c:overlay val="0"/>
      <c:txPr>
        <a:bodyPr/>
        <a:lstStyle/>
        <a:p>
          <a:pPr>
            <a:defRPr sz="1100">
              <a:solidFill>
                <a:srgbClr val="10292E"/>
              </a:solidFill>
            </a:defRPr>
          </a:pPr>
        </a:p>
      </c:txPr>
    </c:legend>
    <c:dispBlanksAs val="gap"/>
  </c:chart>
  <c:txPr>
    <a:bodyPr/>
    <a:lstStyle/>
    <a:p>
      <a:pPr>
        <a:defRPr sz="1050">
          <a:solidFill>
            <a:srgbClr val="5B7179"/>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headline since the last update: the controlled benchmark the dialect slide called for reverses our earlier result. PICRUSt2 is more accurate at EC level, beyond the effect size we fixed in advance, at both genus and family rank; prFBA forced to answer only ties copying the nearest reference. At the phenotype level the mean ATP score shows no difference at n = 755 — a null, not an equivalence — though PICRUSt2 is ahead on two of 22 media. A third, random panel shows the headline self-exclusion coverage is a property of the stratified panel at record depth 20, and two claim-level audits found and corrected 161 defects in the manuscript.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uncertainty in mapping an amplicon to a genome is real information. prFBA represents it instead of discarding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control, not a result. It says the measuring stick itself is only accurate to about 0.69 Jaccard when comparing across the two annotation systems.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fair cross-method ranking needs a truth neither system authors. That is exactly what the shared-reference k-fold benchmark does, and it is why its result is credible against our own interest.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experiment the dialect slide said was needed. It was run, and the result does not favour us — which is why it is worth showing.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EC-level loss is real and the manuscript reports it. The phenotype assay can only score genomes prFBA answers, where the EC gap is small. There, over the 755 ATP-informative genomes, we cannot detect a mean difference — a null result, on an assay that resolves 22 media — though the per-medium tests favour PICRUSt2 on two of them.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reasons this arm exists: most real MAGs carry no usable 16S at all, and the proposal asked at what completeness a MAG stops being worth more than an amplicon. The answer to the second is that nothing moves between 100% and 30%.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1% completeness — 50x below MIMAG's medium-quality floor, not a MAG any study would keep — whole-genome ANI still beats a full-length amplicon.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Density ranking is stable in k — Spearman 0.964 between the 21st and 50th nearest neighbour. Panel C is the uniform-random panel; all 10,000 of its organisms sit on the clusterable set. The manuscript's figure (F16) is still the two-panel version.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follow-up is nearly free and changes headline numbers: the depth re-run. Calibrating the weighting is the other gating experiment, because nothing reported yet tests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 Id="rId3" Type="http://schemas.openxmlformats.org/officeDocument/2006/relationships/notesSlide" Target="../notesSlides/notesSlide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 Id="rId3" Type="http://schemas.openxmlformats.org/officeDocument/2006/relationships/notesSlide" Target="../notesSlides/notesSlide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5343D"/>
        </a:solidFill>
        <a:effectLst/>
      </p:bgPr>
    </p:bg>
    <p:spTree>
      <p:nvGrpSpPr>
        <p:cNvPr id="1" name=""/>
        <p:cNvGrpSpPr/>
        <p:nvPr/>
      </p:nvGrpSpPr>
      <p:grpSpPr/>
      <p:sp>
        <p:nvSpPr>
          <p:cNvPr id="2" name="TextBox 1"/>
          <p:cNvSpPr txBox="1"/>
          <p:nvPr/>
        </p:nvSpPr>
        <p:spPr>
          <a:xfrm>
            <a:off x="548640" y="1828800"/>
            <a:ext cx="10424160" cy="2194560"/>
          </a:xfrm>
          <a:prstGeom prst="rect">
            <a:avLst/>
          </a:prstGeom>
          <a:noFill/>
        </p:spPr>
        <p:txBody>
          <a:bodyPr wrap="square" lIns="0" rIns="0" tIns="0" bIns="0" anchor="t">
            <a:spAutoFit/>
          </a:bodyPr>
          <a:lstStyle/>
          <a:p>
            <a:pPr algn="l">
              <a:spcAft>
                <a:spcPts val="400"/>
              </a:spcAft>
            </a:pPr>
            <a:r>
              <a:rPr sz="5800" b="1" i="0">
                <a:solidFill>
                  <a:srgbClr val="FFFFFF"/>
                </a:solidFill>
                <a:latin typeface="Cambria"/>
              </a:rPr>
              <a:t>prFBA</a:t>
            </a:r>
          </a:p>
          <a:p>
            <a:pPr algn="l">
              <a:spcAft>
                <a:spcPts val="1600"/>
              </a:spcAft>
            </a:pPr>
            <a:r>
              <a:rPr sz="2200" b="0" i="0">
                <a:solidFill>
                  <a:srgbClr val="02C39A"/>
                </a:solidFill>
                <a:latin typeface="Cambria"/>
              </a:rPr>
              <a:t>Probabilistic flux balance analysis for amplicon-resolved metabolic modeling</a:t>
            </a:r>
          </a:p>
          <a:p>
            <a:pPr algn="l">
              <a:spcAft>
                <a:spcPts val="600"/>
              </a:spcAft>
            </a:pPr>
            <a:r>
              <a:rPr sz="1500" b="0" i="0">
                <a:solidFill>
                  <a:srgbClr val="FFFFFF"/>
                </a:solidFill>
                <a:latin typeface="Calibri"/>
              </a:rPr>
              <a:t>Project update — a controlled comparison that reverses our own ranking at the gene level, a phenotype assay that barely separates the methods, and a third panel that shows which results replicate</a:t>
            </a:r>
          </a:p>
        </p:txBody>
      </p:sp>
      <p:sp>
        <p:nvSpPr>
          <p:cNvPr id="3" name="TextBox 2"/>
          <p:cNvSpPr txBox="1"/>
          <p:nvPr/>
        </p:nvSpPr>
        <p:spPr>
          <a:xfrm>
            <a:off x="548640" y="5760720"/>
            <a:ext cx="10424160" cy="640080"/>
          </a:xfrm>
          <a:prstGeom prst="rect">
            <a:avLst/>
          </a:prstGeom>
          <a:noFill/>
        </p:spPr>
        <p:txBody>
          <a:bodyPr wrap="square" lIns="0" rIns="0" tIns="0" bIns="0" anchor="t">
            <a:spAutoFit/>
          </a:bodyPr>
          <a:lstStyle/>
          <a:p>
            <a:pPr algn="l">
              <a:spcAft>
                <a:spcPts val="0"/>
              </a:spcAft>
            </a:pPr>
            <a:r>
              <a:rPr sz="1300" b="0" i="0">
                <a:solidFill>
                  <a:srgbClr val="02C39A"/>
                </a:solidFill>
                <a:latin typeface="Calibri"/>
              </a:rPr>
              <a:t>Andrew Freiburger  ·  Tyo &amp; Henry labs  ·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1094415" cy="777240"/>
          </a:xfrm>
          <a:prstGeom prst="rect">
            <a:avLst/>
          </a:prstGeom>
          <a:noFill/>
        </p:spPr>
        <p:txBody>
          <a:bodyPr wrap="square" lIns="0" rIns="0" tIns="0" bIns="0" anchor="t">
            <a:spAutoFit/>
          </a:bodyPr>
          <a:lstStyle/>
          <a:p>
            <a:pPr algn="l">
              <a:spcAft>
                <a:spcPts val="200"/>
              </a:spcAft>
            </a:pPr>
            <a:r>
              <a:rPr sz="3000" b="1" i="0">
                <a:solidFill>
                  <a:srgbClr val="10292E"/>
                </a:solidFill>
                <a:latin typeface="Cambria"/>
              </a:rPr>
              <a:t>Amplicons name the members, not their metabolism</a:t>
            </a:r>
          </a:p>
          <a:p>
            <a:pPr algn="l">
              <a:spcAft>
                <a:spcPts val="0"/>
              </a:spcAft>
            </a:pPr>
            <a:r>
              <a:rPr sz="1350" b="0" i="0">
                <a:solidFill>
                  <a:srgbClr val="5B7179"/>
                </a:solidFill>
                <a:latin typeface="Calibri"/>
              </a:rPr>
              <a:t>16S surveys capture more species per unit of DNA than shotgun, but carry no genes</a:t>
            </a:r>
          </a:p>
        </p:txBody>
      </p:sp>
      <p:sp>
        <p:nvSpPr>
          <p:cNvPr id="3" name="TextBox 2"/>
          <p:cNvSpPr txBox="1"/>
          <p:nvPr/>
        </p:nvSpPr>
        <p:spPr>
          <a:xfrm>
            <a:off x="548640" y="1371600"/>
            <a:ext cx="5943600" cy="4023360"/>
          </a:xfrm>
          <a:prstGeom prst="rect">
            <a:avLst/>
          </a:prstGeom>
          <a:noFill/>
        </p:spPr>
        <p:txBody>
          <a:bodyPr wrap="square" lIns="0" rIns="0" tIns="0" bIns="0" anchor="t">
            <a:spAutoFit/>
          </a:bodyPr>
          <a:lstStyle/>
          <a:p>
            <a:pPr>
              <a:spcAft>
                <a:spcPts val="1400"/>
              </a:spcAft>
            </a:pPr>
            <a:r>
              <a:rPr sz="1500" b="1">
                <a:solidFill>
                  <a:srgbClr val="028090"/>
                </a:solidFill>
                <a:latin typeface="Calibri"/>
              </a:rPr>
              <a:t>The gap.  </a:t>
            </a:r>
            <a:r>
              <a:rPr sz="1500">
                <a:solidFill>
                  <a:srgbClr val="10292E"/>
                </a:solidFill>
                <a:latin typeface="Calibri"/>
              </a:rPr>
              <a:t>16S tells you who is present but GEM modeling needs gene content.</a:t>
            </a:r>
          </a:p>
          <a:p>
            <a:pPr>
              <a:spcAft>
                <a:spcPts val="1400"/>
              </a:spcAft>
            </a:pPr>
            <a:r>
              <a:rPr sz="1500" b="1">
                <a:solidFill>
                  <a:srgbClr val="028090"/>
                </a:solidFill>
                <a:latin typeface="Calibri"/>
              </a:rPr>
              <a:t>The usual fixes.  </a:t>
            </a:r>
            <a:r>
              <a:rPr sz="1500">
                <a:solidFill>
                  <a:srgbClr val="10292E"/>
                </a:solidFill>
                <a:latin typeface="Calibri"/>
              </a:rPr>
              <a:t>MAGs are incomplete, expensive, and biased to abundant members. Amplicons are cheap but functionally mute.</a:t>
            </a:r>
          </a:p>
          <a:p>
            <a:pPr>
              <a:spcAft>
                <a:spcPts val="1400"/>
              </a:spcAft>
            </a:pPr>
            <a:r>
              <a:rPr sz="1500" b="1">
                <a:solidFill>
                  <a:srgbClr val="028090"/>
                </a:solidFill>
                <a:latin typeface="Calibri"/>
              </a:rPr>
              <a:t>Our approach.  </a:t>
            </a:r>
            <a:r>
              <a:rPr sz="1500">
                <a:solidFill>
                  <a:srgbClr val="10292E"/>
                </a:solidFill>
                <a:latin typeface="Calibri"/>
              </a:rPr>
              <a:t>Map each ASV to reference genome(s) via alignment scoring, keep co-optimal candidates, and preserve ambiguity as probabilities that are sorted out in optimization.</a:t>
            </a:r>
          </a:p>
        </p:txBody>
      </p:sp>
      <p:sp>
        <p:nvSpPr>
          <p:cNvPr id="4" name="Rounded Rectangle 3"/>
          <p:cNvSpPr/>
          <p:nvPr/>
        </p:nvSpPr>
        <p:spPr>
          <a:xfrm>
            <a:off x="6784848" y="1371600"/>
            <a:ext cx="2286000" cy="132588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100"/>
              </a:spcAft>
            </a:pPr>
            <a:r>
              <a:rPr sz="3400" b="1" i="0">
                <a:solidFill>
                  <a:srgbClr val="028090"/>
                </a:solidFill>
                <a:latin typeface="Cambria"/>
              </a:rPr>
              <a:t>1.43M</a:t>
            </a:r>
          </a:p>
          <a:p>
            <a:pPr algn="l">
              <a:lnSpc>
                <a:spcPct val="92000"/>
              </a:lnSpc>
              <a:spcAft>
                <a:spcPts val="0"/>
              </a:spcAft>
            </a:pPr>
            <a:r>
              <a:rPr sz="1150" b="0" i="0">
                <a:solidFill>
                  <a:srgbClr val="5B7179"/>
                </a:solidFill>
                <a:latin typeface="Calibri"/>
              </a:rPr>
              <a:t>BV-BRC 16S records,
460,117 unique sequences</a:t>
            </a:r>
          </a:p>
        </p:txBody>
      </p:sp>
      <p:sp>
        <p:nvSpPr>
          <p:cNvPr id="5" name="Rounded Rectangle 4"/>
          <p:cNvSpPr/>
          <p:nvPr/>
        </p:nvSpPr>
        <p:spPr>
          <a:xfrm>
            <a:off x="9354312" y="1371600"/>
            <a:ext cx="2286000" cy="132588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100"/>
              </a:spcAft>
            </a:pPr>
            <a:r>
              <a:rPr sz="3400" b="1" i="0">
                <a:solidFill>
                  <a:srgbClr val="028090"/>
                </a:solidFill>
                <a:latin typeface="Cambria"/>
              </a:rPr>
              <a:t>67,991</a:t>
            </a:r>
          </a:p>
          <a:p>
            <a:pPr algn="l">
              <a:lnSpc>
                <a:spcPct val="92000"/>
              </a:lnSpc>
              <a:spcAft>
                <a:spcPts val="0"/>
              </a:spcAft>
            </a:pPr>
            <a:r>
              <a:rPr sz="1150" b="0" i="0">
                <a:solidFill>
                  <a:srgbClr val="5B7179"/>
                </a:solidFill>
                <a:latin typeface="Calibri"/>
              </a:rPr>
              <a:t>benchmark amplicons
from 10,000 genomes</a:t>
            </a:r>
          </a:p>
        </p:txBody>
      </p:sp>
      <p:sp>
        <p:nvSpPr>
          <p:cNvPr id="6" name="Rounded Rectangle 5"/>
          <p:cNvSpPr/>
          <p:nvPr/>
        </p:nvSpPr>
        <p:spPr>
          <a:xfrm>
            <a:off x="6784848" y="2971800"/>
            <a:ext cx="2286000" cy="132588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100"/>
              </a:spcAft>
            </a:pPr>
            <a:r>
              <a:rPr sz="3400" b="1" i="0">
                <a:solidFill>
                  <a:srgbClr val="028090"/>
                </a:solidFill>
                <a:latin typeface="Cambria"/>
              </a:rPr>
              <a:t>3,224</a:t>
            </a:r>
          </a:p>
          <a:p>
            <a:pPr algn="l">
              <a:lnSpc>
                <a:spcPct val="92000"/>
              </a:lnSpc>
              <a:spcAft>
                <a:spcPts val="0"/>
              </a:spcAft>
            </a:pPr>
            <a:r>
              <a:rPr sz="1150" b="0" i="0">
                <a:solidFill>
                  <a:srgbClr val="5B7179"/>
                </a:solidFill>
                <a:latin typeface="Calibri"/>
              </a:rPr>
              <a:t>synthetic genomes
deposited in KBase</a:t>
            </a:r>
          </a:p>
        </p:txBody>
      </p:sp>
      <p:sp>
        <p:nvSpPr>
          <p:cNvPr id="7" name="Rounded Rectangle 6"/>
          <p:cNvSpPr/>
          <p:nvPr/>
        </p:nvSpPr>
        <p:spPr>
          <a:xfrm>
            <a:off x="9354312" y="2971800"/>
            <a:ext cx="2286000" cy="132588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100"/>
              </a:spcAft>
            </a:pPr>
            <a:r>
              <a:rPr sz="3400" b="1" i="0">
                <a:solidFill>
                  <a:srgbClr val="007A6C"/>
                </a:solidFill>
                <a:latin typeface="Cambria"/>
              </a:rPr>
              <a:t>8</a:t>
            </a:r>
          </a:p>
          <a:p>
            <a:pPr algn="l">
              <a:lnSpc>
                <a:spcPct val="92000"/>
              </a:lnSpc>
              <a:spcAft>
                <a:spcPts val="0"/>
              </a:spcAft>
            </a:pPr>
            <a:r>
              <a:rPr sz="1150" b="0" i="0">
                <a:solidFill>
                  <a:srgbClr val="5B7179"/>
                </a:solidFill>
                <a:latin typeface="Calibri"/>
              </a:rPr>
              <a:t>16S regions compared
head to head</a:t>
            </a:r>
          </a:p>
        </p:txBody>
      </p:sp>
      <p:sp>
        <p:nvSpPr>
          <p:cNvPr id="8" name="TextBox 7"/>
          <p:cNvSpPr txBox="1"/>
          <p:nvPr/>
        </p:nvSpPr>
        <p:spPr>
          <a:xfrm>
            <a:off x="548640" y="6382512"/>
            <a:ext cx="11094415" cy="274320"/>
          </a:xfrm>
          <a:prstGeom prst="rect">
            <a:avLst/>
          </a:prstGeom>
          <a:noFill/>
        </p:spPr>
        <p:txBody>
          <a:bodyPr wrap="square" lIns="0" rIns="0" tIns="0" bIns="0" anchor="t">
            <a:spAutoFit/>
          </a:bodyPr>
          <a:lstStyle/>
          <a:p>
            <a:pPr algn="l">
              <a:spcAft>
                <a:spcPts val="0"/>
              </a:spcAft>
            </a:pPr>
            <a:r>
              <a:rPr sz="1000" b="0" i="0">
                <a:solidFill>
                  <a:srgbClr val="5B7179"/>
                </a:solidFill>
                <a:latin typeface="Calibri"/>
              </a:rPr>
              <a:t>Probability-weighted genomes feed a probabilistic FBA objective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1094415" cy="777240"/>
          </a:xfrm>
          <a:prstGeom prst="rect">
            <a:avLst/>
          </a:prstGeom>
          <a:noFill/>
        </p:spPr>
        <p:txBody>
          <a:bodyPr wrap="square" lIns="0" rIns="0" tIns="0" bIns="0" anchor="t">
            <a:spAutoFit/>
          </a:bodyPr>
          <a:lstStyle/>
          <a:p>
            <a:pPr algn="l">
              <a:spcAft>
                <a:spcPts val="200"/>
              </a:spcAft>
            </a:pPr>
            <a:r>
              <a:rPr sz="3000" b="1" i="0">
                <a:solidFill>
                  <a:srgbClr val="10292E"/>
                </a:solidFill>
                <a:latin typeface="Cambria"/>
              </a:rPr>
              <a:t>The pipeline, end to end</a:t>
            </a:r>
          </a:p>
          <a:p>
            <a:pPr algn="l">
              <a:spcAft>
                <a:spcPts val="0"/>
              </a:spcAft>
            </a:pPr>
            <a:r>
              <a:rPr sz="1350" b="0" i="0">
                <a:solidFill>
                  <a:srgbClr val="5B7179"/>
                </a:solidFill>
                <a:latin typeface="Calibri"/>
              </a:rPr>
              <a:t>Every selection is auditable against a published identity threshold</a:t>
            </a:r>
          </a:p>
        </p:txBody>
      </p:sp>
      <p:sp>
        <p:nvSpPr>
          <p:cNvPr id="3" name="Rounded Rectangle 2"/>
          <p:cNvSpPr/>
          <p:nvPr/>
        </p:nvSpPr>
        <p:spPr>
          <a:xfrm>
            <a:off x="548640" y="1691640"/>
            <a:ext cx="1998878" cy="228600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713232"/>
          <a:lstStyle/>
          <a:p>
            <a:pPr algn="l">
              <a:spcAft>
                <a:spcPts val="700"/>
              </a:spcAft>
            </a:pPr>
            <a:r>
              <a:rPr sz="1600" b="1" i="0">
                <a:solidFill>
                  <a:srgbClr val="10292E"/>
                </a:solidFill>
                <a:latin typeface="Cambria"/>
              </a:rPr>
              <a:t>Amplicon</a:t>
            </a:r>
          </a:p>
          <a:p>
            <a:pPr algn="l">
              <a:lnSpc>
                <a:spcPct val="105000"/>
              </a:lnSpc>
              <a:spcAft>
                <a:spcPts val="0"/>
              </a:spcAft>
            </a:pPr>
            <a:r>
              <a:rPr sz="1250" b="0" i="0">
                <a:solidFill>
                  <a:srgbClr val="5B7179"/>
                </a:solidFill>
                <a:latin typeface="Calibri"/>
              </a:rPr>
              <a:t>ASV or in-silico
amplicon sequence</a:t>
            </a:r>
          </a:p>
        </p:txBody>
      </p:sp>
      <p:sp>
        <p:nvSpPr>
          <p:cNvPr id="4" name="Oval 3"/>
          <p:cNvSpPr/>
          <p:nvPr/>
        </p:nvSpPr>
        <p:spPr>
          <a:xfrm>
            <a:off x="694944" y="1444752"/>
            <a:ext cx="493776" cy="493776"/>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i="0">
                <a:solidFill>
                  <a:srgbClr val="FFFFFF"/>
                </a:solidFill>
                <a:latin typeface="Cambria"/>
              </a:rPr>
              <a:t>1</a:t>
            </a:r>
          </a:p>
        </p:txBody>
      </p:sp>
      <p:sp>
        <p:nvSpPr>
          <p:cNvPr id="5" name="Rounded Rectangle 4"/>
          <p:cNvSpPr/>
          <p:nvPr/>
        </p:nvSpPr>
        <p:spPr>
          <a:xfrm>
            <a:off x="2821838" y="1691640"/>
            <a:ext cx="1998878" cy="228600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713232"/>
          <a:lstStyle/>
          <a:p>
            <a:pPr algn="l">
              <a:spcAft>
                <a:spcPts val="700"/>
              </a:spcAft>
            </a:pPr>
            <a:r>
              <a:rPr sz="1600" b="1" i="0">
                <a:solidFill>
                  <a:srgbClr val="10292E"/>
                </a:solidFill>
                <a:latin typeface="Cambria"/>
              </a:rPr>
              <a:t>Alignment</a:t>
            </a:r>
          </a:p>
          <a:p>
            <a:pPr algn="l">
              <a:lnSpc>
                <a:spcPct val="105000"/>
              </a:lnSpc>
              <a:spcAft>
                <a:spcPts val="0"/>
              </a:spcAft>
            </a:pPr>
            <a:r>
              <a:rPr sz="1250" b="0" i="0">
                <a:solidFill>
                  <a:srgbClr val="5B7179"/>
                </a:solidFill>
                <a:latin typeface="Calibri"/>
              </a:rPr>
              <a:t>edlib top-500 prefilter,
GPU Smith-Waterman</a:t>
            </a:r>
          </a:p>
        </p:txBody>
      </p:sp>
      <p:sp>
        <p:nvSpPr>
          <p:cNvPr id="6" name="Oval 5"/>
          <p:cNvSpPr/>
          <p:nvPr/>
        </p:nvSpPr>
        <p:spPr>
          <a:xfrm>
            <a:off x="2968142" y="1444752"/>
            <a:ext cx="493776" cy="493776"/>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i="0">
                <a:solidFill>
                  <a:srgbClr val="FFFFFF"/>
                </a:solidFill>
                <a:latin typeface="Cambria"/>
              </a:rPr>
              <a:t>2</a:t>
            </a:r>
          </a:p>
        </p:txBody>
      </p:sp>
      <p:sp>
        <p:nvSpPr>
          <p:cNvPr id="7" name="Rounded Rectangle 6"/>
          <p:cNvSpPr/>
          <p:nvPr/>
        </p:nvSpPr>
        <p:spPr>
          <a:xfrm>
            <a:off x="5095036" y="1691640"/>
            <a:ext cx="1998878" cy="228600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713232"/>
          <a:lstStyle/>
          <a:p>
            <a:pPr algn="l">
              <a:spcAft>
                <a:spcPts val="700"/>
              </a:spcAft>
            </a:pPr>
            <a:r>
              <a:rPr sz="1600" b="1" i="0">
                <a:solidFill>
                  <a:srgbClr val="10292E"/>
                </a:solidFill>
                <a:latin typeface="Cambria"/>
              </a:rPr>
              <a:t>Selection</a:t>
            </a:r>
          </a:p>
          <a:p>
            <a:pPr algn="l">
              <a:lnSpc>
                <a:spcPct val="105000"/>
              </a:lnSpc>
              <a:spcAft>
                <a:spcPts val="0"/>
              </a:spcAft>
            </a:pPr>
            <a:r>
              <a:rPr sz="1250" b="0" i="0">
                <a:solidFill>
                  <a:srgbClr val="5B7179"/>
                </a:solidFill>
                <a:latin typeface="Calibri"/>
              </a:rPr>
              <a:t>exact-tie union,
species de-duplication</a:t>
            </a:r>
          </a:p>
        </p:txBody>
      </p:sp>
      <p:sp>
        <p:nvSpPr>
          <p:cNvPr id="8" name="Oval 7"/>
          <p:cNvSpPr/>
          <p:nvPr/>
        </p:nvSpPr>
        <p:spPr>
          <a:xfrm>
            <a:off x="5241340" y="1444752"/>
            <a:ext cx="493776" cy="493776"/>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i="0">
                <a:solidFill>
                  <a:srgbClr val="FFFFFF"/>
                </a:solidFill>
                <a:latin typeface="Cambria"/>
              </a:rPr>
              <a:t>3</a:t>
            </a:r>
          </a:p>
        </p:txBody>
      </p:sp>
      <p:sp>
        <p:nvSpPr>
          <p:cNvPr id="9" name="Rounded Rectangle 8"/>
          <p:cNvSpPr/>
          <p:nvPr/>
        </p:nvSpPr>
        <p:spPr>
          <a:xfrm>
            <a:off x="7368235" y="1691640"/>
            <a:ext cx="1998878" cy="228600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713232"/>
          <a:lstStyle/>
          <a:p>
            <a:pPr algn="l">
              <a:spcAft>
                <a:spcPts val="700"/>
              </a:spcAft>
            </a:pPr>
            <a:r>
              <a:rPr sz="1600" b="1" i="0">
                <a:solidFill>
                  <a:srgbClr val="10292E"/>
                </a:solidFill>
                <a:latin typeface="Cambria"/>
              </a:rPr>
              <a:t>Synthetic genome</a:t>
            </a:r>
          </a:p>
          <a:p>
            <a:pPr algn="l">
              <a:lnSpc>
                <a:spcPct val="105000"/>
              </a:lnSpc>
              <a:spcAft>
                <a:spcPts val="0"/>
              </a:spcAft>
            </a:pPr>
            <a:r>
              <a:rPr sz="1250" b="0" i="0">
                <a:solidFill>
                  <a:srgbClr val="5B7179"/>
                </a:solidFill>
                <a:latin typeface="Calibri"/>
              </a:rPr>
              <a:t>union of gene content,
per-function probability</a:t>
            </a:r>
          </a:p>
        </p:txBody>
      </p:sp>
      <p:sp>
        <p:nvSpPr>
          <p:cNvPr id="10" name="Oval 9"/>
          <p:cNvSpPr/>
          <p:nvPr/>
        </p:nvSpPr>
        <p:spPr>
          <a:xfrm>
            <a:off x="7514539" y="1444752"/>
            <a:ext cx="493776" cy="493776"/>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i="0">
                <a:solidFill>
                  <a:srgbClr val="FFFFFF"/>
                </a:solidFill>
                <a:latin typeface="Cambria"/>
              </a:rPr>
              <a:t>4</a:t>
            </a:r>
          </a:p>
        </p:txBody>
      </p:sp>
      <p:sp>
        <p:nvSpPr>
          <p:cNvPr id="11" name="Rounded Rectangle 10"/>
          <p:cNvSpPr/>
          <p:nvPr/>
        </p:nvSpPr>
        <p:spPr>
          <a:xfrm>
            <a:off x="9641433" y="1691640"/>
            <a:ext cx="1998878" cy="228600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713232"/>
          <a:lstStyle/>
          <a:p>
            <a:pPr algn="l">
              <a:spcAft>
                <a:spcPts val="700"/>
              </a:spcAft>
            </a:pPr>
            <a:r>
              <a:rPr sz="1600" b="1" i="0">
                <a:solidFill>
                  <a:srgbClr val="10292E"/>
                </a:solidFill>
                <a:latin typeface="Cambria"/>
              </a:rPr>
              <a:t>prFBA</a:t>
            </a:r>
          </a:p>
          <a:p>
            <a:pPr algn="l">
              <a:lnSpc>
                <a:spcPct val="105000"/>
              </a:lnSpc>
              <a:spcAft>
                <a:spcPts val="0"/>
              </a:spcAft>
            </a:pPr>
            <a:r>
              <a:rPr sz="1250" b="0" i="0">
                <a:solidFill>
                  <a:srgbClr val="5B7179"/>
                </a:solidFill>
                <a:latin typeface="Calibri"/>
              </a:rPr>
              <a:t>probabilities constrain
the flux objective</a:t>
            </a:r>
          </a:p>
        </p:txBody>
      </p:sp>
      <p:sp>
        <p:nvSpPr>
          <p:cNvPr id="12" name="Oval 11"/>
          <p:cNvSpPr/>
          <p:nvPr/>
        </p:nvSpPr>
        <p:spPr>
          <a:xfrm>
            <a:off x="9787737" y="1444752"/>
            <a:ext cx="493776" cy="493776"/>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i="0">
                <a:solidFill>
                  <a:srgbClr val="FFFFFF"/>
                </a:solidFill>
                <a:latin typeface="Cambria"/>
              </a:rPr>
              <a:t>5</a:t>
            </a:r>
          </a:p>
        </p:txBody>
      </p:sp>
      <p:sp>
        <p:nvSpPr>
          <p:cNvPr id="13" name="TextBox 12"/>
          <p:cNvSpPr txBox="1"/>
          <p:nvPr/>
        </p:nvSpPr>
        <p:spPr>
          <a:xfrm>
            <a:off x="548640" y="4343400"/>
            <a:ext cx="11094415" cy="1371600"/>
          </a:xfrm>
          <a:prstGeom prst="rect">
            <a:avLst/>
          </a:prstGeom>
          <a:noFill/>
        </p:spPr>
        <p:txBody>
          <a:bodyPr wrap="square" lIns="0" rIns="0" tIns="0" bIns="0" anchor="t">
            <a:spAutoFit/>
          </a:bodyPr>
          <a:lstStyle/>
          <a:p>
            <a:pPr>
              <a:spcAft>
                <a:spcPts val="900"/>
              </a:spcAft>
            </a:pPr>
            <a:r>
              <a:rPr sz="1400" b="1">
                <a:solidFill>
                  <a:srgbClr val="028090"/>
                </a:solidFill>
                <a:latin typeface="Calibri"/>
              </a:rPr>
              <a:t>Hardware-adaptive.  </a:t>
            </a:r>
            <a:r>
              <a:rPr sz="1400">
                <a:solidFill>
                  <a:srgbClr val="10292E"/>
                </a:solidFill>
                <a:latin typeface="Calibri"/>
              </a:rPr>
              <a:t>The prefilter is hardware-independent; only the scoring backend changes (CUDA kernel, or Biopython on CPU), so outputs are comparable across machines.</a:t>
            </a:r>
          </a:p>
          <a:p>
            <a:pPr>
              <a:spcAft>
                <a:spcPts val="900"/>
              </a:spcAft>
            </a:pPr>
            <a:r>
              <a:rPr sz="1400" b="1">
                <a:solidFill>
                  <a:srgbClr val="028090"/>
                </a:solidFill>
                <a:latin typeface="Calibri"/>
              </a:rPr>
              <a:t>Decision-tracked.  </a:t>
            </a:r>
            <a:r>
              <a:rPr sz="1400">
                <a:solidFill>
                  <a:srgbClr val="10292E"/>
                </a:solidFill>
                <a:latin typeface="Calibri"/>
              </a:rPr>
              <a:t>Every hit carries its disposition and reason, so a selection can be audited rather than trusted.</a:t>
            </a:r>
          </a:p>
        </p:txBody>
      </p:sp>
      <p:sp>
        <p:nvSpPr>
          <p:cNvPr id="14" name="TextBox 13"/>
          <p:cNvSpPr txBox="1"/>
          <p:nvPr/>
        </p:nvSpPr>
        <p:spPr>
          <a:xfrm>
            <a:off x="548640" y="6382512"/>
            <a:ext cx="11094415" cy="274320"/>
          </a:xfrm>
          <a:prstGeom prst="rect">
            <a:avLst/>
          </a:prstGeom>
          <a:noFill/>
        </p:spPr>
        <p:txBody>
          <a:bodyPr wrap="square" lIns="0" rIns="0" tIns="0" bIns="0" anchor="t">
            <a:spAutoFit/>
          </a:bodyPr>
          <a:lstStyle/>
          <a:p>
            <a:pPr algn="l">
              <a:spcAft>
                <a:spcPts val="0"/>
              </a:spcAft>
            </a:pPr>
            <a:r>
              <a:rPr sz="1000" b="0" i="0">
                <a:solidFill>
                  <a:srgbClr val="5B7179"/>
                </a:solidFill>
                <a:latin typeface="Calibri"/>
              </a:rPr>
              <a:t>align_hits.py → select_references.py → build_synthetic_genomes.py → KBase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1094415" cy="777240"/>
          </a:xfrm>
          <a:prstGeom prst="rect">
            <a:avLst/>
          </a:prstGeom>
          <a:noFill/>
        </p:spPr>
        <p:txBody>
          <a:bodyPr wrap="square" lIns="0" rIns="0" tIns="0" bIns="0" anchor="t">
            <a:spAutoFit/>
          </a:bodyPr>
          <a:lstStyle/>
          <a:p>
            <a:pPr algn="l">
              <a:spcAft>
                <a:spcPts val="200"/>
              </a:spcAft>
            </a:pPr>
            <a:r>
              <a:rPr sz="3000" b="1" i="0">
                <a:solidFill>
                  <a:srgbClr val="10292E"/>
                </a:solidFill>
                <a:latin typeface="Cambria"/>
              </a:rPr>
              <a:t>Exact alignment at database scale</a:t>
            </a:r>
          </a:p>
          <a:p>
            <a:pPr algn="l">
              <a:spcAft>
                <a:spcPts val="0"/>
              </a:spcAft>
            </a:pPr>
            <a:r>
              <a:rPr sz="1350" b="0" i="0">
                <a:solidFill>
                  <a:srgbClr val="5B7179"/>
                </a:solidFill>
                <a:latin typeface="Calibri"/>
              </a:rPr>
              <a:t>A classical k-mer retriever beat dense embeddings, so retrieval is exact, not approximate</a:t>
            </a:r>
          </a:p>
        </p:txBody>
      </p:sp>
      <p:sp>
        <p:nvSpPr>
          <p:cNvPr id="3" name="Rounded Rectangle 2"/>
          <p:cNvSpPr/>
          <p:nvPr/>
        </p:nvSpPr>
        <p:spPr>
          <a:xfrm>
            <a:off x="548640" y="1371600"/>
            <a:ext cx="2567635" cy="132588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100"/>
              </a:spcAft>
            </a:pPr>
            <a:r>
              <a:rPr sz="3400" b="1" i="0">
                <a:solidFill>
                  <a:srgbClr val="028090"/>
                </a:solidFill>
                <a:latin typeface="Cambria"/>
              </a:rPr>
              <a:t>57.3</a:t>
            </a:r>
          </a:p>
          <a:p>
            <a:pPr algn="l">
              <a:lnSpc>
                <a:spcPct val="92000"/>
              </a:lnSpc>
              <a:spcAft>
                <a:spcPts val="0"/>
              </a:spcAft>
            </a:pPr>
            <a:r>
              <a:rPr sz="1150" b="0" i="0">
                <a:solidFill>
                  <a:srgbClr val="5B7179"/>
                </a:solidFill>
                <a:latin typeface="Calibri"/>
              </a:rPr>
              <a:t>GCUPS on one RTX 5070 Ti
(GPU Smith-Waterman)</a:t>
            </a:r>
          </a:p>
        </p:txBody>
      </p:sp>
      <p:sp>
        <p:nvSpPr>
          <p:cNvPr id="4" name="Rounded Rectangle 3"/>
          <p:cNvSpPr/>
          <p:nvPr/>
        </p:nvSpPr>
        <p:spPr>
          <a:xfrm>
            <a:off x="3390595" y="1371600"/>
            <a:ext cx="2567635" cy="132588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100"/>
              </a:spcAft>
            </a:pPr>
            <a:r>
              <a:rPr sz="3400" b="1" i="0">
                <a:solidFill>
                  <a:srgbClr val="028090"/>
                </a:solidFill>
                <a:latin typeface="Cambria"/>
              </a:rPr>
              <a:t>7.8×</a:t>
            </a:r>
          </a:p>
          <a:p>
            <a:pPr algn="l">
              <a:lnSpc>
                <a:spcPct val="92000"/>
              </a:lnSpc>
              <a:spcAft>
                <a:spcPts val="0"/>
              </a:spcAft>
            </a:pPr>
            <a:r>
              <a:rPr sz="1150" b="0" i="0">
                <a:solidFill>
                  <a:srgbClr val="5B7179"/>
                </a:solidFill>
                <a:latin typeface="Calibri"/>
              </a:rPr>
              <a:t>faster than a 60-process
Biopython CPU baseline</a:t>
            </a:r>
          </a:p>
        </p:txBody>
      </p:sp>
      <p:sp>
        <p:nvSpPr>
          <p:cNvPr id="5" name="Rounded Rectangle 4"/>
          <p:cNvSpPr/>
          <p:nvPr/>
        </p:nvSpPr>
        <p:spPr>
          <a:xfrm>
            <a:off x="6232550" y="1371600"/>
            <a:ext cx="2567635" cy="132588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100"/>
              </a:spcAft>
            </a:pPr>
            <a:r>
              <a:rPr sz="3400" b="1" i="0">
                <a:solidFill>
                  <a:srgbClr val="007A6C"/>
                </a:solidFill>
                <a:latin typeface="Cambria"/>
              </a:rPr>
              <a:t>400/400</a:t>
            </a:r>
          </a:p>
          <a:p>
            <a:pPr algn="l">
              <a:lnSpc>
                <a:spcPct val="92000"/>
              </a:lnSpc>
              <a:spcAft>
                <a:spcPts val="0"/>
              </a:spcAft>
            </a:pPr>
            <a:r>
              <a:rPr sz="1150" b="0" i="0">
                <a:solidFill>
                  <a:srgbClr val="5B7179"/>
                </a:solidFill>
                <a:latin typeface="Calibri"/>
              </a:rPr>
              <a:t>control pairs bit-exact
to Biopython</a:t>
            </a:r>
          </a:p>
        </p:txBody>
      </p:sp>
      <p:sp>
        <p:nvSpPr>
          <p:cNvPr id="6" name="Rounded Rectangle 5"/>
          <p:cNvSpPr/>
          <p:nvPr/>
        </p:nvSpPr>
        <p:spPr>
          <a:xfrm>
            <a:off x="9074505" y="1371600"/>
            <a:ext cx="2567635" cy="132588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100"/>
              </a:spcAft>
            </a:pPr>
            <a:r>
              <a:rPr sz="3400" b="1" i="0">
                <a:solidFill>
                  <a:srgbClr val="007A6C"/>
                </a:solidFill>
                <a:latin typeface="Cambria"/>
              </a:rPr>
              <a:t>459,301</a:t>
            </a:r>
          </a:p>
          <a:p>
            <a:pPr algn="l">
              <a:lnSpc>
                <a:spcPct val="92000"/>
              </a:lnSpc>
              <a:spcAft>
                <a:spcPts val="0"/>
              </a:spcAft>
            </a:pPr>
            <a:r>
              <a:rPr sz="1150" b="0" i="0">
                <a:solidFill>
                  <a:srgbClr val="5B7179"/>
                </a:solidFill>
                <a:latin typeface="Calibri"/>
              </a:rPr>
              <a:t>unique references
scanned per amplicon</a:t>
            </a:r>
          </a:p>
        </p:txBody>
      </p:sp>
      <p:sp>
        <p:nvSpPr>
          <p:cNvPr id="7" name="TextBox 6"/>
          <p:cNvSpPr txBox="1"/>
          <p:nvPr/>
        </p:nvSpPr>
        <p:spPr>
          <a:xfrm>
            <a:off x="548640" y="3108960"/>
            <a:ext cx="6949440" cy="2743200"/>
          </a:xfrm>
          <a:prstGeom prst="rect">
            <a:avLst/>
          </a:prstGeom>
          <a:noFill/>
        </p:spPr>
        <p:txBody>
          <a:bodyPr wrap="square" lIns="0" rIns="0" tIns="0" bIns="0" anchor="t">
            <a:spAutoFit/>
          </a:bodyPr>
          <a:lstStyle/>
          <a:p>
            <a:pPr>
              <a:spcAft>
                <a:spcPts val="1100"/>
              </a:spcAft>
            </a:pPr>
            <a:r>
              <a:rPr sz="1400" b="1">
                <a:solidFill>
                  <a:srgbClr val="028090"/>
                </a:solidFill>
                <a:latin typeface="Calibri"/>
              </a:rPr>
              <a:t>Two stages.  </a:t>
            </a:r>
            <a:r>
              <a:rPr sz="1400">
                <a:solidFill>
                  <a:srgbClr val="10292E"/>
                </a:solidFill>
                <a:latin typeface="Calibri"/>
              </a:rPr>
              <a:t>An edlib edit-distance scan keeps the 500 closest references per amplicon; only those are scored by Smith-Waterman. The 500-deep shortlist is hardware-independent, so every machine sees the same candidates.</a:t>
            </a:r>
          </a:p>
          <a:p>
            <a:pPr>
              <a:spcAft>
                <a:spcPts val="1100"/>
              </a:spcAft>
            </a:pPr>
            <a:r>
              <a:rPr sz="1400" b="1">
                <a:solidFill>
                  <a:srgbClr val="028090"/>
                </a:solidFill>
                <a:latin typeface="Calibri"/>
              </a:rPr>
              <a:t>Why not embeddings.  </a:t>
            </a:r>
            <a:r>
              <a:rPr sz="1400">
                <a:solidFill>
                  <a:srgbClr val="10292E"/>
                </a:solidFill>
                <a:latin typeface="Calibri"/>
              </a:rPr>
              <a:t>A nucleotide-transformer space put the true best hit first only 50.5% of the time; a k-mer retriever reached 75.5%. The 16S cosine space is too concentrated — random pairs already average 0.90.</a:t>
            </a:r>
          </a:p>
          <a:p>
            <a:pPr>
              <a:spcAft>
                <a:spcPts val="1100"/>
              </a:spcAft>
            </a:pPr>
            <a:r>
              <a:rPr sz="1400" b="1">
                <a:solidFill>
                  <a:srgbClr val="028090"/>
                </a:solidFill>
                <a:latin typeface="Calibri"/>
              </a:rPr>
              <a:t>Packaged.  </a:t>
            </a:r>
            <a:r>
              <a:rPr sz="1400">
                <a:solidFill>
                  <a:srgbClr val="10292E"/>
                </a:solidFill>
                <a:latin typeface="Calibri"/>
              </a:rPr>
              <a:t>The CUDA kernel is now the standalone gpusw package, so the aligner is reusable outside this project.</a:t>
            </a:r>
          </a:p>
        </p:txBody>
      </p:sp>
      <p:sp>
        <p:nvSpPr>
          <p:cNvPr id="8" name="Rounded Rectangle 7"/>
          <p:cNvSpPr/>
          <p:nvPr/>
        </p:nvSpPr>
        <p:spPr>
          <a:xfrm>
            <a:off x="7772400" y="3200400"/>
            <a:ext cx="3867912" cy="141732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100"/>
              </a:spcAft>
            </a:pPr>
            <a:r>
              <a:rPr sz="3400" b="1" i="0">
                <a:solidFill>
                  <a:srgbClr val="028090"/>
                </a:solidFill>
                <a:latin typeface="Cambria"/>
              </a:rPr>
              <a:t>4.5 h</a:t>
            </a:r>
          </a:p>
          <a:p>
            <a:pPr algn="l">
              <a:lnSpc>
                <a:spcPct val="92000"/>
              </a:lnSpc>
              <a:spcAft>
                <a:spcPts val="0"/>
              </a:spcAft>
            </a:pPr>
            <a:r>
              <a:rPr sz="1150" b="0" i="0">
                <a:solidFill>
                  <a:srgbClr val="5B7179"/>
                </a:solidFill>
                <a:latin typeface="Calibri"/>
              </a:rPr>
              <a:t>to align all 60,461 unique benchmark amplicons against the full reference set</a:t>
            </a:r>
          </a:p>
        </p:txBody>
      </p:sp>
      <p:sp>
        <p:nvSpPr>
          <p:cNvPr id="9" name="TextBox 8"/>
          <p:cNvSpPr txBox="1"/>
          <p:nvPr/>
        </p:nvSpPr>
        <p:spPr>
          <a:xfrm>
            <a:off x="548640" y="6382512"/>
            <a:ext cx="11094415" cy="274320"/>
          </a:xfrm>
          <a:prstGeom prst="rect">
            <a:avLst/>
          </a:prstGeom>
          <a:noFill/>
        </p:spPr>
        <p:txBody>
          <a:bodyPr wrap="square" lIns="0" rIns="0" tIns="0" bIns="0" anchor="t">
            <a:spAutoFit/>
          </a:bodyPr>
          <a:lstStyle/>
          <a:p>
            <a:pPr algn="l">
              <a:spcAft>
                <a:spcPts val="0"/>
              </a:spcAft>
            </a:pPr>
            <a:r>
              <a:rPr sz="1000" b="0" i="0">
                <a:solidFill>
                  <a:srgbClr val="5B7179"/>
                </a:solidFill>
                <a:latin typeface="Calibri"/>
              </a:rPr>
              <a:t>Scoring scheme identical on every backend: match +2 / mismatch −3 / gap −5, −2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1094415" cy="777240"/>
          </a:xfrm>
          <a:prstGeom prst="rect">
            <a:avLst/>
          </a:prstGeom>
          <a:noFill/>
        </p:spPr>
        <p:txBody>
          <a:bodyPr wrap="square" lIns="0" rIns="0" tIns="0" bIns="0" anchor="t">
            <a:spAutoFit/>
          </a:bodyPr>
          <a:lstStyle/>
          <a:p>
            <a:pPr algn="l">
              <a:spcAft>
                <a:spcPts val="200"/>
              </a:spcAft>
            </a:pPr>
            <a:r>
              <a:rPr sz="3000" b="1" i="0">
                <a:solidFill>
                  <a:srgbClr val="10292E"/>
                </a:solidFill>
                <a:latin typeface="Cambria"/>
              </a:rPr>
              <a:t>Selection keeps the ambiguity it finds</a:t>
            </a:r>
          </a:p>
          <a:p>
            <a:pPr algn="l">
              <a:spcAft>
                <a:spcPts val="0"/>
              </a:spcAft>
            </a:pPr>
            <a:r>
              <a:rPr sz="1350" b="0" i="0">
                <a:solidFill>
                  <a:srgbClr val="5B7179"/>
                </a:solidFill>
                <a:latin typeface="Calibri"/>
              </a:rPr>
              <a:t>Near-identical 16S genes cannot distinguish genomes — so do not pretend otherwise</a:t>
            </a:r>
          </a:p>
        </p:txBody>
      </p:sp>
      <p:sp>
        <p:nvSpPr>
          <p:cNvPr id="3" name="TextBox 2"/>
          <p:cNvSpPr txBox="1"/>
          <p:nvPr/>
        </p:nvSpPr>
        <p:spPr>
          <a:xfrm>
            <a:off x="548640" y="1371600"/>
            <a:ext cx="6675120" cy="3291840"/>
          </a:xfrm>
          <a:prstGeom prst="rect">
            <a:avLst/>
          </a:prstGeom>
          <a:noFill/>
        </p:spPr>
        <p:txBody>
          <a:bodyPr wrap="square" lIns="0" rIns="0" tIns="0" bIns="0" anchor="t">
            <a:spAutoFit/>
          </a:bodyPr>
          <a:lstStyle/>
          <a:p>
            <a:pPr>
              <a:spcAft>
                <a:spcPts val="1200"/>
              </a:spcAft>
            </a:pPr>
            <a:r>
              <a:rPr sz="1450" b="1">
                <a:solidFill>
                  <a:srgbClr val="028090"/>
                </a:solidFill>
                <a:latin typeface="Calibri"/>
              </a:rPr>
              <a:t>Exact-tie union.  </a:t>
            </a:r>
            <a:r>
              <a:rPr sz="1450">
                <a:solidFill>
                  <a:srgbClr val="10292E"/>
                </a:solidFill>
                <a:latin typeface="Calibri"/>
              </a:rPr>
              <a:t>Ties for the best identity are kept and collapsed to one genome per BV-BRC species.</a:t>
            </a:r>
          </a:p>
          <a:p>
            <a:pPr>
              <a:spcAft>
                <a:spcPts val="1200"/>
              </a:spcAft>
            </a:pPr>
            <a:r>
              <a:rPr sz="1450" b="1">
                <a:solidFill>
                  <a:srgbClr val="028090"/>
                </a:solidFill>
                <a:latin typeface="Calibri"/>
              </a:rPr>
              <a:t>Gene-richest representative.  </a:t>
            </a:r>
            <a:r>
              <a:rPr sz="1450">
                <a:solidFill>
                  <a:srgbClr val="10292E"/>
                </a:solidFill>
                <a:latin typeface="Calibri"/>
              </a:rPr>
              <a:t>Among co-optimal conspecifics the most complete genome represents the species — without letting gene count change the taxonomic call.</a:t>
            </a:r>
          </a:p>
          <a:p>
            <a:pPr>
              <a:spcAft>
                <a:spcPts val="1200"/>
              </a:spcAft>
            </a:pPr>
            <a:r>
              <a:rPr sz="1450" b="1">
                <a:solidFill>
                  <a:srgbClr val="028090"/>
                </a:solidFill>
                <a:latin typeface="Calibri"/>
              </a:rPr>
              <a:t>Thresholds, not vibes.  </a:t>
            </a:r>
            <a:r>
              <a:rPr sz="1450">
                <a:solidFill>
                  <a:srgbClr val="10292E"/>
                </a:solidFill>
                <a:latin typeface="Calibri"/>
              </a:rPr>
              <a:t>Species ≥ 0.987, genus ≥ 0.945, family ≥ 0.865; below the family floor the pipeline abstains rather than guess.</a:t>
            </a:r>
          </a:p>
        </p:txBody>
      </p:sp>
      <p:sp>
        <p:nvSpPr>
          <p:cNvPr id="4" name="Rounded Rectangle 3"/>
          <p:cNvSpPr/>
          <p:nvPr/>
        </p:nvSpPr>
        <p:spPr>
          <a:xfrm>
            <a:off x="7498079" y="1371600"/>
            <a:ext cx="4142232" cy="224028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1000"/>
              </a:spcAft>
            </a:pPr>
            <a:r>
              <a:rPr sz="1300" b="1" i="0">
                <a:solidFill>
                  <a:srgbClr val="10292E"/>
                </a:solidFill>
                <a:latin typeface="Cambria"/>
              </a:rPr>
              <a:t>Self-recovery</a:t>
            </a:r>
          </a:p>
          <a:p>
            <a:pPr algn="l">
              <a:lnSpc>
                <a:spcPct val="105000"/>
              </a:lnSpc>
              <a:spcAft>
                <a:spcPts val="1200"/>
              </a:spcAft>
            </a:pPr>
            <a:r>
              <a:rPr sz="1200" b="0" i="0">
                <a:solidFill>
                  <a:srgbClr val="5B7179"/>
                </a:solidFill>
                <a:latin typeface="Calibri"/>
              </a:rPr>
              <a:t>Does the selector keep the source organism when it is among the 20 retained hits?</a:t>
            </a:r>
          </a:p>
          <a:p>
            <a:pPr algn="l">
              <a:spcAft>
                <a:spcPts val="400"/>
              </a:spcAft>
            </a:pPr>
            <a:r>
              <a:rPr sz="2800" b="1">
                <a:solidFill>
                  <a:srgbClr val="5B7179"/>
                </a:solidFill>
                <a:latin typeface="Cambria"/>
              </a:rPr>
              <a:t>82.9%</a:t>
            </a:r>
            <a:r>
              <a:rPr sz="1800" b="1">
                <a:solidFill>
                  <a:srgbClr val="5B7179"/>
                </a:solidFill>
                <a:latin typeface="Cambria"/>
              </a:rPr>
              <a:t>  →  </a:t>
            </a:r>
            <a:r>
              <a:rPr sz="2800" b="1">
                <a:solidFill>
                  <a:srgbClr val="028090"/>
                </a:solidFill>
                <a:latin typeface="Cambria"/>
              </a:rPr>
              <a:t>99.2%</a:t>
            </a:r>
          </a:p>
          <a:p>
            <a:pPr algn="l">
              <a:spcAft>
                <a:spcPts val="0"/>
              </a:spcAft>
            </a:pPr>
            <a:r>
              <a:rPr sz="1100" b="0" i="0">
                <a:solidFill>
                  <a:srgbClr val="5B7179"/>
                </a:solidFill>
                <a:latin typeface="Calibri"/>
              </a:rPr>
              <a:t>ordered reducer → exact-tie union (99.9% on full-length 16S)</a:t>
            </a:r>
          </a:p>
        </p:txBody>
      </p:sp>
      <p:sp>
        <p:nvSpPr>
          <p:cNvPr id="5" name="TextBox 4"/>
          <p:cNvSpPr txBox="1"/>
          <p:nvPr/>
        </p:nvSpPr>
        <p:spPr>
          <a:xfrm>
            <a:off x="548640" y="6382512"/>
            <a:ext cx="11094415" cy="274320"/>
          </a:xfrm>
          <a:prstGeom prst="rect">
            <a:avLst/>
          </a:prstGeom>
          <a:noFill/>
        </p:spPr>
        <p:txBody>
          <a:bodyPr wrap="square" lIns="0" rIns="0" tIns="0" bIns="0" anchor="t">
            <a:spAutoFit/>
          </a:bodyPr>
          <a:lstStyle/>
          <a:p>
            <a:pPr algn="l">
              <a:spcAft>
                <a:spcPts val="0"/>
              </a:spcAft>
            </a:pPr>
            <a:r>
              <a:rPr sz="1000" b="0" i="0">
                <a:solidFill>
                  <a:srgbClr val="5B7179"/>
                </a:solidFill>
                <a:latin typeface="Calibri"/>
              </a:rPr>
              <a:t>Tie clusters reach ~200 genomes at identical score; the union records them as equivalents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1094415" cy="777240"/>
          </a:xfrm>
          <a:prstGeom prst="rect">
            <a:avLst/>
          </a:prstGeom>
          <a:noFill/>
        </p:spPr>
        <p:txBody>
          <a:bodyPr wrap="square" lIns="0" rIns="0" tIns="0" bIns="0" anchor="t">
            <a:spAutoFit/>
          </a:bodyPr>
          <a:lstStyle/>
          <a:p>
            <a:pPr algn="l">
              <a:spcAft>
                <a:spcPts val="200"/>
              </a:spcAft>
            </a:pPr>
            <a:r>
              <a:rPr sz="3000" b="1" i="0">
                <a:solidFill>
                  <a:srgbClr val="10292E"/>
                </a:solidFill>
                <a:latin typeface="Cambria"/>
              </a:rPr>
              <a:t>From selected genomes to a probabilistic model</a:t>
            </a:r>
          </a:p>
          <a:p>
            <a:pPr algn="l">
              <a:spcAft>
                <a:spcPts val="0"/>
              </a:spcAft>
            </a:pPr>
            <a:r>
              <a:rPr sz="1350" b="0" i="0">
                <a:solidFill>
                  <a:srgbClr val="5B7179"/>
                </a:solidFill>
                <a:latin typeface="Calibri"/>
              </a:rPr>
              <a:t>Each function carries the fraction of selected references that encode it</a:t>
            </a:r>
          </a:p>
        </p:txBody>
      </p:sp>
      <p:sp>
        <p:nvSpPr>
          <p:cNvPr id="3" name="Rounded Rectangle 2"/>
          <p:cNvSpPr/>
          <p:nvPr/>
        </p:nvSpPr>
        <p:spPr>
          <a:xfrm>
            <a:off x="548640" y="1371600"/>
            <a:ext cx="5669280" cy="1371600"/>
          </a:xfrm>
          <a:prstGeom prst="roundRect">
            <a:avLst>
              <a:gd name="adj" fmla="val 6000"/>
            </a:avLst>
          </a:prstGeom>
          <a:solidFill>
            <a:srgbClr val="0534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spcAft>
                <a:spcPts val="600"/>
              </a:spcAft>
            </a:pPr>
            <a:r>
              <a:rPr sz="1500" b="1" i="0">
                <a:solidFill>
                  <a:srgbClr val="FFFFFF"/>
                </a:solidFill>
                <a:latin typeface="Cambria"/>
              </a:rPr>
              <a:t>p(function) = genomes encoding it ÷ genomes selected</a:t>
            </a:r>
          </a:p>
          <a:p>
            <a:pPr algn="l">
              <a:spcAft>
                <a:spcPts val="0"/>
              </a:spcAft>
            </a:pPr>
            <a:r>
              <a:rPr sz="1300" b="0" i="0">
                <a:solidFill>
                  <a:srgbClr val="02C39A"/>
                </a:solidFill>
                <a:latin typeface="Calibri"/>
              </a:rPr>
              <a:t>core → p = 1.0     accessory → p &lt; 1.0     one reference → p = 1 for all</a:t>
            </a:r>
          </a:p>
        </p:txBody>
      </p:sp>
      <p:sp>
        <p:nvSpPr>
          <p:cNvPr id="4" name="TextBox 3"/>
          <p:cNvSpPr txBox="1"/>
          <p:nvPr/>
        </p:nvSpPr>
        <p:spPr>
          <a:xfrm>
            <a:off x="548640" y="3063240"/>
            <a:ext cx="5669280" cy="2377440"/>
          </a:xfrm>
          <a:prstGeom prst="rect">
            <a:avLst/>
          </a:prstGeom>
          <a:noFill/>
        </p:spPr>
        <p:txBody>
          <a:bodyPr wrap="square" lIns="0" rIns="0" tIns="0" bIns="0" anchor="t">
            <a:spAutoFit/>
          </a:bodyPr>
          <a:lstStyle/>
          <a:p>
            <a:pPr>
              <a:spcAft>
                <a:spcPts val="1100"/>
              </a:spcAft>
            </a:pPr>
            <a:r>
              <a:rPr sz="1400" b="1">
                <a:solidFill>
                  <a:srgbClr val="028090"/>
                </a:solidFill>
                <a:latin typeface="Calibri"/>
              </a:rPr>
              <a:t>Into the objective.  </a:t>
            </a:r>
            <a:r>
              <a:rPr sz="1400">
                <a:solidFill>
                  <a:srgbClr val="10292E"/>
                </a:solidFill>
                <a:latin typeface="Calibri"/>
              </a:rPr>
              <a:t>Each reaction takes the largest weight among its genes, and prFBA penalizes flux through low-weight reactions. The weight is an annotation prevalence, not a calibrated probability — next slide.</a:t>
            </a:r>
          </a:p>
          <a:p>
            <a:pPr>
              <a:spcAft>
                <a:spcPts val="1100"/>
              </a:spcAft>
            </a:pPr>
            <a:r>
              <a:rPr sz="1400" b="1">
                <a:solidFill>
                  <a:srgbClr val="028090"/>
                </a:solidFill>
                <a:latin typeface="Calibri"/>
              </a:rPr>
              <a:t>Reproducible by construction.  </a:t>
            </a:r>
            <a:r>
              <a:rPr sz="1400">
                <a:solidFill>
                  <a:srgbClr val="10292E"/>
                </a:solidFill>
                <a:latin typeface="Calibri"/>
              </a:rPr>
              <a:t>Each genome ships with provenance: git commit, input hashes, per-stage parameters, and the abstention reason when no model was built.</a:t>
            </a:r>
          </a:p>
        </p:txBody>
      </p:sp>
      <p:sp>
        <p:nvSpPr>
          <p:cNvPr id="5" name="Rounded Rectangle 4"/>
          <p:cNvSpPr/>
          <p:nvPr/>
        </p:nvSpPr>
        <p:spPr>
          <a:xfrm>
            <a:off x="6675120" y="1371600"/>
            <a:ext cx="2377440" cy="132588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100"/>
              </a:spcAft>
            </a:pPr>
            <a:r>
              <a:rPr sz="3400" b="1" i="0">
                <a:solidFill>
                  <a:srgbClr val="028090"/>
                </a:solidFill>
                <a:latin typeface="Cambria"/>
              </a:rPr>
              <a:t>3,224</a:t>
            </a:r>
          </a:p>
          <a:p>
            <a:pPr algn="l">
              <a:lnSpc>
                <a:spcPct val="92000"/>
              </a:lnSpc>
              <a:spcAft>
                <a:spcPts val="0"/>
              </a:spcAft>
            </a:pPr>
            <a:r>
              <a:rPr sz="1150" b="0" i="0">
                <a:solidFill>
                  <a:srgbClr val="5B7179"/>
                </a:solidFill>
                <a:latin typeface="Calibri"/>
              </a:rPr>
              <a:t>genomes + GenomeSet
in KBase workspace 261948</a:t>
            </a:r>
          </a:p>
        </p:txBody>
      </p:sp>
      <p:sp>
        <p:nvSpPr>
          <p:cNvPr id="6" name="Rounded Rectangle 5"/>
          <p:cNvSpPr/>
          <p:nvPr/>
        </p:nvSpPr>
        <p:spPr>
          <a:xfrm>
            <a:off x="9326880" y="1371600"/>
            <a:ext cx="2313432" cy="132588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100"/>
              </a:spcAft>
            </a:pPr>
            <a:r>
              <a:rPr sz="3400" b="1" i="0">
                <a:solidFill>
                  <a:srgbClr val="C96E0A"/>
                </a:solidFill>
                <a:latin typeface="Cambria"/>
              </a:rPr>
              <a:t>52</a:t>
            </a:r>
          </a:p>
          <a:p>
            <a:pPr algn="l">
              <a:lnSpc>
                <a:spcPct val="92000"/>
              </a:lnSpc>
              <a:spcAft>
                <a:spcPts val="0"/>
              </a:spcAft>
            </a:pPr>
            <a:r>
              <a:rPr sz="1150" b="0" i="0">
                <a:solidFill>
                  <a:srgbClr val="5B7179"/>
                </a:solidFill>
                <a:latin typeface="Calibri"/>
              </a:rPr>
              <a:t>of 3,276 ASVs abstained
rather than guess</a:t>
            </a:r>
          </a:p>
        </p:txBody>
      </p:sp>
      <p:sp>
        <p:nvSpPr>
          <p:cNvPr id="7" name="Rounded Rectangle 6"/>
          <p:cNvSpPr/>
          <p:nvPr/>
        </p:nvSpPr>
        <p:spPr>
          <a:xfrm>
            <a:off x="6675120" y="3063240"/>
            <a:ext cx="4965192" cy="233172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82880"/>
          <a:lstStyle/>
          <a:p>
            <a:pPr algn="l">
              <a:spcAft>
                <a:spcPts val="900"/>
              </a:spcAft>
            </a:pPr>
            <a:r>
              <a:rPr sz="1400" b="1" i="0">
                <a:solidFill>
                  <a:srgbClr val="10292E"/>
                </a:solidFill>
                <a:latin typeface="Cambria"/>
              </a:rPr>
              <a:t>Also extended to whole genomes</a:t>
            </a:r>
          </a:p>
          <a:p>
            <a:pPr algn="l">
              <a:lnSpc>
                <a:spcPct val="108000"/>
              </a:lnSpc>
              <a:spcAft>
                <a:spcPts val="0"/>
              </a:spcAft>
            </a:pPr>
            <a:r>
              <a:rPr sz="1250" b="0" i="0">
                <a:solidFill>
                  <a:srgbClr val="5B7179"/>
                </a:solidFill>
                <a:latin typeface="Calibri"/>
              </a:rPr>
              <a:t>Real MAGs enter the same selection path by skani average nucleotide identity instead of 16S identity — 291 dereplicated MAGs against GTDB R226 and 2,160 BV-BRC sludge genomes, with an alignment-fraction guard so a high-ANI, near-zero-coverage hit cannot win. Only BV-BRC matches can go on to reconstruction. That path now has a validation arm of its own.</a:t>
            </a:r>
          </a:p>
        </p:txBody>
      </p:sp>
      <p:sp>
        <p:nvSpPr>
          <p:cNvPr id="8" name="TextBox 7"/>
          <p:cNvSpPr txBox="1"/>
          <p:nvPr/>
        </p:nvSpPr>
        <p:spPr>
          <a:xfrm>
            <a:off x="548640" y="6382512"/>
            <a:ext cx="11094415" cy="274320"/>
          </a:xfrm>
          <a:prstGeom prst="rect">
            <a:avLst/>
          </a:prstGeom>
          <a:noFill/>
        </p:spPr>
        <p:txBody>
          <a:bodyPr wrap="square" lIns="0" rIns="0" tIns="0" bIns="0" anchor="t">
            <a:spAutoFit/>
          </a:bodyPr>
          <a:lstStyle/>
          <a:p>
            <a:pPr algn="l">
              <a:spcAft>
                <a:spcPts val="0"/>
              </a:spcAft>
            </a:pPr>
            <a:r>
              <a:rPr sz="1000" b="0" i="0">
                <a:solidFill>
                  <a:srgbClr val="5B7179"/>
                </a:solidFill>
                <a:latin typeface="Calibri"/>
              </a:rPr>
              <a:t>ANI classes use thresholds recalibrated for genomes: ≥95% same species, 85–95% putatively species-distinct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0984687" y="429768"/>
            <a:ext cx="658368" cy="292608"/>
          </a:xfrm>
          <a:prstGeom prst="roundRect">
            <a:avLst>
              <a:gd name="adj" fmla="val 6000"/>
            </a:avLst>
          </a:prstGeom>
          <a:solidFill>
            <a:srgbClr val="E887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600"/>
              </a:spcAft>
            </a:pPr>
            <a:r>
              <a:rPr sz="1150" b="1" i="0">
                <a:solidFill>
                  <a:srgbClr val="10292E"/>
                </a:solidFill>
                <a:latin typeface="Calibri"/>
              </a:rPr>
              <a:t>NEW</a:t>
            </a:r>
          </a:p>
        </p:txBody>
      </p:sp>
      <p:sp>
        <p:nvSpPr>
          <p:cNvPr id="3" name="TextBox 2"/>
          <p:cNvSpPr txBox="1"/>
          <p:nvPr/>
        </p:nvSpPr>
        <p:spPr>
          <a:xfrm>
            <a:off x="548640" y="384048"/>
            <a:ext cx="10225735" cy="777240"/>
          </a:xfrm>
          <a:prstGeom prst="rect">
            <a:avLst/>
          </a:prstGeom>
          <a:noFill/>
        </p:spPr>
        <p:txBody>
          <a:bodyPr wrap="square" lIns="0" rIns="0" tIns="0" bIns="0" anchor="t">
            <a:spAutoFit/>
          </a:bodyPr>
          <a:lstStyle/>
          <a:p>
            <a:pPr algn="l">
              <a:spcAft>
                <a:spcPts val="200"/>
              </a:spcAft>
            </a:pPr>
            <a:r>
              <a:rPr sz="3000" b="1" i="0">
                <a:solidFill>
                  <a:srgbClr val="10292E"/>
                </a:solidFill>
                <a:latin typeface="Cambria"/>
              </a:rPr>
              <a:t>What the weighting can — and cannot — claim</a:t>
            </a:r>
          </a:p>
          <a:p>
            <a:pPr algn="l">
              <a:spcAft>
                <a:spcPts val="0"/>
              </a:spcAft>
            </a:pPr>
            <a:r>
              <a:rPr sz="1350" b="0" i="0">
                <a:solidFill>
                  <a:srgbClr val="5B7179"/>
                </a:solidFill>
                <a:latin typeface="Calibri"/>
              </a:rPr>
              <a:t>A literature and code review of the synthetic-genome step; ten defects survived adversarial review</a:t>
            </a:r>
          </a:p>
        </p:txBody>
      </p:sp>
      <p:sp>
        <p:nvSpPr>
          <p:cNvPr id="4" name="Rounded Rectangle 3"/>
          <p:cNvSpPr/>
          <p:nvPr/>
        </p:nvSpPr>
        <p:spPr>
          <a:xfrm>
            <a:off x="548640" y="1371600"/>
            <a:ext cx="2567635" cy="132588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100"/>
              </a:spcAft>
            </a:pPr>
            <a:r>
              <a:rPr sz="3400" b="1" i="0">
                <a:solidFill>
                  <a:srgbClr val="028090"/>
                </a:solidFill>
                <a:latin typeface="Cambria"/>
              </a:rPr>
              <a:t>86.8%</a:t>
            </a:r>
          </a:p>
          <a:p>
            <a:pPr algn="l">
              <a:lnSpc>
                <a:spcPct val="92000"/>
              </a:lnSpc>
              <a:spcAft>
                <a:spcPts val="0"/>
              </a:spcAft>
            </a:pPr>
            <a:r>
              <a:rPr sz="1150" b="0" i="0">
                <a:solidFill>
                  <a:srgbClr val="5B7179"/>
                </a:solidFill>
                <a:latin typeface="Calibri"/>
              </a:rPr>
              <a:t>of answered benchmark queries
select one genome: p = 1 for all</a:t>
            </a:r>
          </a:p>
        </p:txBody>
      </p:sp>
      <p:sp>
        <p:nvSpPr>
          <p:cNvPr id="5" name="Rounded Rectangle 4"/>
          <p:cNvSpPr/>
          <p:nvPr/>
        </p:nvSpPr>
        <p:spPr>
          <a:xfrm>
            <a:off x="3390595" y="1371600"/>
            <a:ext cx="2567635" cy="132588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100"/>
              </a:spcAft>
            </a:pPr>
            <a:r>
              <a:rPr sz="3400" b="1" i="0">
                <a:solidFill>
                  <a:srgbClr val="028090"/>
                </a:solidFill>
                <a:latin typeface="Cambria"/>
              </a:rPr>
              <a:t>62.5%</a:t>
            </a:r>
          </a:p>
          <a:p>
            <a:pPr algn="l">
              <a:lnSpc>
                <a:spcPct val="92000"/>
              </a:lnSpc>
              <a:spcAft>
                <a:spcPts val="0"/>
              </a:spcAft>
            </a:pPr>
            <a:r>
              <a:rPr sz="1150" b="0" i="0">
                <a:solidFill>
                  <a:srgbClr val="5B7179"/>
                </a:solidFill>
                <a:latin typeface="Calibri"/>
              </a:rPr>
              <a:t>of answered ASVs in the 3,950-ASV
deployment run do the same</a:t>
            </a:r>
          </a:p>
        </p:txBody>
      </p:sp>
      <p:sp>
        <p:nvSpPr>
          <p:cNvPr id="6" name="Rounded Rectangle 5"/>
          <p:cNvSpPr/>
          <p:nvPr/>
        </p:nvSpPr>
        <p:spPr>
          <a:xfrm>
            <a:off x="6232550" y="1371600"/>
            <a:ext cx="2567635" cy="132588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100"/>
              </a:spcAft>
            </a:pPr>
            <a:r>
              <a:rPr sz="3400" b="1" i="0">
                <a:solidFill>
                  <a:srgbClr val="C96E0A"/>
                </a:solidFill>
                <a:latin typeface="Cambria"/>
              </a:rPr>
              <a:t>0</a:t>
            </a:r>
          </a:p>
          <a:p>
            <a:pPr algn="l">
              <a:lnSpc>
                <a:spcPct val="92000"/>
              </a:lnSpc>
              <a:spcAft>
                <a:spcPts val="0"/>
              </a:spcAft>
            </a:pPr>
            <a:r>
              <a:rPr sz="1150" b="0" i="0">
                <a:solidFill>
                  <a:srgbClr val="5B7179"/>
                </a:solidFill>
                <a:latin typeface="Calibri"/>
              </a:rPr>
              <a:t>experiments in this work that
exercise the weighting</a:t>
            </a:r>
          </a:p>
        </p:txBody>
      </p:sp>
      <p:sp>
        <p:nvSpPr>
          <p:cNvPr id="7" name="Rounded Rectangle 6"/>
          <p:cNvSpPr/>
          <p:nvPr/>
        </p:nvSpPr>
        <p:spPr>
          <a:xfrm>
            <a:off x="9074505" y="1371600"/>
            <a:ext cx="2567635" cy="132588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100"/>
              </a:spcAft>
            </a:pPr>
            <a:r>
              <a:rPr sz="3400" b="1" i="0">
                <a:solidFill>
                  <a:srgbClr val="C96E0A"/>
                </a:solidFill>
                <a:latin typeface="Cambria"/>
              </a:rPr>
              <a:t>59%</a:t>
            </a:r>
          </a:p>
          <a:p>
            <a:pPr algn="l">
              <a:lnSpc>
                <a:spcPct val="92000"/>
              </a:lnSpc>
              <a:spcAft>
                <a:spcPts val="0"/>
              </a:spcAft>
            </a:pPr>
            <a:r>
              <a:rPr sz="1150" b="0" i="0">
                <a:solidFill>
                  <a:srgbClr val="5B7179"/>
                </a:solidFill>
                <a:latin typeface="Calibri"/>
              </a:rPr>
              <a:t>of 3+-genome merges in that run
span different phyla</a:t>
            </a:r>
          </a:p>
        </p:txBody>
      </p:sp>
      <p:sp>
        <p:nvSpPr>
          <p:cNvPr id="8" name="TextBox 7"/>
          <p:cNvSpPr txBox="1"/>
          <p:nvPr/>
        </p:nvSpPr>
        <p:spPr>
          <a:xfrm>
            <a:off x="548640" y="2926080"/>
            <a:ext cx="6766560" cy="3291840"/>
          </a:xfrm>
          <a:prstGeom prst="rect">
            <a:avLst/>
          </a:prstGeom>
          <a:noFill/>
        </p:spPr>
        <p:txBody>
          <a:bodyPr wrap="square" lIns="0" rIns="0" tIns="0" bIns="0" anchor="t">
            <a:spAutoFit/>
          </a:bodyPr>
          <a:lstStyle/>
          <a:p>
            <a:pPr>
              <a:spcAft>
                <a:spcPts val="1000"/>
              </a:spcAft>
            </a:pPr>
            <a:r>
              <a:rPr sz="1300" b="1">
                <a:solidFill>
                  <a:srgbClr val="028090"/>
                </a:solidFill>
                <a:latin typeface="Calibri"/>
              </a:rPr>
              <a:t>Degenerate where it matters.  </a:t>
            </a:r>
            <a:r>
              <a:rPr sz="1300">
                <a:solidFill>
                  <a:srgbClr val="10292E"/>
                </a:solidFill>
                <a:latin typeface="Calibri"/>
              </a:rPr>
              <a:t>With one reference, 1 − p^exp vanishes and prFBA reduces to a two-level parsimony objective. Where the weight is active, its commonest fractional value is 0.5.</a:t>
            </a:r>
          </a:p>
          <a:p>
            <a:pPr>
              <a:spcAft>
                <a:spcPts val="1000"/>
              </a:spcAft>
            </a:pPr>
            <a:r>
              <a:rPr sz="1300" b="1">
                <a:solidFill>
                  <a:srgbClr val="028090"/>
                </a:solidFill>
                <a:latin typeface="Calibri"/>
              </a:rPr>
              <a:t>It validates the selector, not the weight.  </a:t>
            </a:r>
            <a:r>
              <a:rPr sz="1300">
                <a:solidFill>
                  <a:srgbClr val="10292E"/>
                </a:solidFill>
                <a:latin typeface="Calibri"/>
              </a:rPr>
              <a:t>Every arm in this deck predicts the unweighted union of the selected references' content. No reported number tests the weighting.</a:t>
            </a:r>
          </a:p>
          <a:p>
            <a:pPr>
              <a:spcAft>
                <a:spcPts val="1000"/>
              </a:spcAft>
            </a:pPr>
            <a:r>
              <a:rPr sz="1300" b="1">
                <a:solidFill>
                  <a:srgbClr val="028090"/>
                </a:solidFill>
                <a:latin typeface="Calibri"/>
              </a:rPr>
              <a:t>A prevalence, not a probability.  </a:t>
            </a:r>
            <a:r>
              <a:rPr sz="1300">
                <a:solidFill>
                  <a:srgbClr val="10292E"/>
                </a:solidFill>
                <a:latin typeface="Calibri"/>
              </a:rPr>
              <a:t>Genomes at the species boundary share only 65–90% of their genes, so p = 1 overstates presence — and absence means no annotation, not no gene.</a:t>
            </a:r>
          </a:p>
          <a:p>
            <a:pPr>
              <a:spcAft>
                <a:spcPts val="1000"/>
              </a:spcAft>
            </a:pPr>
            <a:r>
              <a:rPr sz="1300" b="1">
                <a:solidFill>
                  <a:srgbClr val="028090"/>
                </a:solidFill>
                <a:latin typeface="Calibri"/>
              </a:rPr>
              <a:t>Allocated inversely to need.  </a:t>
            </a:r>
            <a:r>
              <a:rPr sz="1300">
                <a:solidFill>
                  <a:srgbClr val="10292E"/>
                </a:solidFill>
                <a:latin typeface="Calibri"/>
              </a:rPr>
              <a:t>Selection size tracks database redundancy: largest where one reference suffices, one where the query is novel.</a:t>
            </a:r>
          </a:p>
        </p:txBody>
      </p:sp>
      <p:sp>
        <p:nvSpPr>
          <p:cNvPr id="9" name="Rounded Rectangle 8"/>
          <p:cNvSpPr/>
          <p:nvPr/>
        </p:nvSpPr>
        <p:spPr>
          <a:xfrm>
            <a:off x="7589520" y="2926080"/>
            <a:ext cx="4050791" cy="292608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900"/>
              </a:spcAft>
            </a:pPr>
            <a:r>
              <a:rPr sz="1400" b="1" i="0">
                <a:solidFill>
                  <a:srgbClr val="10292E"/>
                </a:solidFill>
                <a:latin typeface="Cambria"/>
              </a:rPr>
              <a:t>Prior art it re-derives</a:t>
            </a:r>
          </a:p>
          <a:p>
            <a:pPr algn="l" marL="155448" indent="-155448">
              <a:lnSpc>
                <a:spcPct val="104000"/>
              </a:lnSpc>
              <a:spcAft>
                <a:spcPts val="800"/>
              </a:spcAft>
            </a:pPr>
            <a:r>
              <a:rPr sz="1200" b="0" i="0">
                <a:solidFill>
                  <a:srgbClr val="5B7179"/>
                </a:solidFill>
                <a:latin typeface="Calibri"/>
              </a:rPr>
              <a:t>•  Likelihood-based gapfilling on the same ModelSEED/KBase stack (Benedict 2014)</a:t>
            </a:r>
          </a:p>
          <a:p>
            <a:pPr algn="l" marL="155448" indent="-155448">
              <a:lnSpc>
                <a:spcPct val="104000"/>
              </a:lnSpc>
              <a:spcAft>
                <a:spcPts val="800"/>
              </a:spcAft>
            </a:pPr>
            <a:r>
              <a:rPr sz="1200" b="0" i="0">
                <a:solidFill>
                  <a:srgbClr val="5B7179"/>
                </a:solidFill>
                <a:latin typeface="Calibri"/>
              </a:rPr>
              <a:t>•  The objective is GIMME's, with prevalence for expression (Becker &amp; Palsson 2008)</a:t>
            </a:r>
          </a:p>
          <a:p>
            <a:pPr algn="l" marL="155448" indent="-155448">
              <a:lnSpc>
                <a:spcPct val="104000"/>
              </a:lnSpc>
              <a:spcAft>
                <a:spcPts val="800"/>
              </a:spcAft>
            </a:pPr>
            <a:r>
              <a:rPr sz="1200" b="0" i="0">
                <a:solidFill>
                  <a:srgbClr val="5B7179"/>
                </a:solidFill>
                <a:latin typeface="Calibri"/>
              </a:rPr>
              <a:t>•  Pangenome profiles from a 16S call (PanFP); nearest-genome copying (Piphillin)</a:t>
            </a:r>
          </a:p>
          <a:p>
            <a:pPr algn="l" marL="155448" indent="-155448">
              <a:lnSpc>
                <a:spcPct val="104000"/>
              </a:lnSpc>
              <a:spcAft>
                <a:spcPts val="800"/>
              </a:spcAft>
            </a:pPr>
            <a:r>
              <a:rPr sz="1200" b="0" i="0">
                <a:solidFill>
                  <a:srgbClr val="5B7179"/>
                </a:solidFill>
                <a:latin typeface="Calibri"/>
              </a:rPr>
              <a:t>•  New is the combination: exact-tie selection at database depth, plus abstention</a:t>
            </a:r>
          </a:p>
        </p:txBody>
      </p:sp>
      <p:sp>
        <p:nvSpPr>
          <p:cNvPr id="10" name="TextBox 9"/>
          <p:cNvSpPr txBox="1"/>
          <p:nvPr/>
        </p:nvSpPr>
        <p:spPr>
          <a:xfrm>
            <a:off x="548640" y="6382512"/>
            <a:ext cx="11094415" cy="274320"/>
          </a:xfrm>
          <a:prstGeom prst="rect">
            <a:avLst/>
          </a:prstGeom>
          <a:noFill/>
        </p:spPr>
        <p:txBody>
          <a:bodyPr wrap="square" lIns="0" rIns="0" tIns="0" bIns="0" anchor="t">
            <a:spAutoFit/>
          </a:bodyPr>
          <a:lstStyle/>
          <a:p>
            <a:pPr algn="l">
              <a:spcAft>
                <a:spcPts val="0"/>
              </a:spcAft>
            </a:pPr>
            <a:r>
              <a:rPr sz="1000" b="0" i="0">
                <a:solidFill>
                  <a:srgbClr val="5B7179"/>
                </a:solidFill>
                <a:latin typeface="Calibri"/>
              </a:rPr>
              <a:t>Tie sets on the controlled benchmark span phyla 6.4% of the time; in the 3,950-ASV deployment run 31.7% (two genomes) to 59.0% (three or more)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1094415" cy="777240"/>
          </a:xfrm>
          <a:prstGeom prst="rect">
            <a:avLst/>
          </a:prstGeom>
          <a:noFill/>
        </p:spPr>
        <p:txBody>
          <a:bodyPr wrap="square" lIns="0" rIns="0" tIns="0" bIns="0" anchor="t">
            <a:spAutoFit/>
          </a:bodyPr>
          <a:lstStyle/>
          <a:p>
            <a:pPr algn="l">
              <a:spcAft>
                <a:spcPts val="200"/>
              </a:spcAft>
            </a:pPr>
            <a:r>
              <a:rPr sz="3000" b="1" i="0">
                <a:solidFill>
                  <a:srgbClr val="10292E"/>
                </a:solidFill>
                <a:latin typeface="Cambria"/>
              </a:rPr>
              <a:t>A 10,000-organism in-silico validation</a:t>
            </a:r>
          </a:p>
          <a:p>
            <a:pPr algn="l">
              <a:spcAft>
                <a:spcPts val="0"/>
              </a:spcAft>
            </a:pPr>
            <a:r>
              <a:rPr sz="1350" b="0" i="0">
                <a:solidFill>
                  <a:srgbClr val="5B7179"/>
                </a:solidFill>
                <a:latin typeface="Calibri"/>
              </a:rPr>
              <a:t>Run the unaltered pipeline on amplicons whose true genome and gene set we know</a:t>
            </a:r>
          </a:p>
        </p:txBody>
      </p:sp>
      <p:sp>
        <p:nvSpPr>
          <p:cNvPr id="3" name="TextBox 2"/>
          <p:cNvSpPr txBox="1"/>
          <p:nvPr/>
        </p:nvSpPr>
        <p:spPr>
          <a:xfrm>
            <a:off x="548640" y="1371600"/>
            <a:ext cx="5577840" cy="3108960"/>
          </a:xfrm>
          <a:prstGeom prst="rect">
            <a:avLst/>
          </a:prstGeom>
          <a:noFill/>
        </p:spPr>
        <p:txBody>
          <a:bodyPr wrap="square" lIns="0" rIns="0" tIns="0" bIns="0" anchor="t">
            <a:spAutoFit/>
          </a:bodyPr>
          <a:lstStyle/>
          <a:p>
            <a:pPr>
              <a:spcAft>
                <a:spcPts val="1200"/>
              </a:spcAft>
            </a:pPr>
            <a:r>
              <a:rPr sz="1400" b="1">
                <a:solidFill>
                  <a:srgbClr val="028090"/>
                </a:solidFill>
                <a:latin typeface="Calibri"/>
              </a:rPr>
              <a:t>The design.  </a:t>
            </a:r>
            <a:r>
              <a:rPr sz="1400">
                <a:solidFill>
                  <a:srgbClr val="10292E"/>
                </a:solidFill>
                <a:latin typeface="Calibri"/>
              </a:rPr>
              <a:t>10,000 taxonomy-stratified BV-BRC genomes, deterministic (seed 1729), in-silico PCR for eight regions — V1–V2 through V7–V9 with full-length 16S as positive control — giving 67,991 ASVs.</a:t>
            </a:r>
          </a:p>
          <a:p>
            <a:pPr>
              <a:spcAft>
                <a:spcPts val="1200"/>
              </a:spcAft>
            </a:pPr>
            <a:r>
              <a:rPr sz="1400" b="1">
                <a:solidFill>
                  <a:srgbClr val="028090"/>
                </a:solidFill>
                <a:latin typeface="Calibri"/>
              </a:rPr>
              <a:t>Scored two ways.  </a:t>
            </a:r>
            <a:r>
              <a:rPr sz="1400">
                <a:solidFill>
                  <a:srgbClr val="10292E"/>
                </a:solidFill>
                <a:latin typeface="Calibri"/>
              </a:rPr>
              <a:t>Self-inclusion leaves the source organism in the database (the realistic upper bound). Self-exclusion removes it and every ≥0.987 neighbour, then re-selects — performance as if the organism were novel.</a:t>
            </a:r>
          </a:p>
          <a:p>
            <a:pPr>
              <a:spcAft>
                <a:spcPts val="1200"/>
              </a:spcAft>
            </a:pPr>
            <a:r>
              <a:rPr sz="1400" b="1">
                <a:solidFill>
                  <a:srgbClr val="028090"/>
                </a:solidFill>
                <a:latin typeface="Calibri"/>
              </a:rPr>
              <a:t>Two measures.  </a:t>
            </a:r>
            <a:r>
              <a:rPr sz="1400">
                <a:solidFill>
                  <a:srgbClr val="10292E"/>
                </a:solidFill>
                <a:latin typeface="Calibri"/>
              </a:rPr>
              <a:t>Taxonomic accuracy against the NCBI lineage, and PGFam gene capture against the source genome's actual gene set.</a:t>
            </a:r>
          </a:p>
        </p:txBody>
      </p:sp>
      <p:sp>
        <p:nvSpPr>
          <p:cNvPr id="4" name="Rounded Rectangle 3"/>
          <p:cNvSpPr/>
          <p:nvPr/>
        </p:nvSpPr>
        <p:spPr>
          <a:xfrm>
            <a:off x="6492240" y="1371600"/>
            <a:ext cx="2468880" cy="132588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100"/>
              </a:spcAft>
            </a:pPr>
            <a:r>
              <a:rPr sz="2800" b="1" i="0">
                <a:solidFill>
                  <a:srgbClr val="028090"/>
                </a:solidFill>
                <a:latin typeface="Cambria"/>
              </a:rPr>
              <a:t>0.94–0.99</a:t>
            </a:r>
          </a:p>
          <a:p>
            <a:pPr algn="l">
              <a:lnSpc>
                <a:spcPct val="92000"/>
              </a:lnSpc>
              <a:spcAft>
                <a:spcPts val="0"/>
              </a:spcAft>
            </a:pPr>
            <a:r>
              <a:rPr sz="1150" b="0" i="0">
                <a:solidFill>
                  <a:srgbClr val="5B7179"/>
                </a:solidFill>
                <a:latin typeface="Calibri"/>
              </a:rPr>
              <a:t>genus accuracy when the
source is present</a:t>
            </a:r>
          </a:p>
        </p:txBody>
      </p:sp>
      <p:sp>
        <p:nvSpPr>
          <p:cNvPr id="5" name="Rounded Rectangle 4"/>
          <p:cNvSpPr/>
          <p:nvPr/>
        </p:nvSpPr>
        <p:spPr>
          <a:xfrm>
            <a:off x="9171432" y="1371600"/>
            <a:ext cx="2468880" cy="132588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100"/>
              </a:spcAft>
            </a:pPr>
            <a:r>
              <a:rPr sz="3400" b="1" i="0">
                <a:solidFill>
                  <a:srgbClr val="028090"/>
                </a:solidFill>
                <a:latin typeface="Cambria"/>
              </a:rPr>
              <a:t>95–99%</a:t>
            </a:r>
          </a:p>
          <a:p>
            <a:pPr algn="l">
              <a:lnSpc>
                <a:spcPct val="92000"/>
              </a:lnSpc>
              <a:spcAft>
                <a:spcPts val="0"/>
              </a:spcAft>
            </a:pPr>
            <a:r>
              <a:rPr sz="1150" b="0" i="0">
                <a:solidFill>
                  <a:srgbClr val="5B7179"/>
                </a:solidFill>
                <a:latin typeface="Calibri"/>
              </a:rPr>
              <a:t>of its metabolism
recovered</a:t>
            </a:r>
          </a:p>
        </p:txBody>
      </p:sp>
      <p:sp>
        <p:nvSpPr>
          <p:cNvPr id="6" name="Rounded Rectangle 5"/>
          <p:cNvSpPr/>
          <p:nvPr/>
        </p:nvSpPr>
        <p:spPr>
          <a:xfrm>
            <a:off x="6492240" y="2971800"/>
            <a:ext cx="2468880" cy="132588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100"/>
              </a:spcAft>
            </a:pPr>
            <a:r>
              <a:rPr sz="2800" b="1" i="0">
                <a:solidFill>
                  <a:srgbClr val="C96E0A"/>
                </a:solidFill>
                <a:latin typeface="Cambria"/>
              </a:rPr>
              <a:t>0.60–0.73</a:t>
            </a:r>
          </a:p>
          <a:p>
            <a:pPr algn="l">
              <a:lnSpc>
                <a:spcPct val="92000"/>
              </a:lnSpc>
              <a:spcAft>
                <a:spcPts val="0"/>
              </a:spcAft>
            </a:pPr>
            <a:r>
              <a:rPr sz="1150" b="0" i="0">
                <a:solidFill>
                  <a:srgbClr val="5B7179"/>
                </a:solidFill>
                <a:latin typeface="Calibri"/>
              </a:rPr>
              <a:t>genus accuracy when removed,
among amplicons that answer</a:t>
            </a:r>
          </a:p>
        </p:txBody>
      </p:sp>
      <p:sp>
        <p:nvSpPr>
          <p:cNvPr id="7" name="Rounded Rectangle 6"/>
          <p:cNvSpPr/>
          <p:nvPr/>
        </p:nvSpPr>
        <p:spPr>
          <a:xfrm>
            <a:off x="9171432" y="2971800"/>
            <a:ext cx="2468880" cy="132588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100"/>
              </a:spcAft>
            </a:pPr>
            <a:r>
              <a:rPr sz="3400" b="1" i="0">
                <a:solidFill>
                  <a:srgbClr val="C96E0A"/>
                </a:solidFill>
                <a:latin typeface="Cambria"/>
              </a:rPr>
              <a:t>68–72%</a:t>
            </a:r>
          </a:p>
          <a:p>
            <a:pPr algn="l">
              <a:lnSpc>
                <a:spcPct val="92000"/>
              </a:lnSpc>
              <a:spcAft>
                <a:spcPts val="0"/>
              </a:spcAft>
            </a:pPr>
            <a:r>
              <a:rPr sz="1150" b="0" i="0">
                <a:solidFill>
                  <a:srgbClr val="5B7179"/>
                </a:solidFill>
                <a:latin typeface="Calibri"/>
              </a:rPr>
              <a:t>gene capture when removed,
among amplicons that answer</a:t>
            </a:r>
          </a:p>
        </p:txBody>
      </p:sp>
      <p:sp>
        <p:nvSpPr>
          <p:cNvPr id="8" name="TextBox 7"/>
          <p:cNvSpPr txBox="1"/>
          <p:nvPr/>
        </p:nvSpPr>
        <p:spPr>
          <a:xfrm>
            <a:off x="6492240" y="4617720"/>
            <a:ext cx="5148072" cy="822960"/>
          </a:xfrm>
          <a:prstGeom prst="rect">
            <a:avLst/>
          </a:prstGeom>
          <a:noFill/>
        </p:spPr>
        <p:txBody>
          <a:bodyPr wrap="square" lIns="0" rIns="0" tIns="0" bIns="0" anchor="t">
            <a:spAutoFit/>
          </a:bodyPr>
          <a:lstStyle/>
          <a:p>
            <a:pPr algn="l">
              <a:lnSpc>
                <a:spcPct val="108000"/>
              </a:lnSpc>
              <a:spcAft>
                <a:spcPts val="0"/>
              </a:spcAft>
            </a:pPr>
            <a:r>
              <a:rPr sz="1250" b="0" i="0">
                <a:solidFill>
                  <a:srgbClr val="5B7179"/>
                </a:solidFill>
                <a:latin typeface="Calibri"/>
              </a:rPr>
              <a:t>Family-level assignment is far more robust than genus: 0.79–0.86 even for novel organisms — family-level metabolism transfers, genus-level is where short amplicons pay.</a:t>
            </a:r>
          </a:p>
        </p:txBody>
      </p:sp>
      <p:sp>
        <p:nvSpPr>
          <p:cNvPr id="9" name="TextBox 8"/>
          <p:cNvSpPr txBox="1"/>
          <p:nvPr/>
        </p:nvSpPr>
        <p:spPr>
          <a:xfrm>
            <a:off x="548640" y="6382512"/>
            <a:ext cx="11094415" cy="274320"/>
          </a:xfrm>
          <a:prstGeom prst="rect">
            <a:avLst/>
          </a:prstGeom>
          <a:noFill/>
        </p:spPr>
        <p:txBody>
          <a:bodyPr wrap="square" lIns="0" rIns="0" tIns="0" bIns="0" anchor="t">
            <a:spAutoFit/>
          </a:bodyPr>
          <a:lstStyle/>
          <a:p>
            <a:pPr algn="l">
              <a:spcAft>
                <a:spcPts val="0"/>
              </a:spcAft>
            </a:pPr>
            <a:r>
              <a:rPr sz="1000" b="0" i="0">
                <a:solidFill>
                  <a:srgbClr val="5B7179"/>
                </a:solidFill>
                <a:latin typeface="Calibri"/>
              </a:rPr>
              <a:t>All eight regions differ significantly at genus under self-exclusion (paired McNemar, Holm p &lt; 0.05)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1094415" cy="777240"/>
          </a:xfrm>
          <a:prstGeom prst="rect">
            <a:avLst/>
          </a:prstGeom>
          <a:noFill/>
        </p:spPr>
        <p:txBody>
          <a:bodyPr wrap="square" lIns="0" rIns="0" tIns="0" bIns="0" anchor="t">
            <a:spAutoFit/>
          </a:bodyPr>
          <a:lstStyle/>
          <a:p>
            <a:pPr algn="l">
              <a:spcAft>
                <a:spcPts val="200"/>
              </a:spcAft>
            </a:pPr>
            <a:r>
              <a:rPr sz="3000" b="1" i="0">
                <a:solidFill>
                  <a:srgbClr val="10292E"/>
                </a:solidFill>
                <a:latin typeface="Cambria"/>
              </a:rPr>
              <a:t>Longer reads buy taxonomic resolution, not raw gene recovery</a:t>
            </a:r>
          </a:p>
          <a:p>
            <a:pPr algn="l">
              <a:spcAft>
                <a:spcPts val="0"/>
              </a:spcAft>
            </a:pPr>
            <a:r>
              <a:rPr sz="1350" b="0" i="0">
                <a:solidFill>
                  <a:srgbClr val="5B7179"/>
                </a:solidFill>
                <a:latin typeface="Calibri"/>
              </a:rPr>
              <a:t>Genus accuracy by region, source organism present vs removed</a:t>
            </a:r>
          </a:p>
        </p:txBody>
      </p:sp>
      <p:graphicFrame>
        <p:nvGraphicFramePr>
          <p:cNvPr id="3" name="Chart 2"/>
          <p:cNvGraphicFramePr>
            <a:graphicFrameLocks noGrp="1"/>
          </p:cNvGraphicFramePr>
          <p:nvPr/>
        </p:nvGraphicFramePr>
        <p:xfrm>
          <a:off x="548640" y="1371600"/>
          <a:ext cx="7406640" cy="4023360"/>
        </p:xfrm>
        <a:graphic>
          <a:graphicData uri="http://schemas.openxmlformats.org/drawingml/2006/chart">
            <c:chart xmlns:c="http://schemas.openxmlformats.org/drawingml/2006/chart" r:id="rId2"/>
          </a:graphicData>
        </a:graphic>
      </p:graphicFrame>
      <p:sp>
        <p:nvSpPr>
          <p:cNvPr id="4" name="TextBox 3"/>
          <p:cNvSpPr txBox="1"/>
          <p:nvPr/>
        </p:nvSpPr>
        <p:spPr>
          <a:xfrm>
            <a:off x="8229600" y="1508760"/>
            <a:ext cx="3410712" cy="3840480"/>
          </a:xfrm>
          <a:prstGeom prst="rect">
            <a:avLst/>
          </a:prstGeom>
          <a:noFill/>
        </p:spPr>
        <p:txBody>
          <a:bodyPr wrap="square" lIns="0" rIns="0" tIns="0" bIns="0" anchor="t">
            <a:spAutoFit/>
          </a:bodyPr>
          <a:lstStyle/>
          <a:p>
            <a:pPr>
              <a:spcAft>
                <a:spcPts val="1100"/>
              </a:spcAft>
            </a:pPr>
            <a:r>
              <a:rPr sz="1300" b="1">
                <a:solidFill>
                  <a:srgbClr val="028090"/>
                </a:solidFill>
                <a:latin typeface="Calibri"/>
              </a:rPr>
              <a:t>The gradient.  </a:t>
            </a:r>
            <a:r>
              <a:rPr sz="1300">
                <a:solidFill>
                  <a:srgbClr val="10292E"/>
                </a:solidFill>
                <a:latin typeface="Calibri"/>
              </a:rPr>
              <a:t>Full-length 16S and the long V1–V3 generalize best; V4 — the most commonly sequenced region — generalizes worst.</a:t>
            </a:r>
          </a:p>
          <a:p>
            <a:pPr>
              <a:spcAft>
                <a:spcPts val="1100"/>
              </a:spcAft>
            </a:pPr>
            <a:r>
              <a:rPr sz="1300" b="1">
                <a:solidFill>
                  <a:srgbClr val="028090"/>
                </a:solidFill>
                <a:latin typeface="Calibri"/>
              </a:rPr>
              <a:t>Asymmetric cost.  </a:t>
            </a:r>
            <a:r>
              <a:rPr sz="1300">
                <a:solidFill>
                  <a:srgbClr val="10292E"/>
                </a:solidFill>
                <a:latin typeface="Calibri"/>
              </a:rPr>
              <a:t>The gene-capture gap is nearly uniform at ~27 points across every region, while the genus-accuracy gap widens for short amplicons.</a:t>
            </a:r>
          </a:p>
          <a:p>
            <a:pPr>
              <a:spcAft>
                <a:spcPts val="1100"/>
              </a:spcAft>
            </a:pPr>
            <a:r>
              <a:rPr sz="1300" b="1">
                <a:solidFill>
                  <a:srgbClr val="028090"/>
                </a:solidFill>
                <a:latin typeface="Calibri"/>
              </a:rPr>
              <a:t>Reading it.  </a:t>
            </a:r>
            <a:r>
              <a:rPr sz="1300">
                <a:solidFill>
                  <a:srgbClr val="10292E"/>
                </a:solidFill>
                <a:latin typeface="Calibri"/>
              </a:rPr>
              <a:t>Read length costs taxonomic resolution more than it costs functional recovery.</a:t>
            </a:r>
          </a:p>
        </p:txBody>
      </p:sp>
      <p:sp>
        <p:nvSpPr>
          <p:cNvPr id="5" name="TextBox 4"/>
          <p:cNvSpPr txBox="1"/>
          <p:nvPr/>
        </p:nvSpPr>
        <p:spPr>
          <a:xfrm>
            <a:off x="548640" y="6382512"/>
            <a:ext cx="11094415" cy="274320"/>
          </a:xfrm>
          <a:prstGeom prst="rect">
            <a:avLst/>
          </a:prstGeom>
          <a:noFill/>
        </p:spPr>
        <p:txBody>
          <a:bodyPr wrap="square" lIns="0" rIns="0" tIns="0" bIns="0" anchor="t">
            <a:spAutoFit/>
          </a:bodyPr>
          <a:lstStyle/>
          <a:p>
            <a:pPr algn="l">
              <a:spcAft>
                <a:spcPts val="0"/>
              </a:spcAft>
            </a:pPr>
            <a:r>
              <a:rPr sz="1000" b="0" i="0">
                <a:solidFill>
                  <a:srgbClr val="5B7179"/>
                </a:solidFill>
                <a:latin typeface="Calibri"/>
              </a:rPr>
              <a:t>Anchor predictor, Bacteria + Archaea pooled; conditional on the pipeline making a call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1094415" cy="777240"/>
          </a:xfrm>
          <a:prstGeom prst="rect">
            <a:avLst/>
          </a:prstGeom>
          <a:noFill/>
        </p:spPr>
        <p:txBody>
          <a:bodyPr wrap="square" lIns="0" rIns="0" tIns="0" bIns="0" anchor="t">
            <a:spAutoFit/>
          </a:bodyPr>
          <a:lstStyle/>
          <a:p>
            <a:pPr algn="l">
              <a:spcAft>
                <a:spcPts val="200"/>
              </a:spcAft>
            </a:pPr>
            <a:r>
              <a:rPr sz="3000" b="1" i="0">
                <a:solidFill>
                  <a:srgbClr val="10292E"/>
                </a:solidFill>
                <a:latin typeface="Cambria"/>
              </a:rPr>
              <a:t>Correcting how we scored ourselves</a:t>
            </a:r>
          </a:p>
          <a:p>
            <a:pPr algn="l">
              <a:spcAft>
                <a:spcPts val="0"/>
              </a:spcAft>
            </a:pPr>
            <a:r>
              <a:rPr sz="1350" b="0" i="0">
                <a:solidFill>
                  <a:srgbClr val="5B7179"/>
                </a:solidFill>
                <a:latin typeface="Calibri"/>
              </a:rPr>
              <a:t>Two scoring bugs made the published generalization numbers wrong in both directions</a:t>
            </a:r>
          </a:p>
        </p:txBody>
      </p:sp>
      <p:sp>
        <p:nvSpPr>
          <p:cNvPr id="3" name="TextBox 2"/>
          <p:cNvSpPr txBox="1"/>
          <p:nvPr/>
        </p:nvSpPr>
        <p:spPr>
          <a:xfrm>
            <a:off x="548640" y="1371600"/>
            <a:ext cx="6035040" cy="3291840"/>
          </a:xfrm>
          <a:prstGeom prst="rect">
            <a:avLst/>
          </a:prstGeom>
          <a:noFill/>
        </p:spPr>
        <p:txBody>
          <a:bodyPr wrap="square" lIns="0" rIns="0" tIns="0" bIns="0" anchor="t">
            <a:spAutoFit/>
          </a:bodyPr>
          <a:lstStyle/>
          <a:p>
            <a:pPr>
              <a:spcAft>
                <a:spcPts val="1200"/>
              </a:spcAft>
            </a:pPr>
            <a:r>
              <a:rPr sz="1400" b="1">
                <a:solidFill>
                  <a:srgbClr val="028090"/>
                </a:solidFill>
                <a:latin typeface="Calibri"/>
              </a:rPr>
              <a:t>The bug.  </a:t>
            </a:r>
            <a:r>
              <a:rPr sz="1400">
                <a:solidFill>
                  <a:srgbClr val="10292E"/>
                </a:solidFill>
                <a:latin typeface="Calibri"/>
              </a:rPr>
              <a:t>The scorer could not tell “the pipeline made no call” from “the truth has no name at this rank.” 22–25% of source organisms have no named NCBI genus, and every one was counted as a prediction failure.</a:t>
            </a:r>
          </a:p>
          <a:p>
            <a:pPr>
              <a:spcAft>
                <a:spcPts val="1200"/>
              </a:spcAft>
            </a:pPr>
            <a:r>
              <a:rPr sz="1400" b="1">
                <a:solidFill>
                  <a:srgbClr val="028090"/>
                </a:solidFill>
                <a:latin typeface="Calibri"/>
              </a:rPr>
              <a:t>The fix.  </a:t>
            </a:r>
            <a:r>
              <a:rPr sz="1400">
                <a:solidFill>
                  <a:srgbClr val="10292E"/>
                </a:solidFill>
                <a:latin typeface="Calibri"/>
              </a:rPr>
              <a:t>Unscoreable ranks now leave the denominator entirely, as the design spec always specified. Conditional accuracy, correct counts and called counts are unchanged — verified cell by cell.</a:t>
            </a:r>
          </a:p>
          <a:p>
            <a:pPr>
              <a:spcAft>
                <a:spcPts val="1200"/>
              </a:spcAft>
            </a:pPr>
            <a:r>
              <a:rPr sz="1400" b="1">
                <a:solidFill>
                  <a:srgbClr val="028090"/>
                </a:solidFill>
                <a:latin typeface="Calibri"/>
              </a:rPr>
              <a:t>Gene capture.  </a:t>
            </a:r>
            <a:r>
              <a:rPr sz="1400">
                <a:solidFill>
                  <a:srgbClr val="10292E"/>
                </a:solidFill>
                <a:latin typeface="Calibri"/>
              </a:rPr>
              <a:t>The mirror-image bug was fixed earlier: abstentions had been dropped from the mean instead of scoring zero, which inflated capture.</a:t>
            </a:r>
          </a:p>
        </p:txBody>
      </p:sp>
      <p:sp>
        <p:nvSpPr>
          <p:cNvPr id="4" name="Rounded Rectangle 3"/>
          <p:cNvSpPr/>
          <p:nvPr/>
        </p:nvSpPr>
        <p:spPr>
          <a:xfrm>
            <a:off x="6858000" y="1371600"/>
            <a:ext cx="4782312" cy="233172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a:lstStyle/>
          <a:p>
            <a:pPr algn="l">
              <a:spcAft>
                <a:spcPts val="1200"/>
              </a:spcAft>
            </a:pPr>
            <a:r>
              <a:rPr sz="1350" b="1" i="0">
                <a:solidFill>
                  <a:srgbClr val="10292E"/>
                </a:solidFill>
                <a:latin typeface="Cambria"/>
              </a:rPr>
              <a:t>Whole-population genus accuracy</a:t>
            </a:r>
          </a:p>
          <a:p>
            <a:pPr algn="l">
              <a:spcAft>
                <a:spcPts val="900"/>
              </a:spcAft>
            </a:pPr>
            <a:r>
              <a:rPr sz="1900" b="0">
                <a:solidFill>
                  <a:srgbClr val="5B7179"/>
                </a:solidFill>
                <a:latin typeface="Cambria"/>
              </a:rPr>
              <a:t>0.23–0.37</a:t>
            </a:r>
            <a:r>
              <a:rPr sz="1300" b="0">
                <a:solidFill>
                  <a:srgbClr val="5B7179"/>
                </a:solidFill>
                <a:latin typeface="Calibri"/>
              </a:rPr>
              <a:t>  →  </a:t>
            </a:r>
            <a:r>
              <a:rPr sz="1900" b="1">
                <a:solidFill>
                  <a:srgbClr val="028090"/>
                </a:solidFill>
                <a:latin typeface="Cambria"/>
              </a:rPr>
              <a:t>0.30–0.48</a:t>
            </a:r>
            <a:r>
              <a:rPr sz="1200" b="0">
                <a:solidFill>
                  <a:srgbClr val="5B7179"/>
                </a:solidFill>
                <a:latin typeface="Calibri"/>
              </a:rPr>
              <a:t>   novel organisms</a:t>
            </a:r>
          </a:p>
          <a:p>
            <a:pPr algn="l">
              <a:spcAft>
                <a:spcPts val="900"/>
              </a:spcAft>
            </a:pPr>
            <a:r>
              <a:rPr sz="1900" b="0">
                <a:solidFill>
                  <a:srgbClr val="5B7179"/>
                </a:solidFill>
                <a:latin typeface="Cambria"/>
              </a:rPr>
              <a:t>0.66–0.76</a:t>
            </a:r>
            <a:r>
              <a:rPr sz="1300" b="0">
                <a:solidFill>
                  <a:srgbClr val="5B7179"/>
                </a:solidFill>
                <a:latin typeface="Calibri"/>
              </a:rPr>
              <a:t>  →  </a:t>
            </a:r>
            <a:r>
              <a:rPr sz="1900" b="1">
                <a:solidFill>
                  <a:srgbClr val="007A6C"/>
                </a:solidFill>
                <a:latin typeface="Cambria"/>
              </a:rPr>
              <a:t>0.88–0.98</a:t>
            </a:r>
            <a:r>
              <a:rPr sz="1200" b="0">
                <a:solidFill>
                  <a:srgbClr val="5B7179"/>
                </a:solidFill>
                <a:latin typeface="Calibri"/>
              </a:rPr>
              <a:t>   source present</a:t>
            </a:r>
          </a:p>
          <a:p>
            <a:pPr algn="l">
              <a:lnSpc>
                <a:spcPct val="105000"/>
              </a:lnSpc>
              <a:spcAft>
                <a:spcPts val="0"/>
              </a:spcAft>
            </a:pPr>
            <a:r>
              <a:rPr sz="1150" b="0" i="0">
                <a:solidFill>
                  <a:srgbClr val="5B7179"/>
                </a:solidFill>
                <a:latin typeface="Calibri"/>
              </a:rPr>
              <a:t>Reported, not previously reported — the published figures were pessimistic by 7–11 points for novel organisms, 20–23 with the source present.</a:t>
            </a:r>
          </a:p>
        </p:txBody>
      </p:sp>
      <p:sp>
        <p:nvSpPr>
          <p:cNvPr id="5" name="TextBox 4"/>
          <p:cNvSpPr txBox="1"/>
          <p:nvPr/>
        </p:nvSpPr>
        <p:spPr>
          <a:xfrm>
            <a:off x="6858000" y="3886200"/>
            <a:ext cx="4782312" cy="1463040"/>
          </a:xfrm>
          <a:prstGeom prst="rect">
            <a:avLst/>
          </a:prstGeom>
          <a:noFill/>
        </p:spPr>
        <p:txBody>
          <a:bodyPr wrap="square" lIns="0" rIns="0" tIns="0" bIns="0" anchor="t">
            <a:spAutoFit/>
          </a:bodyPr>
          <a:lstStyle/>
          <a:p>
            <a:pPr algn="l">
              <a:lnSpc>
                <a:spcPct val="108000"/>
              </a:lnSpc>
              <a:spcAft>
                <a:spcPts val="0"/>
              </a:spcAft>
            </a:pPr>
            <a:r>
              <a:rPr sz="1250" b="0" i="0">
                <a:solidFill>
                  <a:srgbClr val="5B7179"/>
                </a:solidFill>
                <a:latin typeface="Calibri"/>
              </a:rPr>
              <a:t>Direction of travel matters more than the digits: both corrections were found by re-deriving the metric from its own definition, and both are now unit-checked in the scorer.</a:t>
            </a:r>
          </a:p>
        </p:txBody>
      </p:sp>
      <p:sp>
        <p:nvSpPr>
          <p:cNvPr id="6" name="TextBox 5"/>
          <p:cNvSpPr txBox="1"/>
          <p:nvPr/>
        </p:nvSpPr>
        <p:spPr>
          <a:xfrm>
            <a:off x="548640" y="6382512"/>
            <a:ext cx="11094415" cy="274320"/>
          </a:xfrm>
          <a:prstGeom prst="rect">
            <a:avLst/>
          </a:prstGeom>
          <a:noFill/>
        </p:spPr>
        <p:txBody>
          <a:bodyPr wrap="square" lIns="0" rIns="0" tIns="0" bIns="0" anchor="t">
            <a:spAutoFit/>
          </a:bodyPr>
          <a:lstStyle/>
          <a:p>
            <a:pPr algn="l">
              <a:spcAft>
                <a:spcPts val="0"/>
              </a:spcAft>
            </a:pPr>
            <a:r>
              <a:rPr sz="1000" b="0" i="0">
                <a:solidFill>
                  <a:srgbClr val="5B7179"/>
                </a:solidFill>
                <a:latin typeface="Calibri"/>
              </a:rPr>
              <a:t>Manuscript tables, figures and the method paper were regenerated from the corrected scorer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1094415" cy="777240"/>
          </a:xfrm>
          <a:prstGeom prst="rect">
            <a:avLst/>
          </a:prstGeom>
          <a:noFill/>
        </p:spPr>
        <p:txBody>
          <a:bodyPr wrap="square" lIns="0" rIns="0" tIns="0" bIns="0" anchor="t">
            <a:spAutoFit/>
          </a:bodyPr>
          <a:lstStyle/>
          <a:p>
            <a:pPr algn="l">
              <a:spcAft>
                <a:spcPts val="200"/>
              </a:spcAft>
            </a:pPr>
            <a:r>
              <a:rPr sz="3000" b="1" i="0">
                <a:solidFill>
                  <a:srgbClr val="10292E"/>
                </a:solidFill>
                <a:latin typeface="Cambria"/>
              </a:rPr>
              <a:t>Head to head against PICRUSt2</a:t>
            </a:r>
          </a:p>
          <a:p>
            <a:pPr algn="l">
              <a:spcAft>
                <a:spcPts val="0"/>
              </a:spcAft>
            </a:pPr>
            <a:r>
              <a:rPr sz="1350" b="0" i="0">
                <a:solidFill>
                  <a:srgbClr val="5B7179"/>
                </a:solidFill>
                <a:latin typeface="Calibri"/>
              </a:rPr>
              <a:t>The established route from amplicon to function, on exactly the same benchmark</a:t>
            </a:r>
          </a:p>
        </p:txBody>
      </p:sp>
      <p:sp>
        <p:nvSpPr>
          <p:cNvPr id="3" name="Rounded Rectangle 2"/>
          <p:cNvSpPr/>
          <p:nvPr/>
        </p:nvSpPr>
        <p:spPr>
          <a:xfrm>
            <a:off x="548640" y="1371600"/>
            <a:ext cx="3493008" cy="301752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201168"/>
          <a:lstStyle/>
          <a:p>
            <a:pPr algn="l">
              <a:spcAft>
                <a:spcPts val="1100"/>
              </a:spcAft>
            </a:pPr>
            <a:r>
              <a:rPr sz="1600" b="1" i="0">
                <a:solidFill>
                  <a:srgbClr val="007A6C"/>
                </a:solidFill>
                <a:latin typeface="Cambria"/>
              </a:rPr>
              <a:t>PICRUSt2 2.6.3</a:t>
            </a:r>
          </a:p>
          <a:p>
            <a:pPr algn="l" marL="155448" indent="-155448">
              <a:lnSpc>
                <a:spcPct val="106000"/>
              </a:lnSpc>
              <a:spcAft>
                <a:spcPts val="900"/>
              </a:spcAft>
            </a:pPr>
            <a:r>
              <a:rPr sz="1250" b="0" i="0">
                <a:solidFill>
                  <a:srgbClr val="10292E"/>
                </a:solidFill>
                <a:latin typeface="Calibri"/>
              </a:rPr>
              <a:t>•  Places each amplicon in a fixed reference phylogeny (EPA-ng, gappa)</a:t>
            </a:r>
          </a:p>
          <a:p>
            <a:pPr algn="l" marL="155448" indent="-155448">
              <a:lnSpc>
                <a:spcPct val="106000"/>
              </a:lnSpc>
              <a:spcAft>
                <a:spcPts val="900"/>
              </a:spcAft>
            </a:pPr>
            <a:r>
              <a:rPr sz="1250" b="0" i="0">
                <a:solidFill>
                  <a:srgbClr val="10292E"/>
                </a:solidFill>
                <a:latin typeface="Calibri"/>
              </a:rPr>
              <a:t>•  Infers gene content by maximum-parsimony ancestral-state reconstruction</a:t>
            </a:r>
          </a:p>
          <a:p>
            <a:pPr algn="l" marL="155448" indent="-155448">
              <a:lnSpc>
                <a:spcPct val="106000"/>
              </a:lnSpc>
              <a:spcAft>
                <a:spcPts val="900"/>
              </a:spcAft>
            </a:pPr>
            <a:r>
              <a:rPr sz="1250" b="0" i="0">
                <a:solidFill>
                  <a:srgbClr val="10292E"/>
                </a:solidFill>
                <a:latin typeface="Calibri"/>
              </a:rPr>
              <a:t>•  27,870 reference genomes; always returns a gene complement</a:t>
            </a:r>
          </a:p>
        </p:txBody>
      </p:sp>
      <p:sp>
        <p:nvSpPr>
          <p:cNvPr id="4" name="Rounded Rectangle 3"/>
          <p:cNvSpPr/>
          <p:nvPr/>
        </p:nvSpPr>
        <p:spPr>
          <a:xfrm>
            <a:off x="4347972" y="1371600"/>
            <a:ext cx="3493008" cy="301752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201168"/>
          <a:lstStyle/>
          <a:p>
            <a:pPr algn="l">
              <a:spcAft>
                <a:spcPts val="1100"/>
              </a:spcAft>
            </a:pPr>
            <a:r>
              <a:rPr sz="1600" b="1" i="0">
                <a:solidFill>
                  <a:srgbClr val="028090"/>
                </a:solidFill>
                <a:latin typeface="Cambria"/>
              </a:rPr>
              <a:t>prFBA</a:t>
            </a:r>
          </a:p>
          <a:p>
            <a:pPr algn="l" marL="155448" indent="-155448">
              <a:lnSpc>
                <a:spcPct val="106000"/>
              </a:lnSpc>
              <a:spcAft>
                <a:spcPts val="900"/>
              </a:spcAft>
            </a:pPr>
            <a:r>
              <a:rPr sz="1250" b="0" i="0">
                <a:solidFill>
                  <a:srgbClr val="10292E"/>
                </a:solidFill>
                <a:latin typeface="Calibri"/>
              </a:rPr>
              <a:t>•  Aligns each amplicon to named reference genomes</a:t>
            </a:r>
          </a:p>
          <a:p>
            <a:pPr algn="l" marL="155448" indent="-155448">
              <a:lnSpc>
                <a:spcPct val="106000"/>
              </a:lnSpc>
              <a:spcAft>
                <a:spcPts val="900"/>
              </a:spcAft>
            </a:pPr>
            <a:r>
              <a:rPr sz="1250" b="0" i="0">
                <a:solidFill>
                  <a:srgbClr val="10292E"/>
                </a:solidFill>
                <a:latin typeface="Calibri"/>
              </a:rPr>
              <a:t>•  Unions the gene content those genomes actually carry</a:t>
            </a:r>
          </a:p>
          <a:p>
            <a:pPr algn="l" marL="155448" indent="-155448">
              <a:lnSpc>
                <a:spcPct val="106000"/>
              </a:lnSpc>
              <a:spcAft>
                <a:spcPts val="900"/>
              </a:spcAft>
            </a:pPr>
            <a:r>
              <a:rPr sz="1250" b="0" i="0">
                <a:solidFill>
                  <a:srgbClr val="10292E"/>
                </a:solidFill>
                <a:latin typeface="Calibri"/>
              </a:rPr>
              <a:t>•  ~315,000 BV-BRC genomes behind 459,301 unique 16S sequences; abstains below the family floor</a:t>
            </a:r>
          </a:p>
        </p:txBody>
      </p:sp>
      <p:sp>
        <p:nvSpPr>
          <p:cNvPr id="5" name="Rounded Rectangle 4"/>
          <p:cNvSpPr/>
          <p:nvPr/>
        </p:nvSpPr>
        <p:spPr>
          <a:xfrm>
            <a:off x="8147304" y="1371600"/>
            <a:ext cx="3493008" cy="301752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201168"/>
          <a:lstStyle/>
          <a:p>
            <a:pPr algn="l">
              <a:spcAft>
                <a:spcPts val="1100"/>
              </a:spcAft>
            </a:pPr>
            <a:r>
              <a:rPr sz="1600" b="1" i="0">
                <a:solidFill>
                  <a:srgbClr val="C96E0A"/>
                </a:solidFill>
                <a:latin typeface="Cambria"/>
              </a:rPr>
              <a:t>Shared namespace</a:t>
            </a:r>
          </a:p>
          <a:p>
            <a:pPr algn="l" marL="155448" indent="-155448">
              <a:lnSpc>
                <a:spcPct val="106000"/>
              </a:lnSpc>
              <a:spcAft>
                <a:spcPts val="900"/>
              </a:spcAft>
            </a:pPr>
            <a:r>
              <a:rPr sz="1250" b="0" i="0">
                <a:solidFill>
                  <a:srgbClr val="10292E"/>
                </a:solidFill>
                <a:latin typeface="Calibri"/>
              </a:rPr>
              <a:t>•  Truth and both predictions pass through one identical projection</a:t>
            </a:r>
          </a:p>
          <a:p>
            <a:pPr algn="l" marL="155448" indent="-155448">
              <a:lnSpc>
                <a:spcPct val="106000"/>
              </a:lnSpc>
              <a:spcAft>
                <a:spcPts val="900"/>
              </a:spcAft>
            </a:pPr>
            <a:r>
              <a:rPr sz="1250" b="0" i="0">
                <a:solidFill>
                  <a:srgbClr val="10292E"/>
                </a:solidFill>
                <a:latin typeface="Calibri"/>
              </a:rPr>
              <a:t>•  Gene family → product string → EC number → ModelSEED reaction</a:t>
            </a:r>
          </a:p>
          <a:p>
            <a:pPr algn="l" marL="155448" indent="-155448">
              <a:lnSpc>
                <a:spcPct val="106000"/>
              </a:lnSpc>
              <a:spcAft>
                <a:spcPts val="900"/>
              </a:spcAft>
            </a:pPr>
            <a:r>
              <a:rPr sz="1250" b="0" i="0">
                <a:solidFill>
                  <a:srgbClr val="10292E"/>
                </a:solidFill>
                <a:latin typeface="Calibri"/>
              </a:rPr>
              <a:t>•  Scored on the 2,132 ECs both annotation systems can express</a:t>
            </a:r>
          </a:p>
        </p:txBody>
      </p:sp>
      <p:sp>
        <p:nvSpPr>
          <p:cNvPr id="6" name="TextBox 5"/>
          <p:cNvSpPr txBox="1"/>
          <p:nvPr/>
        </p:nvSpPr>
        <p:spPr>
          <a:xfrm>
            <a:off x="548640" y="4617720"/>
            <a:ext cx="11094415" cy="1005840"/>
          </a:xfrm>
          <a:prstGeom prst="rect">
            <a:avLst/>
          </a:prstGeom>
          <a:noFill/>
        </p:spPr>
        <p:txBody>
          <a:bodyPr wrap="square" lIns="0" rIns="0" tIns="0" bIns="0" anchor="t">
            <a:spAutoFit/>
          </a:bodyPr>
          <a:lstStyle/>
          <a:p>
            <a:pPr>
              <a:spcAft>
                <a:spcPts val="600"/>
              </a:spcAft>
            </a:pPr>
            <a:r>
              <a:rPr sz="1350" b="1">
                <a:solidFill>
                  <a:srgbClr val="028090"/>
                </a:solidFill>
                <a:latin typeface="Calibri"/>
              </a:rPr>
              <a:t>Why a shared projection.  </a:t>
            </a:r>
            <a:r>
              <a:rPr sz="1350">
                <a:solidFill>
                  <a:srgbClr val="10292E"/>
                </a:solidFill>
                <a:latin typeface="Calibri"/>
              </a:rPr>
              <a:t>Family-level products lose some EC numbers, so truth and prediction go through the same map and the loss cancels. 953 amplicons whose source genome yields no EC are unscoreable and excluded.</a:t>
            </a:r>
          </a:p>
        </p:txBody>
      </p:sp>
      <p:sp>
        <p:nvSpPr>
          <p:cNvPr id="7" name="TextBox 6"/>
          <p:cNvSpPr txBox="1"/>
          <p:nvPr/>
        </p:nvSpPr>
        <p:spPr>
          <a:xfrm>
            <a:off x="548640" y="6382512"/>
            <a:ext cx="11094415" cy="274320"/>
          </a:xfrm>
          <a:prstGeom prst="rect">
            <a:avLst/>
          </a:prstGeom>
          <a:noFill/>
        </p:spPr>
        <p:txBody>
          <a:bodyPr wrap="square" lIns="0" rIns="0" tIns="0" bIns="0" anchor="t">
            <a:spAutoFit/>
          </a:bodyPr>
          <a:lstStyle/>
          <a:p>
            <a:pPr algn="l">
              <a:spcAft>
                <a:spcPts val="0"/>
              </a:spcAft>
            </a:pPr>
            <a:r>
              <a:rPr sz="1000" b="0" i="0">
                <a:solidFill>
                  <a:srgbClr val="5B7179"/>
                </a:solidFill>
                <a:latin typeface="Calibri"/>
              </a:rPr>
              <a:t>Installed without conda: uv venv, user-space R + castor, epa-ng/gappa/HMMER from source (60/61 tests pass)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1094415" cy="777240"/>
          </a:xfrm>
          <a:prstGeom prst="rect">
            <a:avLst/>
          </a:prstGeom>
          <a:noFill/>
        </p:spPr>
        <p:txBody>
          <a:bodyPr wrap="square" lIns="0" rIns="0" tIns="0" bIns="0" anchor="t">
            <a:spAutoFit/>
          </a:bodyPr>
          <a:lstStyle/>
          <a:p>
            <a:pPr algn="l">
              <a:spcAft>
                <a:spcPts val="200"/>
              </a:spcAft>
            </a:pPr>
            <a:r>
              <a:rPr sz="3000" b="1" i="0">
                <a:solidFill>
                  <a:srgbClr val="10292E"/>
                </a:solidFill>
                <a:latin typeface="Cambria"/>
              </a:rPr>
              <a:t>Coverage against precision</a:t>
            </a:r>
          </a:p>
          <a:p>
            <a:pPr algn="l">
              <a:spcAft>
                <a:spcPts val="0"/>
              </a:spcAft>
            </a:pPr>
            <a:r>
              <a:rPr sz="1350" b="0" i="0">
                <a:solidFill>
                  <a:srgbClr val="5B7179"/>
                </a:solidFill>
                <a:latin typeface="Calibri"/>
              </a:rPr>
              <a:t>Scored against our own annotation — a choice the controlled comparison later removes</a:t>
            </a:r>
          </a:p>
        </p:txBody>
      </p:sp>
      <p:sp>
        <p:nvSpPr>
          <p:cNvPr id="3" name="TextBox 2"/>
          <p:cNvSpPr txBox="1"/>
          <p:nvPr/>
        </p:nvSpPr>
        <p:spPr>
          <a:xfrm>
            <a:off x="694944" y="1463040"/>
            <a:ext cx="3291840" cy="274320"/>
          </a:xfrm>
          <a:prstGeom prst="rect">
            <a:avLst/>
          </a:prstGeom>
          <a:noFill/>
        </p:spPr>
        <p:txBody>
          <a:bodyPr wrap="square" lIns="0" rIns="0" tIns="0" bIns="0" anchor="t">
            <a:spAutoFit/>
          </a:bodyPr>
          <a:lstStyle/>
          <a:p>
            <a:pPr algn="l">
              <a:spcAft>
                <a:spcPts val="0"/>
              </a:spcAft>
            </a:pPr>
            <a:r>
              <a:rPr sz="1150" b="1" i="0">
                <a:solidFill>
                  <a:srgbClr val="5B7179"/>
                </a:solidFill>
                <a:latin typeface="Calibri"/>
              </a:rPr>
              <a:t/>
            </a:r>
          </a:p>
        </p:txBody>
      </p:sp>
      <p:sp>
        <p:nvSpPr>
          <p:cNvPr id="4" name="TextBox 3"/>
          <p:cNvSpPr txBox="1"/>
          <p:nvPr/>
        </p:nvSpPr>
        <p:spPr>
          <a:xfrm>
            <a:off x="3977639" y="1463040"/>
            <a:ext cx="1371600" cy="274320"/>
          </a:xfrm>
          <a:prstGeom prst="rect">
            <a:avLst/>
          </a:prstGeom>
          <a:noFill/>
        </p:spPr>
        <p:txBody>
          <a:bodyPr wrap="square" lIns="0" rIns="0" tIns="0" bIns="0" anchor="t">
            <a:spAutoFit/>
          </a:bodyPr>
          <a:lstStyle/>
          <a:p>
            <a:pPr algn="ctr">
              <a:spcAft>
                <a:spcPts val="0"/>
              </a:spcAft>
            </a:pPr>
            <a:r>
              <a:rPr sz="1150" b="1" i="0">
                <a:solidFill>
                  <a:srgbClr val="5B7179"/>
                </a:solidFill>
                <a:latin typeface="Calibri"/>
              </a:rPr>
              <a:t>Coverage</a:t>
            </a:r>
          </a:p>
        </p:txBody>
      </p:sp>
      <p:sp>
        <p:nvSpPr>
          <p:cNvPr id="5" name="TextBox 4"/>
          <p:cNvSpPr txBox="1"/>
          <p:nvPr/>
        </p:nvSpPr>
        <p:spPr>
          <a:xfrm>
            <a:off x="5440680" y="1463040"/>
            <a:ext cx="1371600" cy="274320"/>
          </a:xfrm>
          <a:prstGeom prst="rect">
            <a:avLst/>
          </a:prstGeom>
          <a:noFill/>
        </p:spPr>
        <p:txBody>
          <a:bodyPr wrap="square" lIns="0" rIns="0" tIns="0" bIns="0" anchor="t">
            <a:spAutoFit/>
          </a:bodyPr>
          <a:lstStyle/>
          <a:p>
            <a:pPr algn="ctr">
              <a:spcAft>
                <a:spcPts val="0"/>
              </a:spcAft>
            </a:pPr>
            <a:r>
              <a:rPr sz="1150" b="1" i="0">
                <a:solidFill>
                  <a:srgbClr val="5B7179"/>
                </a:solidFill>
                <a:latin typeface="Calibri"/>
              </a:rPr>
              <a:t>Recall</a:t>
            </a:r>
          </a:p>
        </p:txBody>
      </p:sp>
      <p:sp>
        <p:nvSpPr>
          <p:cNvPr id="6" name="TextBox 5"/>
          <p:cNvSpPr txBox="1"/>
          <p:nvPr/>
        </p:nvSpPr>
        <p:spPr>
          <a:xfrm>
            <a:off x="6903720" y="1463040"/>
            <a:ext cx="1508760" cy="274320"/>
          </a:xfrm>
          <a:prstGeom prst="rect">
            <a:avLst/>
          </a:prstGeom>
          <a:noFill/>
        </p:spPr>
        <p:txBody>
          <a:bodyPr wrap="square" lIns="0" rIns="0" tIns="0" bIns="0" anchor="t">
            <a:spAutoFit/>
          </a:bodyPr>
          <a:lstStyle/>
          <a:p>
            <a:pPr algn="ctr">
              <a:spcAft>
                <a:spcPts val="0"/>
              </a:spcAft>
            </a:pPr>
            <a:r>
              <a:rPr sz="1150" b="1" i="0">
                <a:solidFill>
                  <a:srgbClr val="5B7179"/>
                </a:solidFill>
                <a:latin typeface="Calibri"/>
              </a:rPr>
              <a:t>Precision</a:t>
            </a:r>
          </a:p>
        </p:txBody>
      </p:sp>
      <p:sp>
        <p:nvSpPr>
          <p:cNvPr id="7" name="TextBox 6"/>
          <p:cNvSpPr txBox="1"/>
          <p:nvPr/>
        </p:nvSpPr>
        <p:spPr>
          <a:xfrm>
            <a:off x="8503920" y="1463040"/>
            <a:ext cx="1371600" cy="274320"/>
          </a:xfrm>
          <a:prstGeom prst="rect">
            <a:avLst/>
          </a:prstGeom>
          <a:noFill/>
        </p:spPr>
        <p:txBody>
          <a:bodyPr wrap="square" lIns="0" rIns="0" tIns="0" bIns="0" anchor="t">
            <a:spAutoFit/>
          </a:bodyPr>
          <a:lstStyle/>
          <a:p>
            <a:pPr algn="ctr">
              <a:spcAft>
                <a:spcPts val="0"/>
              </a:spcAft>
            </a:pPr>
            <a:r>
              <a:rPr sz="1150" b="1" i="0">
                <a:solidFill>
                  <a:srgbClr val="5B7179"/>
                </a:solidFill>
                <a:latin typeface="Calibri"/>
              </a:rPr>
              <a:t>F1</a:t>
            </a:r>
          </a:p>
        </p:txBody>
      </p:sp>
      <p:sp>
        <p:nvSpPr>
          <p:cNvPr id="8" name="TextBox 7"/>
          <p:cNvSpPr txBox="1"/>
          <p:nvPr/>
        </p:nvSpPr>
        <p:spPr>
          <a:xfrm>
            <a:off x="9829800" y="1463040"/>
            <a:ext cx="1664208" cy="274320"/>
          </a:xfrm>
          <a:prstGeom prst="rect">
            <a:avLst/>
          </a:prstGeom>
          <a:noFill/>
        </p:spPr>
        <p:txBody>
          <a:bodyPr wrap="square" lIns="0" rIns="0" tIns="0" bIns="0" anchor="t">
            <a:spAutoFit/>
          </a:bodyPr>
          <a:lstStyle/>
          <a:p>
            <a:pPr algn="ctr">
              <a:spcAft>
                <a:spcPts val="0"/>
              </a:spcAft>
            </a:pPr>
            <a:r>
              <a:rPr sz="1150" b="1" i="0">
                <a:solidFill>
                  <a:srgbClr val="5B7179"/>
                </a:solidFill>
                <a:latin typeface="Calibri"/>
              </a:rPr>
              <a:t>Population F1</a:t>
            </a:r>
          </a:p>
        </p:txBody>
      </p:sp>
      <p:sp>
        <p:nvSpPr>
          <p:cNvPr id="9" name="Rounded Rectangle 8"/>
          <p:cNvSpPr/>
          <p:nvPr/>
        </p:nvSpPr>
        <p:spPr>
          <a:xfrm>
            <a:off x="548640" y="1755648"/>
            <a:ext cx="11094415" cy="658368"/>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ctr"/>
          </a:p>
        </p:txBody>
      </p:sp>
      <p:sp>
        <p:nvSpPr>
          <p:cNvPr id="10" name="TextBox 9"/>
          <p:cNvSpPr txBox="1"/>
          <p:nvPr/>
        </p:nvSpPr>
        <p:spPr>
          <a:xfrm>
            <a:off x="694944" y="1847088"/>
            <a:ext cx="3291840" cy="457200"/>
          </a:xfrm>
          <a:prstGeom prst="rect">
            <a:avLst/>
          </a:prstGeom>
          <a:noFill/>
        </p:spPr>
        <p:txBody>
          <a:bodyPr wrap="square" lIns="0" rIns="0" tIns="0" bIns="0" anchor="ctr">
            <a:spAutoFit/>
          </a:bodyPr>
          <a:lstStyle/>
          <a:p>
            <a:pPr algn="l">
              <a:spcAft>
                <a:spcPts val="0"/>
              </a:spcAft>
            </a:pPr>
            <a:r>
              <a:rPr sz="1400" b="1" i="0">
                <a:solidFill>
                  <a:srgbClr val="007A6C"/>
                </a:solidFill>
                <a:latin typeface="Calibri"/>
              </a:rPr>
              <a:t>PICRUSt2</a:t>
            </a:r>
          </a:p>
        </p:txBody>
      </p:sp>
      <p:sp>
        <p:nvSpPr>
          <p:cNvPr id="11" name="TextBox 10"/>
          <p:cNvSpPr txBox="1"/>
          <p:nvPr/>
        </p:nvSpPr>
        <p:spPr>
          <a:xfrm>
            <a:off x="3977639" y="1847088"/>
            <a:ext cx="1371600" cy="457200"/>
          </a:xfrm>
          <a:prstGeom prst="rect">
            <a:avLst/>
          </a:prstGeom>
          <a:noFill/>
        </p:spPr>
        <p:txBody>
          <a:bodyPr wrap="square" lIns="0" rIns="0" tIns="0" bIns="0" anchor="ctr">
            <a:spAutoFit/>
          </a:bodyPr>
          <a:lstStyle/>
          <a:p>
            <a:pPr algn="ctr">
              <a:spcAft>
                <a:spcPts val="0"/>
              </a:spcAft>
            </a:pPr>
            <a:r>
              <a:rPr sz="1400" b="0" i="0">
                <a:solidFill>
                  <a:srgbClr val="10292E"/>
                </a:solidFill>
                <a:latin typeface="Calibri"/>
              </a:rPr>
              <a:t>1.000</a:t>
            </a:r>
          </a:p>
        </p:txBody>
      </p:sp>
      <p:sp>
        <p:nvSpPr>
          <p:cNvPr id="12" name="TextBox 11"/>
          <p:cNvSpPr txBox="1"/>
          <p:nvPr/>
        </p:nvSpPr>
        <p:spPr>
          <a:xfrm>
            <a:off x="5440680" y="1847088"/>
            <a:ext cx="1371600" cy="457200"/>
          </a:xfrm>
          <a:prstGeom prst="rect">
            <a:avLst/>
          </a:prstGeom>
          <a:noFill/>
        </p:spPr>
        <p:txBody>
          <a:bodyPr wrap="square" lIns="0" rIns="0" tIns="0" bIns="0" anchor="ctr">
            <a:spAutoFit/>
          </a:bodyPr>
          <a:lstStyle/>
          <a:p>
            <a:pPr algn="ctr">
              <a:spcAft>
                <a:spcPts val="0"/>
              </a:spcAft>
            </a:pPr>
            <a:r>
              <a:rPr sz="1400" b="0" i="0">
                <a:solidFill>
                  <a:srgbClr val="10292E"/>
                </a:solidFill>
                <a:latin typeface="Calibri"/>
              </a:rPr>
              <a:t>0.849</a:t>
            </a:r>
          </a:p>
        </p:txBody>
      </p:sp>
      <p:sp>
        <p:nvSpPr>
          <p:cNvPr id="13" name="TextBox 12"/>
          <p:cNvSpPr txBox="1"/>
          <p:nvPr/>
        </p:nvSpPr>
        <p:spPr>
          <a:xfrm>
            <a:off x="6903720" y="1847088"/>
            <a:ext cx="1508760" cy="457200"/>
          </a:xfrm>
          <a:prstGeom prst="rect">
            <a:avLst/>
          </a:prstGeom>
          <a:noFill/>
        </p:spPr>
        <p:txBody>
          <a:bodyPr wrap="square" lIns="0" rIns="0" tIns="0" bIns="0" anchor="ctr">
            <a:spAutoFit/>
          </a:bodyPr>
          <a:lstStyle/>
          <a:p>
            <a:pPr algn="ctr">
              <a:spcAft>
                <a:spcPts val="0"/>
              </a:spcAft>
            </a:pPr>
            <a:r>
              <a:rPr sz="1400" b="0" i="0">
                <a:solidFill>
                  <a:srgbClr val="10292E"/>
                </a:solidFill>
                <a:latin typeface="Calibri"/>
              </a:rPr>
              <a:t>0.669</a:t>
            </a:r>
          </a:p>
        </p:txBody>
      </p:sp>
      <p:sp>
        <p:nvSpPr>
          <p:cNvPr id="14" name="TextBox 13"/>
          <p:cNvSpPr txBox="1"/>
          <p:nvPr/>
        </p:nvSpPr>
        <p:spPr>
          <a:xfrm>
            <a:off x="8503920" y="1847088"/>
            <a:ext cx="1371600" cy="457200"/>
          </a:xfrm>
          <a:prstGeom prst="rect">
            <a:avLst/>
          </a:prstGeom>
          <a:noFill/>
        </p:spPr>
        <p:txBody>
          <a:bodyPr wrap="square" lIns="0" rIns="0" tIns="0" bIns="0" anchor="ctr">
            <a:spAutoFit/>
          </a:bodyPr>
          <a:lstStyle/>
          <a:p>
            <a:pPr algn="ctr">
              <a:spcAft>
                <a:spcPts val="0"/>
              </a:spcAft>
            </a:pPr>
            <a:r>
              <a:rPr sz="1400" b="0" i="0">
                <a:solidFill>
                  <a:srgbClr val="10292E"/>
                </a:solidFill>
                <a:latin typeface="Calibri"/>
              </a:rPr>
              <a:t>0.729</a:t>
            </a:r>
          </a:p>
        </p:txBody>
      </p:sp>
      <p:sp>
        <p:nvSpPr>
          <p:cNvPr id="15" name="TextBox 14"/>
          <p:cNvSpPr txBox="1"/>
          <p:nvPr/>
        </p:nvSpPr>
        <p:spPr>
          <a:xfrm>
            <a:off x="9829800" y="1847088"/>
            <a:ext cx="1664208" cy="457200"/>
          </a:xfrm>
          <a:prstGeom prst="rect">
            <a:avLst/>
          </a:prstGeom>
          <a:noFill/>
        </p:spPr>
        <p:txBody>
          <a:bodyPr wrap="square" lIns="0" rIns="0" tIns="0" bIns="0" anchor="ctr">
            <a:spAutoFit/>
          </a:bodyPr>
          <a:lstStyle/>
          <a:p>
            <a:pPr algn="ctr">
              <a:spcAft>
                <a:spcPts val="0"/>
              </a:spcAft>
            </a:pPr>
            <a:r>
              <a:rPr sz="1400" b="1" i="0">
                <a:solidFill>
                  <a:srgbClr val="007A6C"/>
                </a:solidFill>
                <a:latin typeface="Calibri"/>
              </a:rPr>
              <a:t>0.729</a:t>
            </a:r>
          </a:p>
        </p:txBody>
      </p:sp>
      <p:sp>
        <p:nvSpPr>
          <p:cNvPr id="16" name="Rounded Rectangle 15"/>
          <p:cNvSpPr/>
          <p:nvPr/>
        </p:nvSpPr>
        <p:spPr>
          <a:xfrm>
            <a:off x="548640" y="2505456"/>
            <a:ext cx="11094415" cy="658368"/>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ctr"/>
          </a:p>
        </p:txBody>
      </p:sp>
      <p:sp>
        <p:nvSpPr>
          <p:cNvPr id="17" name="TextBox 16"/>
          <p:cNvSpPr txBox="1"/>
          <p:nvPr/>
        </p:nvSpPr>
        <p:spPr>
          <a:xfrm>
            <a:off x="694944" y="2596896"/>
            <a:ext cx="3291840" cy="457200"/>
          </a:xfrm>
          <a:prstGeom prst="rect">
            <a:avLst/>
          </a:prstGeom>
          <a:noFill/>
        </p:spPr>
        <p:txBody>
          <a:bodyPr wrap="square" lIns="0" rIns="0" tIns="0" bIns="0" anchor="ctr">
            <a:spAutoFit/>
          </a:bodyPr>
          <a:lstStyle/>
          <a:p>
            <a:pPr algn="l">
              <a:spcAft>
                <a:spcPts val="0"/>
              </a:spcAft>
            </a:pPr>
            <a:r>
              <a:rPr sz="1400" b="1" i="0">
                <a:solidFill>
                  <a:srgbClr val="028090"/>
                </a:solidFill>
                <a:latin typeface="Calibri"/>
              </a:rPr>
              <a:t>prFBA, source removed</a:t>
            </a:r>
          </a:p>
        </p:txBody>
      </p:sp>
      <p:sp>
        <p:nvSpPr>
          <p:cNvPr id="18" name="TextBox 17"/>
          <p:cNvSpPr txBox="1"/>
          <p:nvPr/>
        </p:nvSpPr>
        <p:spPr>
          <a:xfrm>
            <a:off x="3977639" y="2596896"/>
            <a:ext cx="1371600" cy="457200"/>
          </a:xfrm>
          <a:prstGeom prst="rect">
            <a:avLst/>
          </a:prstGeom>
          <a:noFill/>
        </p:spPr>
        <p:txBody>
          <a:bodyPr wrap="square" lIns="0" rIns="0" tIns="0" bIns="0" anchor="ctr">
            <a:spAutoFit/>
          </a:bodyPr>
          <a:lstStyle/>
          <a:p>
            <a:pPr algn="ctr">
              <a:spcAft>
                <a:spcPts val="0"/>
              </a:spcAft>
            </a:pPr>
            <a:r>
              <a:rPr sz="1400" b="0" i="0">
                <a:solidFill>
                  <a:srgbClr val="10292E"/>
                </a:solidFill>
                <a:latin typeface="Calibri"/>
              </a:rPr>
              <a:t>0.751</a:t>
            </a:r>
          </a:p>
        </p:txBody>
      </p:sp>
      <p:sp>
        <p:nvSpPr>
          <p:cNvPr id="19" name="TextBox 18"/>
          <p:cNvSpPr txBox="1"/>
          <p:nvPr/>
        </p:nvSpPr>
        <p:spPr>
          <a:xfrm>
            <a:off x="5440680" y="2596896"/>
            <a:ext cx="1371600" cy="457200"/>
          </a:xfrm>
          <a:prstGeom prst="rect">
            <a:avLst/>
          </a:prstGeom>
          <a:noFill/>
        </p:spPr>
        <p:txBody>
          <a:bodyPr wrap="square" lIns="0" rIns="0" tIns="0" bIns="0" anchor="ctr">
            <a:spAutoFit/>
          </a:bodyPr>
          <a:lstStyle/>
          <a:p>
            <a:pPr algn="ctr">
              <a:spcAft>
                <a:spcPts val="0"/>
              </a:spcAft>
            </a:pPr>
            <a:r>
              <a:rPr sz="1400" b="0" i="0">
                <a:solidFill>
                  <a:srgbClr val="10292E"/>
                </a:solidFill>
                <a:latin typeface="Calibri"/>
              </a:rPr>
              <a:t>0.835</a:t>
            </a:r>
          </a:p>
        </p:txBody>
      </p:sp>
      <p:sp>
        <p:nvSpPr>
          <p:cNvPr id="20" name="TextBox 19"/>
          <p:cNvSpPr txBox="1"/>
          <p:nvPr/>
        </p:nvSpPr>
        <p:spPr>
          <a:xfrm>
            <a:off x="6903720" y="2596896"/>
            <a:ext cx="1508760" cy="457200"/>
          </a:xfrm>
          <a:prstGeom prst="rect">
            <a:avLst/>
          </a:prstGeom>
          <a:noFill/>
        </p:spPr>
        <p:txBody>
          <a:bodyPr wrap="square" lIns="0" rIns="0" tIns="0" bIns="0" anchor="ctr">
            <a:spAutoFit/>
          </a:bodyPr>
          <a:lstStyle/>
          <a:p>
            <a:pPr algn="ctr">
              <a:spcAft>
                <a:spcPts val="0"/>
              </a:spcAft>
            </a:pPr>
            <a:r>
              <a:rPr sz="1400" b="0" i="0">
                <a:solidFill>
                  <a:srgbClr val="10292E"/>
                </a:solidFill>
                <a:latin typeface="Calibri"/>
              </a:rPr>
              <a:t>0.790</a:t>
            </a:r>
          </a:p>
        </p:txBody>
      </p:sp>
      <p:sp>
        <p:nvSpPr>
          <p:cNvPr id="21" name="TextBox 20"/>
          <p:cNvSpPr txBox="1"/>
          <p:nvPr/>
        </p:nvSpPr>
        <p:spPr>
          <a:xfrm>
            <a:off x="8503920" y="2596896"/>
            <a:ext cx="1371600" cy="457200"/>
          </a:xfrm>
          <a:prstGeom prst="rect">
            <a:avLst/>
          </a:prstGeom>
          <a:noFill/>
        </p:spPr>
        <p:txBody>
          <a:bodyPr wrap="square" lIns="0" rIns="0" tIns="0" bIns="0" anchor="ctr">
            <a:spAutoFit/>
          </a:bodyPr>
          <a:lstStyle/>
          <a:p>
            <a:pPr algn="ctr">
              <a:spcAft>
                <a:spcPts val="0"/>
              </a:spcAft>
            </a:pPr>
            <a:r>
              <a:rPr sz="1400" b="1" i="0">
                <a:solidFill>
                  <a:srgbClr val="028090"/>
                </a:solidFill>
                <a:latin typeface="Calibri"/>
              </a:rPr>
              <a:t>0.798</a:t>
            </a:r>
          </a:p>
        </p:txBody>
      </p:sp>
      <p:sp>
        <p:nvSpPr>
          <p:cNvPr id="22" name="TextBox 21"/>
          <p:cNvSpPr txBox="1"/>
          <p:nvPr/>
        </p:nvSpPr>
        <p:spPr>
          <a:xfrm>
            <a:off x="9829800" y="2596896"/>
            <a:ext cx="1664208" cy="457200"/>
          </a:xfrm>
          <a:prstGeom prst="rect">
            <a:avLst/>
          </a:prstGeom>
          <a:noFill/>
        </p:spPr>
        <p:txBody>
          <a:bodyPr wrap="square" lIns="0" rIns="0" tIns="0" bIns="0" anchor="ctr">
            <a:spAutoFit/>
          </a:bodyPr>
          <a:lstStyle/>
          <a:p>
            <a:pPr algn="ctr">
              <a:spcAft>
                <a:spcPts val="0"/>
              </a:spcAft>
            </a:pPr>
            <a:r>
              <a:rPr sz="1400" b="0" i="0">
                <a:solidFill>
                  <a:srgbClr val="10292E"/>
                </a:solidFill>
                <a:latin typeface="Calibri"/>
              </a:rPr>
              <a:t>0.600</a:t>
            </a:r>
          </a:p>
        </p:txBody>
      </p:sp>
      <p:sp>
        <p:nvSpPr>
          <p:cNvPr id="23" name="Rounded Rectangle 22"/>
          <p:cNvSpPr/>
          <p:nvPr/>
        </p:nvSpPr>
        <p:spPr>
          <a:xfrm>
            <a:off x="548640" y="3255263"/>
            <a:ext cx="11094415" cy="658368"/>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ctr"/>
          </a:p>
        </p:txBody>
      </p:sp>
      <p:sp>
        <p:nvSpPr>
          <p:cNvPr id="24" name="TextBox 23"/>
          <p:cNvSpPr txBox="1"/>
          <p:nvPr/>
        </p:nvSpPr>
        <p:spPr>
          <a:xfrm>
            <a:off x="694944" y="3346703"/>
            <a:ext cx="3291840" cy="457200"/>
          </a:xfrm>
          <a:prstGeom prst="rect">
            <a:avLst/>
          </a:prstGeom>
          <a:noFill/>
        </p:spPr>
        <p:txBody>
          <a:bodyPr wrap="square" lIns="0" rIns="0" tIns="0" bIns="0" anchor="ctr">
            <a:spAutoFit/>
          </a:bodyPr>
          <a:lstStyle/>
          <a:p>
            <a:pPr algn="l">
              <a:spcAft>
                <a:spcPts val="0"/>
              </a:spcAft>
            </a:pPr>
            <a:r>
              <a:rPr sz="1400" b="1" i="0">
                <a:solidFill>
                  <a:srgbClr val="5B7179"/>
                </a:solidFill>
                <a:latin typeface="Calibri"/>
              </a:rPr>
              <a:t>prFBA, source present</a:t>
            </a:r>
          </a:p>
        </p:txBody>
      </p:sp>
      <p:sp>
        <p:nvSpPr>
          <p:cNvPr id="25" name="TextBox 24"/>
          <p:cNvSpPr txBox="1"/>
          <p:nvPr/>
        </p:nvSpPr>
        <p:spPr>
          <a:xfrm>
            <a:off x="3977639" y="3346703"/>
            <a:ext cx="1371600" cy="457200"/>
          </a:xfrm>
          <a:prstGeom prst="rect">
            <a:avLst/>
          </a:prstGeom>
          <a:noFill/>
        </p:spPr>
        <p:txBody>
          <a:bodyPr wrap="square" lIns="0" rIns="0" tIns="0" bIns="0" anchor="ctr">
            <a:spAutoFit/>
          </a:bodyPr>
          <a:lstStyle/>
          <a:p>
            <a:pPr algn="ctr">
              <a:spcAft>
                <a:spcPts val="0"/>
              </a:spcAft>
            </a:pPr>
            <a:r>
              <a:rPr sz="1400" b="0" i="0">
                <a:solidFill>
                  <a:srgbClr val="10292E"/>
                </a:solidFill>
                <a:latin typeface="Calibri"/>
              </a:rPr>
              <a:t>1.000</a:t>
            </a:r>
          </a:p>
        </p:txBody>
      </p:sp>
      <p:sp>
        <p:nvSpPr>
          <p:cNvPr id="26" name="TextBox 25"/>
          <p:cNvSpPr txBox="1"/>
          <p:nvPr/>
        </p:nvSpPr>
        <p:spPr>
          <a:xfrm>
            <a:off x="5440680" y="3346703"/>
            <a:ext cx="1371600" cy="457200"/>
          </a:xfrm>
          <a:prstGeom prst="rect">
            <a:avLst/>
          </a:prstGeom>
          <a:noFill/>
        </p:spPr>
        <p:txBody>
          <a:bodyPr wrap="square" lIns="0" rIns="0" tIns="0" bIns="0" anchor="ctr">
            <a:spAutoFit/>
          </a:bodyPr>
          <a:lstStyle/>
          <a:p>
            <a:pPr algn="ctr">
              <a:spcAft>
                <a:spcPts val="0"/>
              </a:spcAft>
            </a:pPr>
            <a:r>
              <a:rPr sz="1400" b="0" i="0">
                <a:solidFill>
                  <a:srgbClr val="10292E"/>
                </a:solidFill>
                <a:latin typeface="Calibri"/>
              </a:rPr>
              <a:t>0.999</a:t>
            </a:r>
          </a:p>
        </p:txBody>
      </p:sp>
      <p:sp>
        <p:nvSpPr>
          <p:cNvPr id="27" name="TextBox 26"/>
          <p:cNvSpPr txBox="1"/>
          <p:nvPr/>
        </p:nvSpPr>
        <p:spPr>
          <a:xfrm>
            <a:off x="6903720" y="3346703"/>
            <a:ext cx="1508760" cy="457200"/>
          </a:xfrm>
          <a:prstGeom prst="rect">
            <a:avLst/>
          </a:prstGeom>
          <a:noFill/>
        </p:spPr>
        <p:txBody>
          <a:bodyPr wrap="square" lIns="0" rIns="0" tIns="0" bIns="0" anchor="ctr">
            <a:spAutoFit/>
          </a:bodyPr>
          <a:lstStyle/>
          <a:p>
            <a:pPr algn="ctr">
              <a:spcAft>
                <a:spcPts val="0"/>
              </a:spcAft>
            </a:pPr>
            <a:r>
              <a:rPr sz="1400" b="0" i="0">
                <a:solidFill>
                  <a:srgbClr val="10292E"/>
                </a:solidFill>
                <a:latin typeface="Calibri"/>
              </a:rPr>
              <a:t>0.943</a:t>
            </a:r>
          </a:p>
        </p:txBody>
      </p:sp>
      <p:sp>
        <p:nvSpPr>
          <p:cNvPr id="28" name="TextBox 27"/>
          <p:cNvSpPr txBox="1"/>
          <p:nvPr/>
        </p:nvSpPr>
        <p:spPr>
          <a:xfrm>
            <a:off x="8503920" y="3346703"/>
            <a:ext cx="1371600" cy="457200"/>
          </a:xfrm>
          <a:prstGeom prst="rect">
            <a:avLst/>
          </a:prstGeom>
          <a:noFill/>
        </p:spPr>
        <p:txBody>
          <a:bodyPr wrap="square" lIns="0" rIns="0" tIns="0" bIns="0" anchor="ctr">
            <a:spAutoFit/>
          </a:bodyPr>
          <a:lstStyle/>
          <a:p>
            <a:pPr algn="ctr">
              <a:spcAft>
                <a:spcPts val="0"/>
              </a:spcAft>
            </a:pPr>
            <a:r>
              <a:rPr sz="1400" b="0" i="0">
                <a:solidFill>
                  <a:srgbClr val="10292E"/>
                </a:solidFill>
                <a:latin typeface="Calibri"/>
              </a:rPr>
              <a:t>0.964</a:t>
            </a:r>
          </a:p>
        </p:txBody>
      </p:sp>
      <p:sp>
        <p:nvSpPr>
          <p:cNvPr id="29" name="TextBox 28"/>
          <p:cNvSpPr txBox="1"/>
          <p:nvPr/>
        </p:nvSpPr>
        <p:spPr>
          <a:xfrm>
            <a:off x="9829800" y="3346703"/>
            <a:ext cx="1664208" cy="457200"/>
          </a:xfrm>
          <a:prstGeom prst="rect">
            <a:avLst/>
          </a:prstGeom>
          <a:noFill/>
        </p:spPr>
        <p:txBody>
          <a:bodyPr wrap="square" lIns="0" rIns="0" tIns="0" bIns="0" anchor="ctr">
            <a:spAutoFit/>
          </a:bodyPr>
          <a:lstStyle/>
          <a:p>
            <a:pPr algn="ctr">
              <a:spcAft>
                <a:spcPts val="0"/>
              </a:spcAft>
            </a:pPr>
            <a:r>
              <a:rPr sz="1400" b="0" i="0">
                <a:solidFill>
                  <a:srgbClr val="10292E"/>
                </a:solidFill>
                <a:latin typeface="Calibri"/>
              </a:rPr>
              <a:t>0.964</a:t>
            </a:r>
          </a:p>
        </p:txBody>
      </p:sp>
      <p:sp>
        <p:nvSpPr>
          <p:cNvPr id="30" name="TextBox 29"/>
          <p:cNvSpPr txBox="1"/>
          <p:nvPr/>
        </p:nvSpPr>
        <p:spPr>
          <a:xfrm>
            <a:off x="548640" y="4233672"/>
            <a:ext cx="6400800" cy="1645920"/>
          </a:xfrm>
          <a:prstGeom prst="rect">
            <a:avLst/>
          </a:prstGeom>
          <a:noFill/>
        </p:spPr>
        <p:txBody>
          <a:bodyPr wrap="square" lIns="0" rIns="0" tIns="0" bIns="0" anchor="t">
            <a:spAutoFit/>
          </a:bodyPr>
          <a:lstStyle/>
          <a:p>
            <a:pPr>
              <a:spcAft>
                <a:spcPts val="1000"/>
              </a:spcAft>
            </a:pPr>
            <a:r>
              <a:rPr sz="1350" b="1">
                <a:solidFill>
                  <a:srgbClr val="028090"/>
                </a:solidFill>
                <a:latin typeface="Calibri"/>
              </a:rPr>
              <a:t>When it answers.  </a:t>
            </a:r>
            <a:r>
              <a:rPr sz="1350">
                <a:solidFill>
                  <a:srgbClr val="10292E"/>
                </a:solidFill>
                <a:latin typeface="Calibri"/>
              </a:rPr>
              <a:t>prFBA leads in all eight regions — median per-amplicon F1 advantage +0.08 to +0.10, Holm p ≈ 0 — but the ranking flips under PICRUSt2's own annotation, and stays reversed under a neutral key. Read this slide as a measurement of our annotation, not of the method.</a:t>
            </a:r>
          </a:p>
          <a:p>
            <a:pPr>
              <a:spcAft>
                <a:spcPts val="1000"/>
              </a:spcAft>
            </a:pPr>
            <a:r>
              <a:rPr sz="1350" b="1">
                <a:solidFill>
                  <a:srgbClr val="028090"/>
                </a:solidFill>
                <a:latin typeface="Calibri"/>
              </a:rPr>
              <a:t>When it does not.  </a:t>
            </a:r>
            <a:r>
              <a:rPr sz="1350">
                <a:solidFill>
                  <a:srgbClr val="10292E"/>
                </a:solidFill>
                <a:latin typeface="Calibri"/>
              </a:rPr>
              <a:t>prFBA abstains on a quarter of novel amplicons, so over the whole population PICRUSt2's mean F1 is higher. The depth slide shows most of that abstention is our benchmark's doing, not the method's.</a:t>
            </a:r>
          </a:p>
        </p:txBody>
      </p:sp>
      <p:sp>
        <p:nvSpPr>
          <p:cNvPr id="31" name="Rounded Rectangle 30"/>
          <p:cNvSpPr/>
          <p:nvPr/>
        </p:nvSpPr>
        <p:spPr>
          <a:xfrm>
            <a:off x="7223760" y="4233672"/>
            <a:ext cx="4416552" cy="137160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100"/>
              </a:spcAft>
            </a:pPr>
            <a:r>
              <a:rPr sz="3400" b="1" i="0">
                <a:solidFill>
                  <a:srgbClr val="028090"/>
                </a:solidFill>
                <a:latin typeface="Cambria"/>
              </a:rPr>
              <a:t>+0.083</a:t>
            </a:r>
          </a:p>
          <a:p>
            <a:pPr algn="l">
              <a:lnSpc>
                <a:spcPct val="92000"/>
              </a:lnSpc>
              <a:spcAft>
                <a:spcPts val="0"/>
              </a:spcAft>
            </a:pPr>
            <a:r>
              <a:rPr sz="1150" b="0" i="0">
                <a:solidFill>
                  <a:srgbClr val="5B7179"/>
                </a:solidFill>
                <a:latin typeface="Calibri"/>
              </a:rPr>
              <a:t>mean EC F1 advantage on the 50,332 amplicons both answer (0.798 vs 0.715)</a:t>
            </a:r>
          </a:p>
        </p:txBody>
      </p:sp>
      <p:sp>
        <p:nvSpPr>
          <p:cNvPr id="32" name="TextBox 31"/>
          <p:cNvSpPr txBox="1"/>
          <p:nvPr/>
        </p:nvSpPr>
        <p:spPr>
          <a:xfrm>
            <a:off x="548640" y="6382512"/>
            <a:ext cx="11094415" cy="274320"/>
          </a:xfrm>
          <a:prstGeom prst="rect">
            <a:avLst/>
          </a:prstGeom>
          <a:noFill/>
        </p:spPr>
        <p:txBody>
          <a:bodyPr wrap="square" lIns="0" rIns="0" tIns="0" bIns="0" anchor="t">
            <a:spAutoFit/>
          </a:bodyPr>
          <a:lstStyle/>
          <a:p>
            <a:pPr algn="l">
              <a:spcAft>
                <a:spcPts val="0"/>
              </a:spcAft>
            </a:pPr>
            <a:r>
              <a:rPr sz="1000" b="0" i="0">
                <a:solidFill>
                  <a:srgbClr val="5B7179"/>
                </a:solidFill>
                <a:latin typeface="Calibri"/>
              </a:rPr>
              <a:t>EC space, n = 67,038 scoreable amplicons; ModelSEED reaction space tracks it within 0.01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1094415" cy="777240"/>
          </a:xfrm>
          <a:prstGeom prst="rect">
            <a:avLst/>
          </a:prstGeom>
          <a:noFill/>
        </p:spPr>
        <p:txBody>
          <a:bodyPr wrap="square" lIns="0" rIns="0" tIns="0" bIns="0" anchor="t">
            <a:spAutoFit/>
          </a:bodyPr>
          <a:lstStyle/>
          <a:p>
            <a:pPr algn="l">
              <a:spcAft>
                <a:spcPts val="200"/>
              </a:spcAft>
            </a:pPr>
            <a:r>
              <a:rPr sz="3000" b="1" i="0">
                <a:solidFill>
                  <a:srgbClr val="10292E"/>
                </a:solidFill>
                <a:latin typeface="Cambria"/>
              </a:rPr>
              <a:t>The failure modes differ</a:t>
            </a:r>
          </a:p>
          <a:p>
            <a:pPr algn="l">
              <a:spcAft>
                <a:spcPts val="0"/>
              </a:spcAft>
            </a:pPr>
            <a:r>
              <a:rPr sz="1350" b="0" i="0">
                <a:solidFill>
                  <a:srgbClr val="5B7179"/>
                </a:solidFill>
                <a:latin typeface="Calibri"/>
              </a:rPr>
              <a:t>Precision as the query moves away from the reference database</a:t>
            </a:r>
          </a:p>
        </p:txBody>
      </p:sp>
      <p:graphicFrame>
        <p:nvGraphicFramePr>
          <p:cNvPr id="3" name="Chart 2"/>
          <p:cNvGraphicFramePr>
            <a:graphicFrameLocks noGrp="1"/>
          </p:cNvGraphicFramePr>
          <p:nvPr/>
        </p:nvGraphicFramePr>
        <p:xfrm>
          <a:off x="548640" y="1371600"/>
          <a:ext cx="6949440" cy="3931920"/>
        </p:xfrm>
        <a:graphic>
          <a:graphicData uri="http://schemas.openxmlformats.org/drawingml/2006/chart">
            <c:chart xmlns:c="http://schemas.openxmlformats.org/drawingml/2006/chart" r:id="rId2"/>
          </a:graphicData>
        </a:graphic>
      </p:graphicFrame>
      <p:sp>
        <p:nvSpPr>
          <p:cNvPr id="4" name="TextBox 3"/>
          <p:cNvSpPr txBox="1"/>
          <p:nvPr/>
        </p:nvSpPr>
        <p:spPr>
          <a:xfrm>
            <a:off x="7772400" y="1463040"/>
            <a:ext cx="3867912" cy="3931920"/>
          </a:xfrm>
          <a:prstGeom prst="rect">
            <a:avLst/>
          </a:prstGeom>
          <a:noFill/>
        </p:spPr>
        <p:txBody>
          <a:bodyPr wrap="square" lIns="0" rIns="0" tIns="0" bIns="0" anchor="t">
            <a:spAutoFit/>
          </a:bodyPr>
          <a:lstStyle/>
          <a:p>
            <a:pPr>
              <a:spcAft>
                <a:spcPts val="1100"/>
              </a:spcAft>
            </a:pPr>
            <a:r>
              <a:rPr sz="1300" b="1">
                <a:solidFill>
                  <a:srgbClr val="028090"/>
                </a:solidFill>
                <a:latin typeface="Calibri"/>
              </a:rPr>
              <a:t>PICRUSt2.  </a:t>
            </a:r>
            <a:r>
              <a:rPr sz="1300">
                <a:solidFill>
                  <a:srgbClr val="10292E"/>
                </a:solidFill>
                <a:latin typeface="Calibri"/>
              </a:rPr>
              <a:t>Precision falls 0.73 → 0.23 while recall barely moves (0.87 → 0.77). Distant placements keep asserting gene content, and most of the extra assertions are wrong.</a:t>
            </a:r>
          </a:p>
          <a:p>
            <a:pPr>
              <a:spcAft>
                <a:spcPts val="1100"/>
              </a:spcAft>
            </a:pPr>
            <a:r>
              <a:rPr sz="1300" b="1">
                <a:solidFill>
                  <a:srgbClr val="028090"/>
                </a:solidFill>
                <a:latin typeface="Calibri"/>
              </a:rPr>
              <a:t>prFBA.  </a:t>
            </a:r>
            <a:r>
              <a:rPr sz="1300">
                <a:solidFill>
                  <a:srgbClr val="10292E"/>
                </a:solidFill>
                <a:latin typeface="Calibri"/>
              </a:rPr>
              <a:t>Precision falls only 0.83 → 0.61 — not because it abstains (it still answers 81.5% at NSTI ≥ 0.5, against 76.4% in the nearest bin) but because it asserts far smaller gene sets: ~135 ECs per answer there, against ~406.</a:t>
            </a:r>
          </a:p>
          <a:p>
            <a:pPr>
              <a:spcAft>
                <a:spcPts val="1100"/>
              </a:spcAft>
            </a:pPr>
            <a:r>
              <a:rPr sz="1300" b="1">
                <a:solidFill>
                  <a:srgbClr val="028090"/>
                </a:solidFill>
                <a:latin typeface="Calibri"/>
              </a:rPr>
              <a:t>Why it matters.  </a:t>
            </a:r>
            <a:r>
              <a:rPr sz="1300">
                <a:solidFill>
                  <a:srgbClr val="10292E"/>
                </a:solidFill>
                <a:latin typeface="Calibri"/>
              </a:rPr>
              <a:t>A model built from an abstention is one you know not to build. A model built from a confidently wrong genome is a plausible artifact that propagates into every flux prediction.</a:t>
            </a:r>
          </a:p>
        </p:txBody>
      </p:sp>
      <p:sp>
        <p:nvSpPr>
          <p:cNvPr id="5" name="TextBox 4"/>
          <p:cNvSpPr txBox="1"/>
          <p:nvPr/>
        </p:nvSpPr>
        <p:spPr>
          <a:xfrm>
            <a:off x="548640" y="6382512"/>
            <a:ext cx="11094415" cy="274320"/>
          </a:xfrm>
          <a:prstGeom prst="rect">
            <a:avLst/>
          </a:prstGeom>
          <a:noFill/>
        </p:spPr>
        <p:txBody>
          <a:bodyPr wrap="square" lIns="0" rIns="0" tIns="0" bIns="0" anchor="t">
            <a:spAutoFit/>
          </a:bodyPr>
          <a:lstStyle/>
          <a:p>
            <a:pPr algn="l">
              <a:spcAft>
                <a:spcPts val="0"/>
              </a:spcAft>
            </a:pPr>
            <a:r>
              <a:rPr sz="1000" b="0" i="0">
                <a:solidFill>
                  <a:srgbClr val="5B7179"/>
                </a:solidFill>
                <a:latin typeface="Calibri"/>
              </a:rPr>
              <a:t>NSTI = nearest-sequenced-taxon index, PICRUSt2's own distance measure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5343D"/>
        </a:solidFill>
        <a:effectLst/>
      </p:bgPr>
    </p:bg>
    <p:spTree>
      <p:nvGrpSpPr>
        <p:cNvPr id="1" name=""/>
        <p:cNvGrpSpPr/>
        <p:nvPr/>
      </p:nvGrpSpPr>
      <p:grpSpPr/>
      <p:sp>
        <p:nvSpPr>
          <p:cNvPr id="2" name="TextBox 1"/>
          <p:cNvSpPr txBox="1"/>
          <p:nvPr/>
        </p:nvSpPr>
        <p:spPr>
          <a:xfrm>
            <a:off x="548640" y="384048"/>
            <a:ext cx="11094415" cy="777240"/>
          </a:xfrm>
          <a:prstGeom prst="rect">
            <a:avLst/>
          </a:prstGeom>
          <a:noFill/>
        </p:spPr>
        <p:txBody>
          <a:bodyPr wrap="square" lIns="0" rIns="0" tIns="0" bIns="0" anchor="t">
            <a:spAutoFit/>
          </a:bodyPr>
          <a:lstStyle/>
          <a:p>
            <a:pPr algn="l">
              <a:spcAft>
                <a:spcPts val="200"/>
              </a:spcAft>
            </a:pPr>
            <a:r>
              <a:rPr sz="3000" b="1" i="0">
                <a:solidFill>
                  <a:srgbClr val="FFFFFF"/>
                </a:solidFill>
                <a:latin typeface="Cambria"/>
              </a:rPr>
              <a:t>A control: how much do the two annotations even agree?</a:t>
            </a:r>
          </a:p>
          <a:p>
            <a:pPr algn="l">
              <a:spcAft>
                <a:spcPts val="0"/>
              </a:spcAft>
            </a:pPr>
            <a:r>
              <a:rPr sz="1350" b="0" i="0">
                <a:solidFill>
                  <a:srgbClr val="02C39A"/>
                </a:solidFill>
                <a:latin typeface="Calibri"/>
              </a:rPr>
              <a:t>Before reading any score, ask what the scoring truth is made of</a:t>
            </a:r>
          </a:p>
        </p:txBody>
      </p:sp>
      <p:sp>
        <p:nvSpPr>
          <p:cNvPr id="3" name="TextBox 2"/>
          <p:cNvSpPr txBox="1"/>
          <p:nvPr/>
        </p:nvSpPr>
        <p:spPr>
          <a:xfrm>
            <a:off x="548640" y="1371600"/>
            <a:ext cx="5943600" cy="3291840"/>
          </a:xfrm>
          <a:prstGeom prst="rect">
            <a:avLst/>
          </a:prstGeom>
          <a:noFill/>
        </p:spPr>
        <p:txBody>
          <a:bodyPr wrap="square" lIns="0" rIns="0" tIns="0" bIns="0" anchor="t">
            <a:spAutoFit/>
          </a:bodyPr>
          <a:lstStyle/>
          <a:p>
            <a:pPr>
              <a:spcAft>
                <a:spcPts val="1300"/>
              </a:spcAft>
            </a:pPr>
            <a:r>
              <a:rPr sz="1400" b="1">
                <a:solidFill>
                  <a:srgbClr val="02C39A"/>
                </a:solidFill>
                <a:latin typeface="Calibri"/>
              </a:rPr>
              <a:t>The setup.  </a:t>
            </a:r>
            <a:r>
              <a:rPr sz="1400">
                <a:solidFill>
                  <a:srgbClr val="FFFFFF"/>
                </a:solidFill>
                <a:latin typeface="Calibri"/>
              </a:rPr>
              <a:t>2,689 scoreable benchmark genomes sit in both databases. BV-BRC annotated that genome and so did the PICRUSt2 project — independently, with different gene callers and EC rules.</a:t>
            </a:r>
          </a:p>
          <a:p>
            <a:pPr>
              <a:spcAft>
                <a:spcPts val="1300"/>
              </a:spcAft>
            </a:pPr>
            <a:r>
              <a:rPr sz="1400" b="1">
                <a:solidFill>
                  <a:srgbClr val="02C39A"/>
                </a:solidFill>
                <a:latin typeface="Calibri"/>
              </a:rPr>
              <a:t>The thought experiment.  </a:t>
            </a:r>
            <a:r>
              <a:rPr sz="1400">
                <a:solidFill>
                  <a:srgbClr val="FFFFFF"/>
                </a:solidFill>
                <a:latin typeface="Calibri"/>
              </a:rPr>
              <a:t>Suppose PICRUSt2 places an amplicon perfectly, on its own source genome's tip. What it returns is that genome's stored row. So compare the two annotations of the one genome directly.</a:t>
            </a:r>
          </a:p>
          <a:p>
            <a:pPr>
              <a:spcAft>
                <a:spcPts val="1300"/>
              </a:spcAft>
            </a:pPr>
            <a:r>
              <a:rPr sz="1400" b="1">
                <a:solidFill>
                  <a:srgbClr val="02C39A"/>
                </a:solidFill>
                <a:latin typeface="Calibri"/>
              </a:rPr>
              <a:t>No prediction is involved.  </a:t>
            </a:r>
            <a:r>
              <a:rPr sz="1400">
                <a:solidFill>
                  <a:srgbClr val="FFFFFF"/>
                </a:solidFill>
                <a:latin typeface="Calibri"/>
              </a:rPr>
              <a:t>Any disagreement here is two projects reading the same DNA differently. It sets the reference level for what PICRUSt2 can score against our truth — not a strict bound: for 43% of in-reference amplicons PICRUSt2 is more precise than it.</a:t>
            </a:r>
          </a:p>
        </p:txBody>
      </p:sp>
      <p:sp>
        <p:nvSpPr>
          <p:cNvPr id="4" name="Rounded Rectangle 3"/>
          <p:cNvSpPr/>
          <p:nvPr/>
        </p:nvSpPr>
        <p:spPr>
          <a:xfrm>
            <a:off x="8092440" y="1325880"/>
            <a:ext cx="2286000" cy="475488"/>
          </a:xfrm>
          <a:prstGeom prst="roundRect">
            <a:avLst>
              <a:gd name="adj" fmla="val 6000"/>
            </a:avLst>
          </a:prstGeom>
          <a:solidFill>
            <a:srgbClr val="0A4A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spcAft>
                <a:spcPts val="0"/>
              </a:spcAft>
            </a:pPr>
            <a:r>
              <a:rPr sz="1150" b="1" i="0">
                <a:solidFill>
                  <a:srgbClr val="FFFFFF"/>
                </a:solidFill>
                <a:latin typeface="Calibri"/>
              </a:rPr>
              <a:t>one genome, e.g. GCF_002009845</a:t>
            </a:r>
          </a:p>
        </p:txBody>
      </p:sp>
      <p:sp>
        <p:nvSpPr>
          <p:cNvPr id="5" name="Rounded Rectangle 4"/>
          <p:cNvSpPr/>
          <p:nvPr/>
        </p:nvSpPr>
        <p:spPr>
          <a:xfrm>
            <a:off x="6858000" y="1984248"/>
            <a:ext cx="2286000" cy="868680"/>
          </a:xfrm>
          <a:prstGeom prst="roundRect">
            <a:avLst>
              <a:gd name="adj" fmla="val 6000"/>
            </a:avLst>
          </a:prstGeom>
          <a:solidFill>
            <a:srgbClr val="0A4A5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109728"/>
          <a:lstStyle/>
          <a:p>
            <a:pPr algn="l">
              <a:spcAft>
                <a:spcPts val="400"/>
              </a:spcAft>
            </a:pPr>
            <a:r>
              <a:rPr sz="1250" b="1" i="0">
                <a:solidFill>
                  <a:srgbClr val="02C39A"/>
                </a:solidFill>
                <a:latin typeface="Cambria"/>
              </a:rPr>
              <a:t>BV-BRC says</a:t>
            </a:r>
          </a:p>
          <a:p>
            <a:pPr algn="l">
              <a:lnSpc>
                <a:spcPct val="100000"/>
              </a:lnSpc>
              <a:spcAft>
                <a:spcPts val="0"/>
              </a:spcAft>
            </a:pPr>
            <a:r>
              <a:rPr sz="1150" b="0" i="0">
                <a:solidFill>
                  <a:srgbClr val="FFFFFF"/>
                </a:solidFill>
                <a:latin typeface="Calibri"/>
              </a:rPr>
              <a:t>our truth: gene set A</a:t>
            </a:r>
          </a:p>
        </p:txBody>
      </p:sp>
      <p:sp>
        <p:nvSpPr>
          <p:cNvPr id="6" name="Rounded Rectangle 5"/>
          <p:cNvSpPr/>
          <p:nvPr/>
        </p:nvSpPr>
        <p:spPr>
          <a:xfrm>
            <a:off x="9354312" y="1984248"/>
            <a:ext cx="2286000" cy="868680"/>
          </a:xfrm>
          <a:prstGeom prst="roundRect">
            <a:avLst>
              <a:gd name="adj" fmla="val 6000"/>
            </a:avLst>
          </a:prstGeom>
          <a:solidFill>
            <a:srgbClr val="0A4A5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109728"/>
          <a:lstStyle/>
          <a:p>
            <a:pPr algn="l">
              <a:spcAft>
                <a:spcPts val="400"/>
              </a:spcAft>
            </a:pPr>
            <a:r>
              <a:rPr sz="1250" b="1" i="0">
                <a:solidFill>
                  <a:srgbClr val="02C39A"/>
                </a:solidFill>
                <a:latin typeface="Cambria"/>
              </a:rPr>
              <a:t>PICRUSt2 says</a:t>
            </a:r>
          </a:p>
          <a:p>
            <a:pPr algn="l">
              <a:lnSpc>
                <a:spcPct val="100000"/>
              </a:lnSpc>
              <a:spcAft>
                <a:spcPts val="0"/>
              </a:spcAft>
            </a:pPr>
            <a:r>
              <a:rPr sz="1150" b="0" i="0">
                <a:solidFill>
                  <a:srgbClr val="FFFFFF"/>
                </a:solidFill>
                <a:latin typeface="Calibri"/>
              </a:rPr>
              <a:t>its reference row: gene set B</a:t>
            </a:r>
          </a:p>
        </p:txBody>
      </p:sp>
      <p:sp>
        <p:nvSpPr>
          <p:cNvPr id="7" name="TextBox 6"/>
          <p:cNvSpPr txBox="1"/>
          <p:nvPr/>
        </p:nvSpPr>
        <p:spPr>
          <a:xfrm>
            <a:off x="6858000" y="2990088"/>
            <a:ext cx="4782312" cy="274320"/>
          </a:xfrm>
          <a:prstGeom prst="rect">
            <a:avLst/>
          </a:prstGeom>
          <a:noFill/>
        </p:spPr>
        <p:txBody>
          <a:bodyPr wrap="square" lIns="0" rIns="0" tIns="0" bIns="0" anchor="t">
            <a:spAutoFit/>
          </a:bodyPr>
          <a:lstStyle/>
          <a:p>
            <a:pPr algn="l">
              <a:spcAft>
                <a:spcPts val="0"/>
              </a:spcAft>
            </a:pPr>
            <a:r>
              <a:rPr sz="1200" b="1" i="0">
                <a:solidFill>
                  <a:srgbClr val="FFFFFF"/>
                </a:solidFill>
                <a:latin typeface="Calibri"/>
              </a:rPr>
              <a:t>A compared with B — for the same organism:</a:t>
            </a:r>
          </a:p>
        </p:txBody>
      </p:sp>
      <p:sp>
        <p:nvSpPr>
          <p:cNvPr id="8" name="Rounded Rectangle 7"/>
          <p:cNvSpPr/>
          <p:nvPr/>
        </p:nvSpPr>
        <p:spPr>
          <a:xfrm>
            <a:off x="6858000" y="3337560"/>
            <a:ext cx="4782312" cy="603504"/>
          </a:xfrm>
          <a:prstGeom prst="roundRect">
            <a:avLst>
              <a:gd name="adj" fmla="val 6000"/>
            </a:avLst>
          </a:prstGeom>
          <a:solidFill>
            <a:srgbClr val="0A4A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2200" b="1">
                <a:solidFill>
                  <a:srgbClr val="02C39A"/>
                </a:solidFill>
                <a:latin typeface="Cambria"/>
              </a:rPr>
              <a:t>90.4%</a:t>
            </a:r>
            <a:r>
              <a:rPr sz="1100">
                <a:solidFill>
                  <a:srgbClr val="FFFFFF"/>
                </a:solidFill>
                <a:latin typeface="Calibri"/>
              </a:rPr>
              <a:t>   of A's EC numbers also appear in B</a:t>
            </a:r>
          </a:p>
        </p:txBody>
      </p:sp>
      <p:sp>
        <p:nvSpPr>
          <p:cNvPr id="9" name="Rounded Rectangle 8"/>
          <p:cNvSpPr/>
          <p:nvPr/>
        </p:nvSpPr>
        <p:spPr>
          <a:xfrm>
            <a:off x="6858000" y="4050792"/>
            <a:ext cx="4782312" cy="603504"/>
          </a:xfrm>
          <a:prstGeom prst="roundRect">
            <a:avLst>
              <a:gd name="adj" fmla="val 6000"/>
            </a:avLst>
          </a:prstGeom>
          <a:solidFill>
            <a:srgbClr val="0A4A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2200" b="1">
                <a:solidFill>
                  <a:srgbClr val="02C39A"/>
                </a:solidFill>
                <a:latin typeface="Cambria"/>
              </a:rPr>
              <a:t>74.3%</a:t>
            </a:r>
            <a:r>
              <a:rPr sz="1100">
                <a:solidFill>
                  <a:srgbClr val="FFFFFF"/>
                </a:solidFill>
                <a:latin typeface="Calibri"/>
              </a:rPr>
              <a:t>   of B's EC numbers also appear in A</a:t>
            </a:r>
          </a:p>
        </p:txBody>
      </p:sp>
      <p:sp>
        <p:nvSpPr>
          <p:cNvPr id="10" name="Rounded Rectangle 9"/>
          <p:cNvSpPr/>
          <p:nvPr/>
        </p:nvSpPr>
        <p:spPr>
          <a:xfrm>
            <a:off x="6858000" y="4764024"/>
            <a:ext cx="4782312" cy="603504"/>
          </a:xfrm>
          <a:prstGeom prst="roundRect">
            <a:avLst>
              <a:gd name="adj" fmla="val 6000"/>
            </a:avLst>
          </a:prstGeom>
          <a:solidFill>
            <a:srgbClr val="0A4A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2200" b="1">
                <a:solidFill>
                  <a:srgbClr val="02C39A"/>
                </a:solidFill>
                <a:latin typeface="Cambria"/>
              </a:rPr>
              <a:t>0.688</a:t>
            </a:r>
            <a:r>
              <a:rPr sz="1100">
                <a:solidFill>
                  <a:srgbClr val="FFFFFF"/>
                </a:solidFill>
                <a:latin typeface="Calibri"/>
              </a:rPr>
              <a:t>   Jaccard overlap of the two sets</a:t>
            </a:r>
          </a:p>
        </p:txBody>
      </p:sp>
      <p:sp>
        <p:nvSpPr>
          <p:cNvPr id="11" name="TextBox 10"/>
          <p:cNvSpPr txBox="1"/>
          <p:nvPr/>
        </p:nvSpPr>
        <p:spPr>
          <a:xfrm>
            <a:off x="548640" y="6382512"/>
            <a:ext cx="11094415" cy="274320"/>
          </a:xfrm>
          <a:prstGeom prst="rect">
            <a:avLst/>
          </a:prstGeom>
          <a:noFill/>
        </p:spPr>
        <p:txBody>
          <a:bodyPr wrap="square" lIns="0" rIns="0" tIns="0" bIns="0" anchor="t">
            <a:spAutoFit/>
          </a:bodyPr>
          <a:lstStyle/>
          <a:p>
            <a:pPr algn="l">
              <a:spcAft>
                <a:spcPts val="0"/>
              </a:spcAft>
            </a:pPr>
            <a:r>
              <a:rPr sz="1000" b="0" i="0">
                <a:solidFill>
                  <a:srgbClr val="02C39A"/>
                </a:solidFill>
                <a:latin typeface="Calibri"/>
              </a:rPr>
              <a:t>A quarter of PICRUSt2's enzyme calls, and a tenth of BV-BRC's, have no counterpart in the other — neither is wrong, they are different annotation pipelines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1094415" cy="777240"/>
          </a:xfrm>
          <a:prstGeom prst="rect">
            <a:avLst/>
          </a:prstGeom>
          <a:noFill/>
        </p:spPr>
        <p:txBody>
          <a:bodyPr wrap="square" lIns="0" rIns="0" tIns="0" bIns="0" anchor="t">
            <a:spAutoFit/>
          </a:bodyPr>
          <a:lstStyle/>
          <a:p>
            <a:pPr algn="l">
              <a:spcAft>
                <a:spcPts val="200"/>
              </a:spcAft>
            </a:pPr>
            <a:r>
              <a:rPr sz="3000" b="1" i="0">
                <a:solidFill>
                  <a:srgbClr val="10292E"/>
                </a:solidFill>
                <a:latin typeface="Cambria"/>
              </a:rPr>
              <a:t>Each method wins at home</a:t>
            </a:r>
          </a:p>
          <a:p>
            <a:pPr algn="l">
              <a:spcAft>
                <a:spcPts val="0"/>
              </a:spcAft>
            </a:pPr>
            <a:r>
              <a:rPr sz="1350" b="0" i="0">
                <a:solidFill>
                  <a:srgbClr val="5B7179"/>
                </a:solidFill>
                <a:latin typeface="Calibri"/>
              </a:rPr>
              <a:t>Identical predictions, scored against two different answer keys for the same genome</a:t>
            </a:r>
          </a:p>
        </p:txBody>
      </p:sp>
      <p:sp>
        <p:nvSpPr>
          <p:cNvPr id="3" name="TextBox 2"/>
          <p:cNvSpPr txBox="1"/>
          <p:nvPr/>
        </p:nvSpPr>
        <p:spPr>
          <a:xfrm>
            <a:off x="548640" y="1316736"/>
            <a:ext cx="11094415" cy="310896"/>
          </a:xfrm>
          <a:prstGeom prst="rect">
            <a:avLst/>
          </a:prstGeom>
          <a:noFill/>
        </p:spPr>
        <p:txBody>
          <a:bodyPr wrap="square" lIns="0" rIns="0" tIns="0" bIns="0" anchor="t">
            <a:spAutoFit/>
          </a:bodyPr>
          <a:lstStyle/>
          <a:p>
            <a:pPr algn="l">
              <a:spcAft>
                <a:spcPts val="0"/>
              </a:spcAft>
            </a:pPr>
            <a:r>
              <a:rPr sz="1250" b="0" i="1">
                <a:solidFill>
                  <a:srgbClr val="5B7179"/>
                </a:solidFill>
                <a:latin typeface="Calibri"/>
              </a:rPr>
              <a:t>Same 16,282 amplicons, same predictions, same EC vocabulary — only the answer key changes between the two columns</a:t>
            </a:r>
          </a:p>
        </p:txBody>
      </p:sp>
      <p:sp>
        <p:nvSpPr>
          <p:cNvPr id="4" name="TextBox 3"/>
          <p:cNvSpPr txBox="1"/>
          <p:nvPr/>
        </p:nvSpPr>
        <p:spPr>
          <a:xfrm>
            <a:off x="694944" y="1682496"/>
            <a:ext cx="3931920" cy="566928"/>
          </a:xfrm>
          <a:prstGeom prst="rect">
            <a:avLst/>
          </a:prstGeom>
          <a:noFill/>
        </p:spPr>
        <p:txBody>
          <a:bodyPr wrap="square" lIns="0" rIns="0" tIns="0" bIns="0" anchor="t">
            <a:spAutoFit/>
          </a:bodyPr>
          <a:lstStyle/>
          <a:p>
            <a:pPr algn="l">
              <a:spcAft>
                <a:spcPts val="0"/>
              </a:spcAft>
            </a:pPr>
            <a:r>
              <a:rPr sz="1200" b="1" i="0">
                <a:solidFill>
                  <a:srgbClr val="5B7179"/>
                </a:solidFill>
                <a:latin typeface="Calibri"/>
              </a:rPr>
              <a:t/>
            </a:r>
          </a:p>
        </p:txBody>
      </p:sp>
      <p:sp>
        <p:nvSpPr>
          <p:cNvPr id="5" name="TextBox 4"/>
          <p:cNvSpPr txBox="1"/>
          <p:nvPr/>
        </p:nvSpPr>
        <p:spPr>
          <a:xfrm>
            <a:off x="4663440" y="1682496"/>
            <a:ext cx="3108960" cy="566928"/>
          </a:xfrm>
          <a:prstGeom prst="rect">
            <a:avLst/>
          </a:prstGeom>
          <a:noFill/>
        </p:spPr>
        <p:txBody>
          <a:bodyPr wrap="square" lIns="0" rIns="0" tIns="0" bIns="0" anchor="t">
            <a:spAutoFit/>
          </a:bodyPr>
          <a:lstStyle/>
          <a:p>
            <a:pPr algn="ctr">
              <a:spcAft>
                <a:spcPts val="0"/>
              </a:spcAft>
            </a:pPr>
            <a:r>
              <a:rPr sz="1200" b="1" i="0">
                <a:solidFill>
                  <a:srgbClr val="5B7179"/>
                </a:solidFill>
                <a:latin typeface="Calibri"/>
              </a:rPr>
              <a:t>Answer key:</a:t>
            </a:r>
          </a:p>
          <a:p>
            <a:pPr algn="ctr">
              <a:spcAft>
                <a:spcPts val="0"/>
              </a:spcAft>
            </a:pPr>
            <a:r>
              <a:rPr sz="1200" b="1" i="0">
                <a:solidFill>
                  <a:srgbClr val="5B7179"/>
                </a:solidFill>
                <a:latin typeface="Calibri"/>
              </a:rPr>
              <a:t>BV-BRC's annotation</a:t>
            </a:r>
          </a:p>
        </p:txBody>
      </p:sp>
      <p:sp>
        <p:nvSpPr>
          <p:cNvPr id="6" name="TextBox 5"/>
          <p:cNvSpPr txBox="1"/>
          <p:nvPr/>
        </p:nvSpPr>
        <p:spPr>
          <a:xfrm>
            <a:off x="8046720" y="1682496"/>
            <a:ext cx="3291840" cy="566928"/>
          </a:xfrm>
          <a:prstGeom prst="rect">
            <a:avLst/>
          </a:prstGeom>
          <a:noFill/>
        </p:spPr>
        <p:txBody>
          <a:bodyPr wrap="square" lIns="0" rIns="0" tIns="0" bIns="0" anchor="t">
            <a:spAutoFit/>
          </a:bodyPr>
          <a:lstStyle/>
          <a:p>
            <a:pPr algn="ctr">
              <a:spcAft>
                <a:spcPts val="0"/>
              </a:spcAft>
            </a:pPr>
            <a:r>
              <a:rPr sz="1200" b="1" i="0">
                <a:solidFill>
                  <a:srgbClr val="5B7179"/>
                </a:solidFill>
                <a:latin typeface="Calibri"/>
              </a:rPr>
              <a:t>Answer key:</a:t>
            </a:r>
          </a:p>
          <a:p>
            <a:pPr algn="ctr">
              <a:spcAft>
                <a:spcPts val="0"/>
              </a:spcAft>
            </a:pPr>
            <a:r>
              <a:rPr sz="1200" b="1" i="0">
                <a:solidFill>
                  <a:srgbClr val="5B7179"/>
                </a:solidFill>
                <a:latin typeface="Calibri"/>
              </a:rPr>
              <a:t>PICRUSt2's annotation</a:t>
            </a:r>
          </a:p>
        </p:txBody>
      </p:sp>
      <p:sp>
        <p:nvSpPr>
          <p:cNvPr id="7" name="Rounded Rectangle 6"/>
          <p:cNvSpPr/>
          <p:nvPr/>
        </p:nvSpPr>
        <p:spPr>
          <a:xfrm>
            <a:off x="548640" y="2249424"/>
            <a:ext cx="11094415" cy="676656"/>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ctr"/>
          </a:p>
        </p:txBody>
      </p:sp>
      <p:sp>
        <p:nvSpPr>
          <p:cNvPr id="8" name="TextBox 7"/>
          <p:cNvSpPr txBox="1"/>
          <p:nvPr/>
        </p:nvSpPr>
        <p:spPr>
          <a:xfrm>
            <a:off x="694944" y="2340864"/>
            <a:ext cx="3931920" cy="493776"/>
          </a:xfrm>
          <a:prstGeom prst="rect">
            <a:avLst/>
          </a:prstGeom>
          <a:noFill/>
        </p:spPr>
        <p:txBody>
          <a:bodyPr wrap="square" lIns="0" rIns="0" tIns="0" bIns="0" anchor="ctr">
            <a:spAutoFit/>
          </a:bodyPr>
          <a:lstStyle/>
          <a:p>
            <a:pPr algn="l">
              <a:spcAft>
                <a:spcPts val="0"/>
              </a:spcAft>
            </a:pPr>
            <a:r>
              <a:rPr sz="1400" b="1" i="0">
                <a:solidFill>
                  <a:srgbClr val="007A6C"/>
                </a:solidFill>
                <a:latin typeface="Calibri"/>
              </a:rPr>
              <a:t>PICRUSt2</a:t>
            </a:r>
          </a:p>
        </p:txBody>
      </p:sp>
      <p:sp>
        <p:nvSpPr>
          <p:cNvPr id="9" name="TextBox 8"/>
          <p:cNvSpPr txBox="1"/>
          <p:nvPr/>
        </p:nvSpPr>
        <p:spPr>
          <a:xfrm>
            <a:off x="4663440" y="2340864"/>
            <a:ext cx="3108960" cy="493776"/>
          </a:xfrm>
          <a:prstGeom prst="rect">
            <a:avLst/>
          </a:prstGeom>
          <a:noFill/>
        </p:spPr>
        <p:txBody>
          <a:bodyPr wrap="square" lIns="0" rIns="0" tIns="0" bIns="0" anchor="ctr">
            <a:spAutoFit/>
          </a:bodyPr>
          <a:lstStyle/>
          <a:p>
            <a:pPr algn="ctr">
              <a:spcAft>
                <a:spcPts val="0"/>
              </a:spcAft>
            </a:pPr>
            <a:r>
              <a:rPr sz="1500" b="0" i="0">
                <a:solidFill>
                  <a:srgbClr val="10292E"/>
                </a:solidFill>
                <a:latin typeface="Calibri"/>
              </a:rPr>
              <a:t>0.790</a:t>
            </a:r>
          </a:p>
        </p:txBody>
      </p:sp>
      <p:sp>
        <p:nvSpPr>
          <p:cNvPr id="10" name="TextBox 9"/>
          <p:cNvSpPr txBox="1"/>
          <p:nvPr/>
        </p:nvSpPr>
        <p:spPr>
          <a:xfrm>
            <a:off x="8046720" y="2340864"/>
            <a:ext cx="3291840" cy="493776"/>
          </a:xfrm>
          <a:prstGeom prst="rect">
            <a:avLst/>
          </a:prstGeom>
          <a:noFill/>
        </p:spPr>
        <p:txBody>
          <a:bodyPr wrap="square" lIns="0" rIns="0" tIns="0" bIns="0" anchor="ctr">
            <a:spAutoFit/>
          </a:bodyPr>
          <a:lstStyle/>
          <a:p>
            <a:pPr algn="ctr">
              <a:spcAft>
                <a:spcPts val="0"/>
              </a:spcAft>
            </a:pPr>
            <a:r>
              <a:rPr sz="1700" b="1" i="0">
                <a:solidFill>
                  <a:srgbClr val="007A6C"/>
                </a:solidFill>
                <a:latin typeface="Calibri"/>
              </a:rPr>
              <a:t>0.941</a:t>
            </a:r>
          </a:p>
        </p:txBody>
      </p:sp>
      <p:sp>
        <p:nvSpPr>
          <p:cNvPr id="11" name="Rounded Rectangle 10"/>
          <p:cNvSpPr/>
          <p:nvPr/>
        </p:nvSpPr>
        <p:spPr>
          <a:xfrm>
            <a:off x="548640" y="2980944"/>
            <a:ext cx="11094415" cy="676656"/>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ctr"/>
          </a:p>
        </p:txBody>
      </p:sp>
      <p:sp>
        <p:nvSpPr>
          <p:cNvPr id="12" name="TextBox 11"/>
          <p:cNvSpPr txBox="1"/>
          <p:nvPr/>
        </p:nvSpPr>
        <p:spPr>
          <a:xfrm>
            <a:off x="694944" y="3072384"/>
            <a:ext cx="3931920" cy="493776"/>
          </a:xfrm>
          <a:prstGeom prst="rect">
            <a:avLst/>
          </a:prstGeom>
          <a:noFill/>
        </p:spPr>
        <p:txBody>
          <a:bodyPr wrap="square" lIns="0" rIns="0" tIns="0" bIns="0" anchor="ctr">
            <a:spAutoFit/>
          </a:bodyPr>
          <a:lstStyle/>
          <a:p>
            <a:pPr algn="l">
              <a:spcAft>
                <a:spcPts val="0"/>
              </a:spcAft>
            </a:pPr>
            <a:r>
              <a:rPr sz="1400" b="1" i="0">
                <a:solidFill>
                  <a:srgbClr val="028090"/>
                </a:solidFill>
                <a:latin typeface="Calibri"/>
              </a:rPr>
              <a:t>prFBA (source removed)</a:t>
            </a:r>
          </a:p>
        </p:txBody>
      </p:sp>
      <p:sp>
        <p:nvSpPr>
          <p:cNvPr id="13" name="TextBox 12"/>
          <p:cNvSpPr txBox="1"/>
          <p:nvPr/>
        </p:nvSpPr>
        <p:spPr>
          <a:xfrm>
            <a:off x="4663440" y="3072384"/>
            <a:ext cx="3108960" cy="493776"/>
          </a:xfrm>
          <a:prstGeom prst="rect">
            <a:avLst/>
          </a:prstGeom>
          <a:noFill/>
        </p:spPr>
        <p:txBody>
          <a:bodyPr wrap="square" lIns="0" rIns="0" tIns="0" bIns="0" anchor="ctr">
            <a:spAutoFit/>
          </a:bodyPr>
          <a:lstStyle/>
          <a:p>
            <a:pPr algn="ctr">
              <a:spcAft>
                <a:spcPts val="0"/>
              </a:spcAft>
            </a:pPr>
            <a:r>
              <a:rPr sz="1700" b="1" i="0">
                <a:solidFill>
                  <a:srgbClr val="028090"/>
                </a:solidFill>
                <a:latin typeface="Calibri"/>
              </a:rPr>
              <a:t>0.840</a:t>
            </a:r>
          </a:p>
        </p:txBody>
      </p:sp>
      <p:sp>
        <p:nvSpPr>
          <p:cNvPr id="14" name="TextBox 13"/>
          <p:cNvSpPr txBox="1"/>
          <p:nvPr/>
        </p:nvSpPr>
        <p:spPr>
          <a:xfrm>
            <a:off x="8046720" y="3072384"/>
            <a:ext cx="3291840" cy="493776"/>
          </a:xfrm>
          <a:prstGeom prst="rect">
            <a:avLst/>
          </a:prstGeom>
          <a:noFill/>
        </p:spPr>
        <p:txBody>
          <a:bodyPr wrap="square" lIns="0" rIns="0" tIns="0" bIns="0" anchor="ctr">
            <a:spAutoFit/>
          </a:bodyPr>
          <a:lstStyle/>
          <a:p>
            <a:pPr algn="ctr">
              <a:spcAft>
                <a:spcPts val="0"/>
              </a:spcAft>
            </a:pPr>
            <a:r>
              <a:rPr sz="1500" b="0" i="0">
                <a:solidFill>
                  <a:srgbClr val="10292E"/>
                </a:solidFill>
                <a:latin typeface="Calibri"/>
              </a:rPr>
              <a:t>0.738</a:t>
            </a:r>
          </a:p>
        </p:txBody>
      </p:sp>
      <p:sp>
        <p:nvSpPr>
          <p:cNvPr id="15" name="Rounded Rectangle 14"/>
          <p:cNvSpPr/>
          <p:nvPr/>
        </p:nvSpPr>
        <p:spPr>
          <a:xfrm>
            <a:off x="548640" y="3712464"/>
            <a:ext cx="11094415" cy="676656"/>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ctr"/>
          </a:p>
        </p:txBody>
      </p:sp>
      <p:sp>
        <p:nvSpPr>
          <p:cNvPr id="16" name="TextBox 15"/>
          <p:cNvSpPr txBox="1"/>
          <p:nvPr/>
        </p:nvSpPr>
        <p:spPr>
          <a:xfrm>
            <a:off x="694944" y="3803904"/>
            <a:ext cx="3931920" cy="493776"/>
          </a:xfrm>
          <a:prstGeom prst="rect">
            <a:avLst/>
          </a:prstGeom>
          <a:noFill/>
        </p:spPr>
        <p:txBody>
          <a:bodyPr wrap="square" lIns="0" rIns="0" tIns="0" bIns="0" anchor="ctr">
            <a:spAutoFit/>
          </a:bodyPr>
          <a:lstStyle/>
          <a:p>
            <a:pPr algn="l">
              <a:spcAft>
                <a:spcPts val="0"/>
              </a:spcAft>
            </a:pPr>
            <a:r>
              <a:rPr sz="1400" b="1" i="0">
                <a:solidFill>
                  <a:srgbClr val="5B7179"/>
                </a:solidFill>
                <a:latin typeface="Calibri"/>
              </a:rPr>
              <a:t>prFBA (source present)</a:t>
            </a:r>
          </a:p>
        </p:txBody>
      </p:sp>
      <p:sp>
        <p:nvSpPr>
          <p:cNvPr id="17" name="TextBox 16"/>
          <p:cNvSpPr txBox="1"/>
          <p:nvPr/>
        </p:nvSpPr>
        <p:spPr>
          <a:xfrm>
            <a:off x="4663440" y="3803904"/>
            <a:ext cx="3108960" cy="493776"/>
          </a:xfrm>
          <a:prstGeom prst="rect">
            <a:avLst/>
          </a:prstGeom>
          <a:noFill/>
        </p:spPr>
        <p:txBody>
          <a:bodyPr wrap="square" lIns="0" rIns="0" tIns="0" bIns="0" anchor="ctr">
            <a:spAutoFit/>
          </a:bodyPr>
          <a:lstStyle/>
          <a:p>
            <a:pPr algn="ctr">
              <a:spcAft>
                <a:spcPts val="0"/>
              </a:spcAft>
            </a:pPr>
            <a:r>
              <a:rPr sz="1500" b="0" i="0">
                <a:solidFill>
                  <a:srgbClr val="10292E"/>
                </a:solidFill>
                <a:latin typeface="Calibri"/>
              </a:rPr>
              <a:t>0.990</a:t>
            </a:r>
          </a:p>
        </p:txBody>
      </p:sp>
      <p:sp>
        <p:nvSpPr>
          <p:cNvPr id="18" name="TextBox 17"/>
          <p:cNvSpPr txBox="1"/>
          <p:nvPr/>
        </p:nvSpPr>
        <p:spPr>
          <a:xfrm>
            <a:off x="8046720" y="3803904"/>
            <a:ext cx="3291840" cy="493776"/>
          </a:xfrm>
          <a:prstGeom prst="rect">
            <a:avLst/>
          </a:prstGeom>
          <a:noFill/>
        </p:spPr>
        <p:txBody>
          <a:bodyPr wrap="square" lIns="0" rIns="0" tIns="0" bIns="0" anchor="ctr">
            <a:spAutoFit/>
          </a:bodyPr>
          <a:lstStyle/>
          <a:p>
            <a:pPr algn="ctr">
              <a:spcAft>
                <a:spcPts val="0"/>
              </a:spcAft>
            </a:pPr>
            <a:r>
              <a:rPr sz="1500" b="0" i="0">
                <a:solidFill>
                  <a:srgbClr val="10292E"/>
                </a:solidFill>
                <a:latin typeface="Calibri"/>
              </a:rPr>
              <a:t>0.807</a:t>
            </a:r>
          </a:p>
        </p:txBody>
      </p:sp>
      <p:sp>
        <p:nvSpPr>
          <p:cNvPr id="19" name="TextBox 18"/>
          <p:cNvSpPr txBox="1"/>
          <p:nvPr/>
        </p:nvSpPr>
        <p:spPr>
          <a:xfrm>
            <a:off x="548640" y="4626864"/>
            <a:ext cx="6675120" cy="1737360"/>
          </a:xfrm>
          <a:prstGeom prst="rect">
            <a:avLst/>
          </a:prstGeom>
          <a:noFill/>
        </p:spPr>
        <p:txBody>
          <a:bodyPr wrap="square" lIns="0" rIns="0" tIns="0" bIns="0" anchor="t">
            <a:spAutoFit/>
          </a:bodyPr>
          <a:lstStyle/>
          <a:p>
            <a:pPr>
              <a:spcAft>
                <a:spcPts val="1100"/>
              </a:spcAft>
            </a:pPr>
            <a:r>
              <a:rPr sz="1350" b="1">
                <a:solidFill>
                  <a:srgbClr val="028090"/>
                </a:solidFill>
                <a:latin typeface="Calibri"/>
              </a:rPr>
              <a:t>The flip.  </a:t>
            </a:r>
            <a:r>
              <a:rPr sz="1350">
                <a:solidFill>
                  <a:srgbClr val="10292E"/>
                </a:solidFill>
                <a:latin typeface="Calibri"/>
              </a:rPr>
              <a:t>Under our answer key prFBA leads by 0.050 F1; under PICRUSt2's it trails by 0.204. The diagonal is near-tautological — each system is handed back its own annotation of a genome it already contains — and each off-diagonal cell is roughly 0.82–0.88 of the home score.</a:t>
            </a:r>
          </a:p>
          <a:p>
            <a:pPr>
              <a:spcAft>
                <a:spcPts val="1100"/>
              </a:spcAft>
            </a:pPr>
            <a:r>
              <a:rPr sz="1350" b="1">
                <a:solidFill>
                  <a:srgbClr val="028090"/>
                </a:solidFill>
                <a:latin typeface="Calibri"/>
              </a:rPr>
              <a:t>So do not claim.  </a:t>
            </a:r>
            <a:r>
              <a:rPr sz="1350">
                <a:solidFill>
                  <a:srgbClr val="10292E"/>
                </a:solidFill>
                <a:latin typeface="Calibri"/>
              </a:rPr>
              <a:t>“prFBA predicts function more accurately than PICRUSt2.” This benchmark cannot support it in either direction — so we built one that can. It is the next three slides, and it does not favour us.</a:t>
            </a:r>
          </a:p>
        </p:txBody>
      </p:sp>
      <p:sp>
        <p:nvSpPr>
          <p:cNvPr id="20" name="Rounded Rectangle 19"/>
          <p:cNvSpPr/>
          <p:nvPr/>
        </p:nvSpPr>
        <p:spPr>
          <a:xfrm>
            <a:off x="7406640" y="4626864"/>
            <a:ext cx="4233672" cy="164592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46304"/>
          <a:lstStyle/>
          <a:p>
            <a:pPr algn="l">
              <a:spcAft>
                <a:spcPts val="800"/>
              </a:spcAft>
            </a:pPr>
            <a:r>
              <a:rPr sz="1350" b="1" i="0">
                <a:solidFill>
                  <a:srgbClr val="10292E"/>
                </a:solidFill>
                <a:latin typeface="Cambria"/>
              </a:rPr>
              <a:t>What does survive</a:t>
            </a:r>
          </a:p>
          <a:p>
            <a:pPr algn="l" marL="155448" indent="-155448">
              <a:lnSpc>
                <a:spcPct val="100000"/>
              </a:lnSpc>
              <a:spcAft>
                <a:spcPts val="500"/>
              </a:spcAft>
            </a:pPr>
            <a:r>
              <a:rPr sz="1150" b="0" i="0">
                <a:solidFill>
                  <a:srgbClr val="5B7179"/>
                </a:solidFill>
                <a:latin typeface="Calibri"/>
              </a:rPr>
              <a:t>•  Coverage and abstention — a design difference, not a measurement</a:t>
            </a:r>
          </a:p>
          <a:p>
            <a:pPr algn="l" marL="155448" indent="-155448">
              <a:lnSpc>
                <a:spcPct val="100000"/>
              </a:lnSpc>
              <a:spcAft>
                <a:spcPts val="500"/>
              </a:spcAft>
            </a:pPr>
            <a:r>
              <a:rPr sz="1150" b="0" i="0">
                <a:solidFill>
                  <a:srgbClr val="5B7179"/>
                </a:solidFill>
                <a:latin typeface="Calibri"/>
              </a:rPr>
              <a:t>•  The shape of precision decay with novelty, within each method</a:t>
            </a:r>
          </a:p>
          <a:p>
            <a:pPr algn="l" marL="155448" indent="-155448">
              <a:lnSpc>
                <a:spcPct val="100000"/>
              </a:lnSpc>
              <a:spcAft>
                <a:spcPts val="500"/>
              </a:spcAft>
            </a:pPr>
            <a:r>
              <a:rPr sz="1150" b="0" i="0">
                <a:solidFill>
                  <a:srgbClr val="5B7179"/>
                </a:solidFill>
                <a:latin typeface="Calibri"/>
              </a:rPr>
              <a:t>•  prFBA's own validation — its output is a BV-BRC genome, so that truth is the operative one</a:t>
            </a:r>
          </a:p>
        </p:txBody>
      </p:sp>
      <p:sp>
        <p:nvSpPr>
          <p:cNvPr id="21" name="TextBox 20"/>
          <p:cNvSpPr txBox="1"/>
          <p:nvPr/>
        </p:nvSpPr>
        <p:spPr>
          <a:xfrm>
            <a:off x="548640" y="6382512"/>
            <a:ext cx="11094415" cy="274320"/>
          </a:xfrm>
          <a:prstGeom prst="rect">
            <a:avLst/>
          </a:prstGeom>
          <a:noFill/>
        </p:spPr>
        <p:txBody>
          <a:bodyPr wrap="square" lIns="0" rIns="0" tIns="0" bIns="0" anchor="t">
            <a:spAutoFit/>
          </a:bodyPr>
          <a:lstStyle/>
          <a:p>
            <a:pPr algn="l">
              <a:spcAft>
                <a:spcPts val="0"/>
              </a:spcAft>
            </a:pPr>
            <a:r>
              <a:rPr sz="1000" b="0" i="0">
                <a:solidFill>
                  <a:srgbClr val="5B7179"/>
                </a:solidFill>
                <a:latin typeface="Calibri"/>
              </a:rPr>
              <a:t>Conditional on prFBA answering, n = 16,282 amplicons whose source genome is in both databases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0984687" y="429768"/>
            <a:ext cx="658368" cy="292608"/>
          </a:xfrm>
          <a:prstGeom prst="roundRect">
            <a:avLst>
              <a:gd name="adj" fmla="val 6000"/>
            </a:avLst>
          </a:prstGeom>
          <a:solidFill>
            <a:srgbClr val="E887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600"/>
              </a:spcAft>
            </a:pPr>
            <a:r>
              <a:rPr sz="1150" b="1" i="0">
                <a:solidFill>
                  <a:srgbClr val="10292E"/>
                </a:solidFill>
                <a:latin typeface="Calibri"/>
              </a:rPr>
              <a:t>NEW</a:t>
            </a:r>
          </a:p>
        </p:txBody>
      </p:sp>
      <p:sp>
        <p:nvSpPr>
          <p:cNvPr id="3" name="TextBox 2"/>
          <p:cNvSpPr txBox="1"/>
          <p:nvPr/>
        </p:nvSpPr>
        <p:spPr>
          <a:xfrm>
            <a:off x="548640" y="384048"/>
            <a:ext cx="10225735" cy="777240"/>
          </a:xfrm>
          <a:prstGeom prst="rect">
            <a:avLst/>
          </a:prstGeom>
          <a:noFill/>
        </p:spPr>
        <p:txBody>
          <a:bodyPr wrap="square" lIns="0" rIns="0" tIns="0" bIns="0" anchor="t">
            <a:spAutoFit/>
          </a:bodyPr>
          <a:lstStyle/>
          <a:p>
            <a:pPr algn="l">
              <a:spcAft>
                <a:spcPts val="200"/>
              </a:spcAft>
            </a:pPr>
            <a:r>
              <a:rPr sz="3000" b="1" i="0">
                <a:solidFill>
                  <a:srgbClr val="10292E"/>
                </a:solidFill>
                <a:latin typeface="Cambria"/>
              </a:rPr>
              <a:t>A controlled comparison: one reference set, one answer key</a:t>
            </a:r>
          </a:p>
          <a:p>
            <a:pPr algn="l">
              <a:spcAft>
                <a:spcPts val="0"/>
              </a:spcAft>
            </a:pPr>
            <a:r>
              <a:rPr sz="1350" b="0" i="0">
                <a:solidFill>
                  <a:srgbClr val="5B7179"/>
                </a:solidFill>
                <a:latin typeface="Calibri"/>
              </a:rPr>
              <a:t>Neither system authors the truth it is scored against</a:t>
            </a:r>
          </a:p>
        </p:txBody>
      </p:sp>
      <p:sp>
        <p:nvSpPr>
          <p:cNvPr id="4" name="Rounded Rectangle 3"/>
          <p:cNvSpPr/>
          <p:nvPr/>
        </p:nvSpPr>
        <p:spPr>
          <a:xfrm>
            <a:off x="548640" y="1371600"/>
            <a:ext cx="2567635" cy="132588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100"/>
              </a:spcAft>
            </a:pPr>
            <a:r>
              <a:rPr sz="3400" b="1" i="0">
                <a:solidFill>
                  <a:srgbClr val="028090"/>
                </a:solidFill>
                <a:latin typeface="Cambria"/>
              </a:rPr>
              <a:t>8,872</a:t>
            </a:r>
          </a:p>
          <a:p>
            <a:pPr algn="l">
              <a:lnSpc>
                <a:spcPct val="92000"/>
              </a:lnSpc>
              <a:spcAft>
                <a:spcPts val="0"/>
              </a:spcAft>
            </a:pPr>
            <a:r>
              <a:rPr sz="1150" b="0" i="0">
                <a:solidFill>
                  <a:srgbClr val="5B7179"/>
                </a:solidFill>
                <a:latin typeface="Calibri"/>
              </a:rPr>
              <a:t>eligible panel genomes,
species-dereplicated</a:t>
            </a:r>
          </a:p>
        </p:txBody>
      </p:sp>
      <p:sp>
        <p:nvSpPr>
          <p:cNvPr id="5" name="Rounded Rectangle 4"/>
          <p:cNvSpPr/>
          <p:nvPr/>
        </p:nvSpPr>
        <p:spPr>
          <a:xfrm>
            <a:off x="3390595" y="1371600"/>
            <a:ext cx="2567635" cy="132588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100"/>
              </a:spcAft>
            </a:pPr>
            <a:r>
              <a:rPr sz="3400" b="1" i="0">
                <a:solidFill>
                  <a:srgbClr val="028090"/>
                </a:solidFill>
                <a:latin typeface="Cambria"/>
              </a:rPr>
              <a:t>7,175</a:t>
            </a:r>
          </a:p>
          <a:p>
            <a:pPr algn="l">
              <a:lnSpc>
                <a:spcPct val="92000"/>
              </a:lnSpc>
              <a:spcAft>
                <a:spcPts val="0"/>
              </a:spcAft>
            </a:pPr>
            <a:r>
              <a:rPr sz="1150" b="0" i="0">
                <a:solidFill>
                  <a:srgbClr val="5B7179"/>
                </a:solidFill>
                <a:latin typeface="Calibri"/>
              </a:rPr>
              <a:t>reference genomes per fold
(median, leave-genus-out)</a:t>
            </a:r>
          </a:p>
        </p:txBody>
      </p:sp>
      <p:sp>
        <p:nvSpPr>
          <p:cNvPr id="6" name="Rounded Rectangle 5"/>
          <p:cNvSpPr/>
          <p:nvPr/>
        </p:nvSpPr>
        <p:spPr>
          <a:xfrm>
            <a:off x="6232550" y="1371600"/>
            <a:ext cx="2567635" cy="132588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100"/>
              </a:spcAft>
            </a:pPr>
            <a:r>
              <a:rPr sz="3400" b="1" i="0">
                <a:solidFill>
                  <a:srgbClr val="007A6C"/>
                </a:solidFill>
                <a:latin typeface="Cambria"/>
              </a:rPr>
              <a:t>63,871</a:t>
            </a:r>
          </a:p>
          <a:p>
            <a:pPr algn="l">
              <a:lnSpc>
                <a:spcPct val="92000"/>
              </a:lnSpc>
              <a:spcAft>
                <a:spcPts val="0"/>
              </a:spcAft>
            </a:pPr>
            <a:r>
              <a:rPr sz="1150" b="0" i="0">
                <a:solidFill>
                  <a:srgbClr val="5B7179"/>
                </a:solidFill>
                <a:latin typeface="Calibri"/>
              </a:rPr>
              <a:t>scored holdout cells
at genus; 14,692 at family</a:t>
            </a:r>
          </a:p>
        </p:txBody>
      </p:sp>
      <p:sp>
        <p:nvSpPr>
          <p:cNvPr id="7" name="Rounded Rectangle 6"/>
          <p:cNvSpPr/>
          <p:nvPr/>
        </p:nvSpPr>
        <p:spPr>
          <a:xfrm>
            <a:off x="9074505" y="1371600"/>
            <a:ext cx="2567635" cy="132588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100"/>
              </a:spcAft>
            </a:pPr>
            <a:r>
              <a:rPr sz="3400" b="1" i="0">
                <a:solidFill>
                  <a:srgbClr val="C96E0A"/>
                </a:solidFill>
                <a:latin typeface="Cambria"/>
              </a:rPr>
              <a:t>0.02</a:t>
            </a:r>
          </a:p>
          <a:p>
            <a:pPr algn="l">
              <a:lnSpc>
                <a:spcPct val="92000"/>
              </a:lnSpc>
              <a:spcAft>
                <a:spcPts val="0"/>
              </a:spcAft>
            </a:pPr>
            <a:r>
              <a:rPr sz="1150" b="0" i="0">
                <a:solidFill>
                  <a:srgbClr val="5B7179"/>
                </a:solidFill>
                <a:latin typeface="Calibri"/>
              </a:rPr>
              <a:t>smallest effect worth caring
about, fixed in advance</a:t>
            </a:r>
          </a:p>
        </p:txBody>
      </p:sp>
      <p:sp>
        <p:nvSpPr>
          <p:cNvPr id="8" name="TextBox 7"/>
          <p:cNvSpPr txBox="1"/>
          <p:nvPr/>
        </p:nvSpPr>
        <p:spPr>
          <a:xfrm>
            <a:off x="548640" y="2852928"/>
            <a:ext cx="6583680" cy="3200400"/>
          </a:xfrm>
          <a:prstGeom prst="rect">
            <a:avLst/>
          </a:prstGeom>
          <a:noFill/>
        </p:spPr>
        <p:txBody>
          <a:bodyPr wrap="square" lIns="0" rIns="0" tIns="0" bIns="0" anchor="t">
            <a:spAutoFit/>
          </a:bodyPr>
          <a:lstStyle/>
          <a:p>
            <a:pPr>
              <a:spcAft>
                <a:spcPts val="1100"/>
              </a:spcAft>
            </a:pPr>
            <a:r>
              <a:rPr sz="1350" b="1">
                <a:solidFill>
                  <a:srgbClr val="028090"/>
                </a:solidFill>
                <a:latin typeface="Calibri"/>
              </a:rPr>
              <a:t>The fix.  </a:t>
            </a:r>
            <a:r>
              <a:rPr sz="1350">
                <a:solidFill>
                  <a:srgbClr val="10292E"/>
                </a:solidFill>
                <a:latin typeface="Calibri"/>
              </a:rPr>
              <a:t>Both methods predict the EC content of held-out genomes from the same reference set, and one annotation — BV-BRC's EC projection — is both methods' gene content and the answer key. The dialect problem disappears because there is only one dialect.</a:t>
            </a:r>
          </a:p>
          <a:p>
            <a:pPr>
              <a:spcAft>
                <a:spcPts val="1100"/>
              </a:spcAft>
            </a:pPr>
            <a:r>
              <a:rPr sz="1350" b="1">
                <a:solidFill>
                  <a:srgbClr val="028090"/>
                </a:solidFill>
                <a:latin typeface="Calibri"/>
              </a:rPr>
              <a:t>Held out by clade, not at random.  </a:t>
            </a:r>
            <a:r>
              <a:rPr sz="1350">
                <a:solidFill>
                  <a:srgbClr val="10292E"/>
                </a:solidFill>
                <a:latin typeface="Calibri"/>
              </a:rPr>
              <a:t>Leave-genus-out and leave-family-out, k = 5 folds (k = 10 was impossible: one leakage component holds 23.5% of the panel), so a holdout genome's relatives leave the reference with it. Significance is a cluster bootstrap over holdout groups, not over amplicons.</a:t>
            </a:r>
          </a:p>
          <a:p>
            <a:pPr>
              <a:spcAft>
                <a:spcPts val="1100"/>
              </a:spcAft>
            </a:pPr>
            <a:r>
              <a:rPr sz="1350" b="1">
                <a:solidFill>
                  <a:srgbClr val="028090"/>
                </a:solidFill>
                <a:latin typeface="Calibri"/>
              </a:rPr>
              <a:t>Chosen in advance.  </a:t>
            </a:r>
            <a:r>
              <a:rPr sz="1350">
                <a:solidFill>
                  <a:srgbClr val="10292E"/>
                </a:solidFill>
                <a:latin typeface="Calibri"/>
              </a:rPr>
              <a:t>The effect size worth caring about, the selection mode (leave-one-fold-out selection, which picked the same mode in all five folds), the controls and the exit criteria were fixed before the run.</a:t>
            </a:r>
          </a:p>
        </p:txBody>
      </p:sp>
      <p:sp>
        <p:nvSpPr>
          <p:cNvPr id="9" name="Rounded Rectangle 8"/>
          <p:cNvSpPr/>
          <p:nvPr/>
        </p:nvSpPr>
        <p:spPr>
          <a:xfrm>
            <a:off x="7315200" y="2852928"/>
            <a:ext cx="4325112" cy="320040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900"/>
              </a:spcAft>
            </a:pPr>
            <a:r>
              <a:rPr sz="1300" b="1" i="0">
                <a:solidFill>
                  <a:srgbClr val="10292E"/>
                </a:solidFill>
                <a:latin typeface="Cambria"/>
              </a:rPr>
              <a:t>Five baselines, because a benchmark without a floor is a press release</a:t>
            </a:r>
          </a:p>
          <a:p>
            <a:pPr algn="l" marL="155448" indent="-155448">
              <a:lnSpc>
                <a:spcPct val="104000"/>
              </a:lnSpc>
              <a:spcAft>
                <a:spcPts val="700"/>
              </a:spcAft>
            </a:pPr>
            <a:r>
              <a:rPr sz="1200" b="0" i="0">
                <a:solidFill>
                  <a:srgbClr val="5B7179"/>
                </a:solidFill>
                <a:latin typeface="Calibri"/>
              </a:rPr>
              <a:t>•  constant — the most common ECs, every time</a:t>
            </a:r>
          </a:p>
          <a:p>
            <a:pPr algn="l" marL="155448" indent="-155448">
              <a:lnSpc>
                <a:spcPct val="104000"/>
              </a:lnSpc>
              <a:spcAft>
                <a:spcPts val="700"/>
              </a:spcAft>
            </a:pPr>
            <a:r>
              <a:rPr sz="1200" b="0" i="0">
                <a:solidFill>
                  <a:srgbClr val="5B7179"/>
                </a:solidFill>
                <a:latin typeface="Calibri"/>
              </a:rPr>
              <a:t>•  nearest neighbour — copy the single closest reference</a:t>
            </a:r>
          </a:p>
          <a:p>
            <a:pPr algn="l" marL="155448" indent="-155448">
              <a:lnSpc>
                <a:spcPct val="104000"/>
              </a:lnSpc>
              <a:spcAft>
                <a:spcPts val="700"/>
              </a:spcAft>
            </a:pPr>
            <a:r>
              <a:rPr sz="1200" b="0" i="0">
                <a:solidFill>
                  <a:srgbClr val="5B7179"/>
                </a:solidFill>
                <a:latin typeface="Calibri"/>
              </a:rPr>
              <a:t>•  family donor — copy a random same-family genome</a:t>
            </a:r>
          </a:p>
          <a:p>
            <a:pPr algn="l" marL="155448" indent="-155448">
              <a:lnSpc>
                <a:spcPct val="104000"/>
              </a:lnSpc>
              <a:spcAft>
                <a:spcPts val="700"/>
              </a:spcAft>
            </a:pPr>
            <a:r>
              <a:rPr sz="1200" b="0" i="0">
                <a:solidFill>
                  <a:srgbClr val="5B7179"/>
                </a:solidFill>
                <a:latin typeface="Calibri"/>
              </a:rPr>
              <a:t>•  clade-max — best nearby genome, chosen against the truth: an oracle</a:t>
            </a:r>
          </a:p>
          <a:p>
            <a:pPr algn="l" marL="155448" indent="-155448">
              <a:lnSpc>
                <a:spcPct val="104000"/>
              </a:lnSpc>
              <a:spcAft>
                <a:spcPts val="700"/>
              </a:spcAft>
            </a:pPr>
            <a:r>
              <a:rPr sz="1200" b="0" i="0">
                <a:solidFill>
                  <a:srgbClr val="5B7179"/>
                </a:solidFill>
                <a:latin typeface="Calibri"/>
              </a:rPr>
              <a:t>•  random abstain — prFBA's own forced answers, declined at random to its coverage</a:t>
            </a:r>
          </a:p>
        </p:txBody>
      </p:sp>
      <p:sp>
        <p:nvSpPr>
          <p:cNvPr id="10" name="TextBox 9"/>
          <p:cNvSpPr txBox="1"/>
          <p:nvPr/>
        </p:nvSpPr>
        <p:spPr>
          <a:xfrm>
            <a:off x="548640" y="6382512"/>
            <a:ext cx="11094415" cy="274320"/>
          </a:xfrm>
          <a:prstGeom prst="rect">
            <a:avLst/>
          </a:prstGeom>
          <a:noFill/>
        </p:spPr>
        <p:txBody>
          <a:bodyPr wrap="square" lIns="0" rIns="0" tIns="0" bIns="0" anchor="t">
            <a:spAutoFit/>
          </a:bodyPr>
          <a:lstStyle/>
          <a:p>
            <a:pPr algn="l">
              <a:spcAft>
                <a:spcPts val="0"/>
              </a:spcAft>
            </a:pPr>
            <a:r>
              <a:rPr sz="1000" b="0" i="0">
                <a:solidFill>
                  <a:srgbClr val="5B7179"/>
                </a:solidFill>
                <a:latin typeface="Calibri"/>
              </a:rPr>
              <a:t>Panel caveat: an HMM check finds 179 of 10,000 panel records are not 16S at all and 456 cover less than 80% of the model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0984687" y="429768"/>
            <a:ext cx="658368" cy="292608"/>
          </a:xfrm>
          <a:prstGeom prst="roundRect">
            <a:avLst>
              <a:gd name="adj" fmla="val 6000"/>
            </a:avLst>
          </a:prstGeom>
          <a:solidFill>
            <a:srgbClr val="E887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600"/>
              </a:spcAft>
            </a:pPr>
            <a:r>
              <a:rPr sz="1150" b="1" i="0">
                <a:solidFill>
                  <a:srgbClr val="10292E"/>
                </a:solidFill>
                <a:latin typeface="Calibri"/>
              </a:rPr>
              <a:t>NEW</a:t>
            </a:r>
          </a:p>
        </p:txBody>
      </p:sp>
      <p:sp>
        <p:nvSpPr>
          <p:cNvPr id="3" name="TextBox 2"/>
          <p:cNvSpPr txBox="1"/>
          <p:nvPr/>
        </p:nvSpPr>
        <p:spPr>
          <a:xfrm>
            <a:off x="548640" y="384048"/>
            <a:ext cx="10225735" cy="777240"/>
          </a:xfrm>
          <a:prstGeom prst="rect">
            <a:avLst/>
          </a:prstGeom>
          <a:noFill/>
        </p:spPr>
        <p:txBody>
          <a:bodyPr wrap="square" lIns="0" rIns="0" tIns="0" bIns="0" anchor="t">
            <a:spAutoFit/>
          </a:bodyPr>
          <a:lstStyle/>
          <a:p>
            <a:pPr algn="l">
              <a:spcAft>
                <a:spcPts val="200"/>
              </a:spcAft>
            </a:pPr>
            <a:r>
              <a:rPr sz="3000" b="1" i="0">
                <a:solidFill>
                  <a:srgbClr val="10292E"/>
                </a:solidFill>
                <a:latin typeface="Cambria"/>
              </a:rPr>
              <a:t>Under a neutral answer key, the ranking reverses</a:t>
            </a:r>
          </a:p>
          <a:p>
            <a:pPr algn="l">
              <a:spcAft>
                <a:spcPts val="0"/>
              </a:spcAft>
            </a:pPr>
            <a:r>
              <a:rPr sz="1350" b="0" i="0">
                <a:solidFill>
                  <a:srgbClr val="5B7179"/>
                </a:solidFill>
                <a:latin typeface="Calibri"/>
              </a:rPr>
              <a:t>Population EC-F1, leave-genus-out — and every method sits near a trivial baseline</a:t>
            </a:r>
          </a:p>
        </p:txBody>
      </p:sp>
      <p:graphicFrame>
        <p:nvGraphicFramePr>
          <p:cNvPr id="4" name="Chart 3"/>
          <p:cNvGraphicFramePr>
            <a:graphicFrameLocks noGrp="1"/>
          </p:cNvGraphicFramePr>
          <p:nvPr/>
        </p:nvGraphicFramePr>
        <p:xfrm>
          <a:off x="548640" y="1645920"/>
          <a:ext cx="6035040" cy="3657600"/>
        </p:xfrm>
        <a:graphic>
          <a:graphicData uri="http://schemas.openxmlformats.org/drawingml/2006/chart">
            <c:chart xmlns:c="http://schemas.openxmlformats.org/drawingml/2006/chart" r:id="rId2"/>
          </a:graphicData>
        </a:graphic>
      </p:graphicFrame>
      <p:sp>
        <p:nvSpPr>
          <p:cNvPr id="5" name="TextBox 4"/>
          <p:cNvSpPr txBox="1"/>
          <p:nvPr/>
        </p:nvSpPr>
        <p:spPr>
          <a:xfrm>
            <a:off x="548640" y="1371600"/>
            <a:ext cx="6035040" cy="274320"/>
          </a:xfrm>
          <a:prstGeom prst="rect">
            <a:avLst/>
          </a:prstGeom>
          <a:noFill/>
        </p:spPr>
        <p:txBody>
          <a:bodyPr wrap="square" lIns="0" rIns="0" tIns="0" bIns="0" anchor="t">
            <a:spAutoFit/>
          </a:bodyPr>
          <a:lstStyle/>
          <a:p>
            <a:pPr algn="l">
              <a:spcAft>
                <a:spcPts val="0"/>
              </a:spcAft>
            </a:pPr>
            <a:r>
              <a:rPr sz="1150" b="1" i="0">
                <a:solidFill>
                  <a:srgbClr val="5B7179"/>
                </a:solidFill>
                <a:latin typeface="Calibri"/>
              </a:rPr>
              <a:t>Every arm scored on the same cells, same answer key</a:t>
            </a:r>
          </a:p>
        </p:txBody>
      </p:sp>
      <p:sp>
        <p:nvSpPr>
          <p:cNvPr id="6" name="Rounded Rectangle 5"/>
          <p:cNvSpPr/>
          <p:nvPr/>
        </p:nvSpPr>
        <p:spPr>
          <a:xfrm>
            <a:off x="6858000" y="1371600"/>
            <a:ext cx="4782312" cy="128016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100"/>
              </a:spcAft>
            </a:pPr>
            <a:r>
              <a:rPr sz="3400" b="1" i="0">
                <a:solidFill>
                  <a:srgbClr val="C96E0A"/>
                </a:solidFill>
                <a:latin typeface="Cambria"/>
              </a:rPr>
              <a:t>−0.092</a:t>
            </a:r>
          </a:p>
          <a:p>
            <a:pPr algn="l">
              <a:lnSpc>
                <a:spcPct val="92000"/>
              </a:lnSpc>
              <a:spcAft>
                <a:spcPts val="0"/>
              </a:spcAft>
            </a:pPr>
            <a:r>
              <a:rPr sz="1150" b="0" i="0">
                <a:solidFill>
                  <a:srgbClr val="5B7179"/>
                </a:solidFill>
                <a:latin typeface="Calibri"/>
              </a:rPr>
              <a:t>prFBA minus PICRUSt2 at genus, 95% CI [-0.107, -0.081] — −0.124 at family</a:t>
            </a:r>
          </a:p>
        </p:txBody>
      </p:sp>
      <p:sp>
        <p:nvSpPr>
          <p:cNvPr id="7" name="TextBox 6"/>
          <p:cNvSpPr txBox="1"/>
          <p:nvPr/>
        </p:nvSpPr>
        <p:spPr>
          <a:xfrm>
            <a:off x="6858000" y="2834640"/>
            <a:ext cx="4782312" cy="3108960"/>
          </a:xfrm>
          <a:prstGeom prst="rect">
            <a:avLst/>
          </a:prstGeom>
          <a:noFill/>
        </p:spPr>
        <p:txBody>
          <a:bodyPr wrap="square" lIns="0" rIns="0" tIns="0" bIns="0" anchor="t">
            <a:spAutoFit/>
          </a:bodyPr>
          <a:lstStyle/>
          <a:p>
            <a:pPr>
              <a:spcAft>
                <a:spcPts val="900"/>
              </a:spcAft>
            </a:pPr>
            <a:r>
              <a:rPr sz="1250" b="1">
                <a:solidFill>
                  <a:srgbClr val="028090"/>
                </a:solidFill>
                <a:latin typeface="Calibri"/>
              </a:rPr>
              <a:t>Two thirds of the gap is abstention.  </a:t>
            </a:r>
            <a:r>
              <a:rPr sz="1250">
                <a:solidFill>
                  <a:srgbClr val="10292E"/>
                </a:solidFill>
                <a:latin typeface="Calibri"/>
              </a:rPr>
              <a:t>Forced to answer, prFBA trails PICRUSt2 by 0.031 — closer, not level. Refusing costs most of the deficit; the rest is in the answers themselves.</a:t>
            </a:r>
          </a:p>
          <a:p>
            <a:pPr>
              <a:spcAft>
                <a:spcPts val="900"/>
              </a:spcAft>
            </a:pPr>
            <a:r>
              <a:rPr sz="1250" b="1">
                <a:solidFill>
                  <a:srgbClr val="028090"/>
                </a:solidFill>
                <a:latin typeface="Calibri"/>
              </a:rPr>
              <a:t>The bar the design set.  </a:t>
            </a:r>
            <a:r>
              <a:rPr sz="1250">
                <a:solidFill>
                  <a:srgbClr val="10292E"/>
                </a:solidFill>
                <a:latin typeface="Calibri"/>
              </a:rPr>
              <a:t>Copying the single nearest surviving reference. prFBA forced only ties it, a margin with no paired test; the shipped, abstaining arm falls 0.058 below it, while PICRUSt2 clears it by 0.034.</a:t>
            </a:r>
          </a:p>
          <a:p>
            <a:pPr>
              <a:spcAft>
                <a:spcPts val="900"/>
              </a:spcAft>
            </a:pPr>
            <a:r>
              <a:rPr sz="1250" b="1">
                <a:solidFill>
                  <a:srgbClr val="028090"/>
                </a:solidFill>
                <a:latin typeface="Calibri"/>
              </a:rPr>
              <a:t>Harder at family rank.  </a:t>
            </a:r>
            <a:r>
              <a:rPr sz="1250">
                <a:solidFill>
                  <a:srgbClr val="10292E"/>
                </a:solidFill>
                <a:latin typeface="Calibri"/>
              </a:rPr>
              <a:t>The gap widens to −0.124 and prFBA's skill falls to −0.14, a point estimate whose interval against the prevalence floor spans zero. Clade-max is an oracle chosen against the truth, not a method to beat.</a:t>
            </a:r>
          </a:p>
        </p:txBody>
      </p:sp>
      <p:sp>
        <p:nvSpPr>
          <p:cNvPr id="8" name="TextBox 7"/>
          <p:cNvSpPr txBox="1"/>
          <p:nvPr/>
        </p:nvSpPr>
        <p:spPr>
          <a:xfrm>
            <a:off x="548640" y="6382512"/>
            <a:ext cx="11094415" cy="274320"/>
          </a:xfrm>
          <a:prstGeom prst="rect">
            <a:avLst/>
          </a:prstGeom>
          <a:noFill/>
        </p:spPr>
        <p:txBody>
          <a:bodyPr wrap="square" lIns="0" rIns="0" tIns="0" bIns="0" anchor="t">
            <a:spAutoFit/>
          </a:bodyPr>
          <a:lstStyle/>
          <a:p>
            <a:pPr algn="l">
              <a:spcAft>
                <a:spcPts val="0"/>
              </a:spcAft>
            </a:pPr>
            <a:r>
              <a:rPr sz="1000" b="0" i="0">
                <a:solidFill>
                  <a:srgbClr val="5B7179"/>
                </a:solidFill>
                <a:latin typeface="Calibri"/>
              </a:rPr>
              <a:t>Cluster bootstrap over holdout groups. Every fold-scoring control passed; the phenotype gate C12 fails (next slide), so the design's rule marks this run invalid — no number here changes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5343D"/>
        </a:solidFill>
        <a:effectLst/>
      </p:bgPr>
    </p:bg>
    <p:spTree>
      <p:nvGrpSpPr>
        <p:cNvPr id="1" name=""/>
        <p:cNvGrpSpPr/>
        <p:nvPr/>
      </p:nvGrpSpPr>
      <p:grpSpPr/>
      <p:sp>
        <p:nvSpPr>
          <p:cNvPr id="2" name="Rounded Rectangle 1"/>
          <p:cNvSpPr/>
          <p:nvPr/>
        </p:nvSpPr>
        <p:spPr>
          <a:xfrm>
            <a:off x="10984687" y="429768"/>
            <a:ext cx="658368" cy="292608"/>
          </a:xfrm>
          <a:prstGeom prst="roundRect">
            <a:avLst>
              <a:gd name="adj" fmla="val 6000"/>
            </a:avLst>
          </a:prstGeom>
          <a:solidFill>
            <a:srgbClr val="E887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600"/>
              </a:spcAft>
            </a:pPr>
            <a:r>
              <a:rPr sz="1150" b="1" i="0">
                <a:solidFill>
                  <a:srgbClr val="10292E"/>
                </a:solidFill>
                <a:latin typeface="Calibri"/>
              </a:rPr>
              <a:t>NEW</a:t>
            </a:r>
          </a:p>
        </p:txBody>
      </p:sp>
      <p:sp>
        <p:nvSpPr>
          <p:cNvPr id="3" name="TextBox 2"/>
          <p:cNvSpPr txBox="1"/>
          <p:nvPr/>
        </p:nvSpPr>
        <p:spPr>
          <a:xfrm>
            <a:off x="548640" y="384048"/>
            <a:ext cx="10225735" cy="777240"/>
          </a:xfrm>
          <a:prstGeom prst="rect">
            <a:avLst/>
          </a:prstGeom>
          <a:noFill/>
        </p:spPr>
        <p:txBody>
          <a:bodyPr wrap="square" lIns="0" rIns="0" tIns="0" bIns="0" anchor="t">
            <a:spAutoFit/>
          </a:bodyPr>
          <a:lstStyle/>
          <a:p>
            <a:pPr algn="l">
              <a:spcAft>
                <a:spcPts val="200"/>
              </a:spcAft>
            </a:pPr>
            <a:r>
              <a:rPr sz="3000" b="1" i="0">
                <a:solidFill>
                  <a:srgbClr val="FFFFFF"/>
                </a:solidFill>
                <a:latin typeface="Cambria"/>
              </a:rPr>
              <a:t>Where prFBA answers, ATP barely registers the gap</a:t>
            </a:r>
          </a:p>
          <a:p>
            <a:pPr algn="l">
              <a:spcAft>
                <a:spcPts val="0"/>
              </a:spcAft>
            </a:pPr>
            <a:r>
              <a:rPr sz="1350" b="0" i="0">
                <a:solidFill>
                  <a:srgbClr val="02C39A"/>
                </a:solidFill>
                <a:latin typeface="Calibri"/>
              </a:rPr>
              <a:t>Every arm's gene set rebuilt into a metabolic model, then asked the same question</a:t>
            </a:r>
          </a:p>
        </p:txBody>
      </p:sp>
      <p:sp>
        <p:nvSpPr>
          <p:cNvPr id="4" name="TextBox 3"/>
          <p:cNvSpPr txBox="1"/>
          <p:nvPr/>
        </p:nvSpPr>
        <p:spPr>
          <a:xfrm>
            <a:off x="548640" y="1371600"/>
            <a:ext cx="6035040" cy="4023360"/>
          </a:xfrm>
          <a:prstGeom prst="rect">
            <a:avLst/>
          </a:prstGeom>
          <a:noFill/>
        </p:spPr>
        <p:txBody>
          <a:bodyPr wrap="square" lIns="0" rIns="0" tIns="0" bIns="0" anchor="t">
            <a:spAutoFit/>
          </a:bodyPr>
          <a:lstStyle/>
          <a:p>
            <a:pPr>
              <a:spcAft>
                <a:spcPts val="900"/>
              </a:spcAft>
            </a:pPr>
            <a:r>
              <a:rPr sz="1250" b="1">
                <a:solidFill>
                  <a:srgbClr val="02C39A"/>
                </a:solidFill>
                <a:latin typeface="Calibri"/>
              </a:rPr>
              <a:t>The readout.  </a:t>
            </a:r>
            <a:r>
              <a:rPr sz="1250">
                <a:solidFill>
                  <a:srgbClr val="FFFFFF"/>
                </a:solidFill>
                <a:latin typeface="Calibri"/>
              </a:rPr>
              <a:t>Each arm's EC set goes through one fixed ModelSEED reconstruction, and the model is asked which of 54 media it can make ATP on — 22 ever carry signal. The score is media called wrong against the truth model.</a:t>
            </a:r>
          </a:p>
          <a:p>
            <a:pPr>
              <a:spcAft>
                <a:spcPts val="900"/>
              </a:spcAft>
            </a:pPr>
            <a:r>
              <a:rPr sz="1250" b="1">
                <a:solidFill>
                  <a:srgbClr val="02C39A"/>
                </a:solidFill>
                <a:latin typeface="Calibri"/>
              </a:rPr>
              <a:t>The result.  </a:t>
            </a:r>
            <a:r>
              <a:rPr sz="1250">
                <a:solidFill>
                  <a:srgbClr val="FFFFFF"/>
                </a:solidFill>
                <a:latin typeface="Calibri"/>
              </a:rPr>
              <a:t>Over the 755 ATP-informative genomes (prFBA answers all 1,000 assayed), where its EC-F1 gap is only −0.028, it calls 0.13 more media wrong than PICRUSt2, p = 0.49: no mean difference — a null, not an equivalence. Per medium, over all 1,000, PICRUSt2 is ahead on 2 of 22 (q = 0.002).</a:t>
            </a:r>
          </a:p>
          <a:p>
            <a:pPr>
              <a:spcAft>
                <a:spcPts val="900"/>
              </a:spcAft>
            </a:pPr>
            <a:r>
              <a:rPr sz="1250" b="1">
                <a:solidFill>
                  <a:srgbClr val="02C39A"/>
                </a:solidFill>
                <a:latin typeface="Calibri"/>
              </a:rPr>
              <a:t>Against the bar.  </a:t>
            </a:r>
            <a:r>
              <a:rPr sz="1250">
                <a:solidFill>
                  <a:srgbClr val="FFFFFF"/>
                </a:solidFill>
                <a:latin typeface="Calibri"/>
              </a:rPr>
              <a:t>Here prFBA beats copying the nearest reference (0.15 fewer media wrong, q = 0.028) — the baseline it ties on ECs over these same genomes.</a:t>
            </a:r>
          </a:p>
          <a:p>
            <a:pPr>
              <a:spcAft>
                <a:spcPts val="900"/>
              </a:spcAft>
            </a:pPr>
            <a:r>
              <a:rPr sz="1250" b="1">
                <a:solidFill>
                  <a:srgbClr val="02C39A"/>
                </a:solidFill>
                <a:latin typeface="Calibri"/>
              </a:rPr>
              <a:t>Structure and essentiality.  </a:t>
            </a:r>
            <a:r>
              <a:rPr sz="1250">
                <a:solidFill>
                  <a:srgbClr val="FFFFFF"/>
                </a:solidFill>
                <a:latin typeface="Calibri"/>
              </a:rPr>
              <a:t>PICRUSt2's drafts share more of the truth's reactions (median Jaccard 0.737 against 0.707). On reaction Jaccard, essentiality and growth prFBA is indistinguishable from the nearest-reference baseline (unpaired medians; no paired test specified).</a:t>
            </a:r>
          </a:p>
        </p:txBody>
      </p:sp>
      <p:sp>
        <p:nvSpPr>
          <p:cNvPr id="5" name="TextBox 4"/>
          <p:cNvSpPr txBox="1"/>
          <p:nvPr/>
        </p:nvSpPr>
        <p:spPr>
          <a:xfrm>
            <a:off x="6903720" y="1353312"/>
            <a:ext cx="4736592" cy="274320"/>
          </a:xfrm>
          <a:prstGeom prst="rect">
            <a:avLst/>
          </a:prstGeom>
          <a:noFill/>
        </p:spPr>
        <p:txBody>
          <a:bodyPr wrap="square" lIns="0" rIns="0" tIns="0" bIns="0" anchor="t">
            <a:spAutoFit/>
          </a:bodyPr>
          <a:lstStyle/>
          <a:p>
            <a:pPr algn="l">
              <a:spcAft>
                <a:spcPts val="0"/>
              </a:spcAft>
            </a:pPr>
            <a:r>
              <a:rPr sz="1200" b="1" i="0">
                <a:solidFill>
                  <a:srgbClr val="02C39A"/>
                </a:solidFill>
                <a:latin typeface="Calibri"/>
              </a:rPr>
              <a:t>Media called wrong, per genome (lower is better)</a:t>
            </a:r>
          </a:p>
        </p:txBody>
      </p:sp>
      <p:sp>
        <p:nvSpPr>
          <p:cNvPr id="6" name="Rounded Rectangle 5"/>
          <p:cNvSpPr/>
          <p:nvPr/>
        </p:nvSpPr>
        <p:spPr>
          <a:xfrm>
            <a:off x="6903720" y="1700784"/>
            <a:ext cx="4736592" cy="475488"/>
          </a:xfrm>
          <a:prstGeom prst="roundRect">
            <a:avLst>
              <a:gd name="adj" fmla="val 6000"/>
            </a:avLst>
          </a:prstGeom>
          <a:solidFill>
            <a:srgbClr val="0A4A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800" b="1">
                <a:solidFill>
                  <a:srgbClr val="02C39A"/>
                </a:solidFill>
                <a:latin typeface="Cambria"/>
              </a:rPr>
              <a:t>0.00</a:t>
            </a:r>
            <a:r>
              <a:rPr sz="1200">
                <a:solidFill>
                  <a:srgbClr val="FFFFFF"/>
                </a:solidFill>
                <a:latin typeface="Calibri"/>
              </a:rPr>
              <a:t>   Truth, rebuilt</a:t>
            </a:r>
          </a:p>
        </p:txBody>
      </p:sp>
      <p:sp>
        <p:nvSpPr>
          <p:cNvPr id="7" name="Rounded Rectangle 6"/>
          <p:cNvSpPr/>
          <p:nvPr/>
        </p:nvSpPr>
        <p:spPr>
          <a:xfrm>
            <a:off x="6903720" y="2249424"/>
            <a:ext cx="4736592" cy="475488"/>
          </a:xfrm>
          <a:prstGeom prst="roundRect">
            <a:avLst>
              <a:gd name="adj" fmla="val 6000"/>
            </a:avLst>
          </a:prstGeom>
          <a:solidFill>
            <a:srgbClr val="0A4A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800" b="1">
                <a:solidFill>
                  <a:srgbClr val="FFFFFF"/>
                </a:solidFill>
                <a:latin typeface="Cambria"/>
              </a:rPr>
              <a:t>3.31</a:t>
            </a:r>
            <a:r>
              <a:rPr sz="1200">
                <a:solidFill>
                  <a:srgbClr val="FFFFFF"/>
                </a:solidFill>
                <a:latin typeface="Calibri"/>
              </a:rPr>
              <a:t>   PICRUSt2</a:t>
            </a:r>
          </a:p>
        </p:txBody>
      </p:sp>
      <p:sp>
        <p:nvSpPr>
          <p:cNvPr id="8" name="Rounded Rectangle 7"/>
          <p:cNvSpPr/>
          <p:nvPr/>
        </p:nvSpPr>
        <p:spPr>
          <a:xfrm>
            <a:off x="6903720" y="2798064"/>
            <a:ext cx="4736592" cy="475488"/>
          </a:xfrm>
          <a:prstGeom prst="roundRect">
            <a:avLst>
              <a:gd name="adj" fmla="val 6000"/>
            </a:avLst>
          </a:prstGeom>
          <a:solidFill>
            <a:srgbClr val="0A4A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800" b="1">
                <a:solidFill>
                  <a:srgbClr val="FFFFFF"/>
                </a:solidFill>
                <a:latin typeface="Cambria"/>
              </a:rPr>
              <a:t>3.44</a:t>
            </a:r>
            <a:r>
              <a:rPr sz="1200">
                <a:solidFill>
                  <a:srgbClr val="FFFFFF"/>
                </a:solidFill>
                <a:latin typeface="Calibri"/>
              </a:rPr>
              <a:t>   prFBA</a:t>
            </a:r>
          </a:p>
        </p:txBody>
      </p:sp>
      <p:sp>
        <p:nvSpPr>
          <p:cNvPr id="9" name="Rounded Rectangle 8"/>
          <p:cNvSpPr/>
          <p:nvPr/>
        </p:nvSpPr>
        <p:spPr>
          <a:xfrm>
            <a:off x="6903720" y="3346704"/>
            <a:ext cx="4736592" cy="475488"/>
          </a:xfrm>
          <a:prstGeom prst="roundRect">
            <a:avLst>
              <a:gd name="adj" fmla="val 6000"/>
            </a:avLst>
          </a:prstGeom>
          <a:solidFill>
            <a:srgbClr val="0A4A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800" b="1">
                <a:solidFill>
                  <a:srgbClr val="FFFFFF"/>
                </a:solidFill>
                <a:latin typeface="Cambria"/>
              </a:rPr>
              <a:t>3.58</a:t>
            </a:r>
            <a:r>
              <a:rPr sz="1200">
                <a:solidFill>
                  <a:srgbClr val="FFFFFF"/>
                </a:solidFill>
                <a:latin typeface="Calibri"/>
              </a:rPr>
              <a:t>   Nearest neighbour</a:t>
            </a:r>
          </a:p>
        </p:txBody>
      </p:sp>
      <p:sp>
        <p:nvSpPr>
          <p:cNvPr id="10" name="Rounded Rectangle 9"/>
          <p:cNvSpPr/>
          <p:nvPr/>
        </p:nvSpPr>
        <p:spPr>
          <a:xfrm>
            <a:off x="6903720" y="3895344"/>
            <a:ext cx="4736592" cy="475488"/>
          </a:xfrm>
          <a:prstGeom prst="roundRect">
            <a:avLst>
              <a:gd name="adj" fmla="val 6000"/>
            </a:avLst>
          </a:prstGeom>
          <a:solidFill>
            <a:srgbClr val="0A4A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800" b="1">
                <a:solidFill>
                  <a:srgbClr val="FFFFFF"/>
                </a:solidFill>
                <a:latin typeface="Cambria"/>
              </a:rPr>
              <a:t>6.71</a:t>
            </a:r>
            <a:r>
              <a:rPr sz="1200">
                <a:solidFill>
                  <a:srgbClr val="FFFFFF"/>
                </a:solidFill>
                <a:latin typeface="Calibri"/>
              </a:rPr>
              <a:t>   Constant (floor)</a:t>
            </a:r>
          </a:p>
        </p:txBody>
      </p:sp>
      <p:sp>
        <p:nvSpPr>
          <p:cNvPr id="11" name="Rounded Rectangle 10"/>
          <p:cNvSpPr/>
          <p:nvPr/>
        </p:nvSpPr>
        <p:spPr>
          <a:xfrm>
            <a:off x="6903720" y="4517136"/>
            <a:ext cx="4736592" cy="1207008"/>
          </a:xfrm>
          <a:prstGeom prst="roundRect">
            <a:avLst>
              <a:gd name="adj" fmla="val 6000"/>
            </a:avLst>
          </a:prstGeom>
          <a:solidFill>
            <a:srgbClr val="0A4A5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a:lstStyle/>
          <a:p>
            <a:pPr algn="l">
              <a:spcAft>
                <a:spcPts val="400"/>
              </a:spcAft>
            </a:pPr>
            <a:r>
              <a:rPr sz="1250" b="1" i="0">
                <a:solidFill>
                  <a:srgbClr val="E8871A"/>
                </a:solidFill>
                <a:latin typeface="Cambria"/>
              </a:rPr>
              <a:t>The two phenotype controls</a:t>
            </a:r>
          </a:p>
          <a:p>
            <a:pPr algn="l">
              <a:lnSpc>
                <a:spcPct val="104000"/>
              </a:lnSpc>
              <a:spcAft>
                <a:spcPts val="0"/>
              </a:spcAft>
            </a:pPr>
            <a:r>
              <a:rPr sz="1100" b="0" i="0">
                <a:solidFill>
                  <a:srgbClr val="FFFFFF"/>
                </a:solidFill>
                <a:latin typeface="Calibri"/>
              </a:rPr>
              <a:t>Identity (C11): passes — one EC set built twice gives identical models. Validity gate (C12): fails — 5 of 200 gapfilled truth models make ATP or biomass from water and protons alone. Those genomes are now dropped from every arm's gapfilled comparison (a scorer bug had kept them).</a:t>
            </a:r>
          </a:p>
        </p:txBody>
      </p:sp>
      <p:sp>
        <p:nvSpPr>
          <p:cNvPr id="12" name="TextBox 11"/>
          <p:cNvSpPr txBox="1"/>
          <p:nvPr/>
        </p:nvSpPr>
        <p:spPr>
          <a:xfrm>
            <a:off x="548640" y="6382512"/>
            <a:ext cx="11094415" cy="274320"/>
          </a:xfrm>
          <a:prstGeom prst="rect">
            <a:avLst/>
          </a:prstGeom>
          <a:noFill/>
        </p:spPr>
        <p:txBody>
          <a:bodyPr wrap="square" lIns="0" rIns="0" tIns="0" bIns="0" anchor="t">
            <a:spAutoFit/>
          </a:bodyPr>
          <a:lstStyle/>
          <a:p>
            <a:pPr algn="l">
              <a:spcAft>
                <a:spcPts val="0"/>
              </a:spcAft>
            </a:pPr>
            <a:r>
              <a:rPr sz="1000" b="0" i="0">
                <a:solidFill>
                  <a:srgbClr val="02C39A"/>
                </a:solidFill>
                <a:latin typeface="Calibri"/>
              </a:rPr>
              <a:t>ATP: 1,000 pre-specified genomes, Wilcoxon signed-rank, BH q = 0.49; gapfilled readouts: 200 genomes, unpaired per-arm summaries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1094415" cy="777240"/>
          </a:xfrm>
          <a:prstGeom prst="rect">
            <a:avLst/>
          </a:prstGeom>
          <a:noFill/>
        </p:spPr>
        <p:txBody>
          <a:bodyPr wrap="square" lIns="0" rIns="0" tIns="0" bIns="0" anchor="t">
            <a:spAutoFit/>
          </a:bodyPr>
          <a:lstStyle/>
          <a:p>
            <a:pPr algn="l">
              <a:spcAft>
                <a:spcPts val="200"/>
              </a:spcAft>
            </a:pPr>
            <a:r>
              <a:rPr sz="3000" b="1" i="0">
                <a:solidFill>
                  <a:srgbClr val="10292E"/>
                </a:solidFill>
                <a:latin typeface="Cambria"/>
              </a:rPr>
              <a:t>Most of our reported abstentions were our own doing</a:t>
            </a:r>
          </a:p>
          <a:p>
            <a:pPr algn="l">
              <a:spcAft>
                <a:spcPts val="0"/>
              </a:spcAft>
            </a:pPr>
            <a:r>
              <a:rPr sz="1350" b="0" i="0">
                <a:solidFill>
                  <a:srgbClr val="5B7179"/>
                </a:solidFill>
                <a:latin typeface="Calibri"/>
              </a:rPr>
              <a:t>Self-exclusion deletes hits from a record already truncated to 20 candidates</a:t>
            </a:r>
          </a:p>
        </p:txBody>
      </p:sp>
      <p:graphicFrame>
        <p:nvGraphicFramePr>
          <p:cNvPr id="3" name="Chart 2"/>
          <p:cNvGraphicFramePr>
            <a:graphicFrameLocks noGrp="1"/>
          </p:cNvGraphicFramePr>
          <p:nvPr/>
        </p:nvGraphicFramePr>
        <p:xfrm>
          <a:off x="548640" y="3127248"/>
          <a:ext cx="5212080" cy="2514600"/>
        </p:xfrm>
        <a:graphic>
          <a:graphicData uri="http://schemas.openxmlformats.org/drawingml/2006/chart">
            <c:chart xmlns:c="http://schemas.openxmlformats.org/drawingml/2006/chart" r:id="rId2"/>
          </a:graphicData>
        </a:graphic>
      </p:graphicFrame>
      <p:sp>
        <p:nvSpPr>
          <p:cNvPr id="4" name="TextBox 3"/>
          <p:cNvSpPr txBox="1"/>
          <p:nvPr/>
        </p:nvSpPr>
        <p:spPr>
          <a:xfrm>
            <a:off x="548640" y="2852928"/>
            <a:ext cx="5212080" cy="274320"/>
          </a:xfrm>
          <a:prstGeom prst="rect">
            <a:avLst/>
          </a:prstGeom>
          <a:noFill/>
        </p:spPr>
        <p:txBody>
          <a:bodyPr wrap="square" lIns="0" rIns="0" tIns="0" bIns="0" anchor="t">
            <a:spAutoFit/>
          </a:bodyPr>
          <a:lstStyle/>
          <a:p>
            <a:pPr algn="l">
              <a:spcAft>
                <a:spcPts val="0"/>
              </a:spcAft>
            </a:pPr>
            <a:r>
              <a:rPr sz="1150" b="1" i="0">
                <a:solidFill>
                  <a:srgbClr val="5B7179"/>
                </a:solidFill>
                <a:latin typeface="Calibri"/>
              </a:rPr>
              <a:t>Amplicons recovered, by how many hits we keep</a:t>
            </a:r>
          </a:p>
        </p:txBody>
      </p:sp>
      <p:sp>
        <p:nvSpPr>
          <p:cNvPr id="5" name="Rounded Rectangle 4"/>
          <p:cNvSpPr/>
          <p:nvPr/>
        </p:nvSpPr>
        <p:spPr>
          <a:xfrm>
            <a:off x="548640" y="1371600"/>
            <a:ext cx="2468880" cy="132588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100"/>
              </a:spcAft>
            </a:pPr>
            <a:r>
              <a:rPr sz="3400" b="1" i="0">
                <a:solidFill>
                  <a:srgbClr val="C96E0A"/>
                </a:solidFill>
                <a:latin typeface="Cambria"/>
              </a:rPr>
              <a:t>94.6%</a:t>
            </a:r>
          </a:p>
          <a:p>
            <a:pPr algn="l">
              <a:lnSpc>
                <a:spcPct val="92000"/>
              </a:lnSpc>
              <a:spcAft>
                <a:spcPts val="0"/>
              </a:spcAft>
            </a:pPr>
            <a:r>
              <a:rPr sz="1150" b="0" i="0">
                <a:solidFill>
                  <a:srgbClr val="5B7179"/>
                </a:solidFill>
                <a:latin typeface="Calibri"/>
              </a:rPr>
              <a:t>of self-exclusion abstentions
were emptied records</a:t>
            </a:r>
          </a:p>
        </p:txBody>
      </p:sp>
      <p:sp>
        <p:nvSpPr>
          <p:cNvPr id="6" name="Rounded Rectangle 5"/>
          <p:cNvSpPr/>
          <p:nvPr/>
        </p:nvSpPr>
        <p:spPr>
          <a:xfrm>
            <a:off x="3291840" y="1371600"/>
            <a:ext cx="2468880" cy="132588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100"/>
              </a:spcAft>
            </a:pPr>
            <a:r>
              <a:rPr sz="3400" b="1" i="0">
                <a:solidFill>
                  <a:srgbClr val="028090"/>
                </a:solidFill>
                <a:latin typeface="Cambria"/>
              </a:rPr>
              <a:t>1.000</a:t>
            </a:r>
          </a:p>
          <a:p>
            <a:pPr algn="l">
              <a:lnSpc>
                <a:spcPct val="92000"/>
              </a:lnSpc>
              <a:spcAft>
                <a:spcPts val="0"/>
              </a:spcAft>
            </a:pPr>
            <a:r>
              <a:rPr sz="1150" b="0" i="0">
                <a:solidFill>
                  <a:srgbClr val="5B7179"/>
                </a:solidFill>
                <a:latin typeface="Calibri"/>
              </a:rPr>
              <a:t>include-self coverage
in every identity bin</a:t>
            </a:r>
          </a:p>
        </p:txBody>
      </p:sp>
      <p:sp>
        <p:nvSpPr>
          <p:cNvPr id="7" name="TextBox 6"/>
          <p:cNvSpPr txBox="1"/>
          <p:nvPr/>
        </p:nvSpPr>
        <p:spPr>
          <a:xfrm>
            <a:off x="5943600" y="1371600"/>
            <a:ext cx="5696712" cy="3931920"/>
          </a:xfrm>
          <a:prstGeom prst="rect">
            <a:avLst/>
          </a:prstGeom>
          <a:noFill/>
        </p:spPr>
        <p:txBody>
          <a:bodyPr wrap="square" lIns="0" rIns="0" tIns="0" bIns="0" anchor="t">
            <a:spAutoFit/>
          </a:bodyPr>
          <a:lstStyle/>
          <a:p>
            <a:pPr>
              <a:spcAft>
                <a:spcPts val="1000"/>
              </a:spcAft>
            </a:pPr>
            <a:r>
              <a:rPr sz="1300" b="1">
                <a:solidFill>
                  <a:srgbClr val="028090"/>
                </a:solidFill>
                <a:latin typeface="Calibri"/>
              </a:rPr>
              <a:t>What happens.  </a:t>
            </a:r>
            <a:r>
              <a:rPr sz="1300">
                <a:solidFill>
                  <a:srgbClr val="10292E"/>
                </a:solidFill>
                <a:latin typeface="Calibri"/>
              </a:rPr>
              <a:t>For an organism with many near-identical relatives, all 20 retained hits exceed the exclusion threshold. The filter deletes every one and the selector abstains for want of input — not for want of a qualifying reference, which the database still holds.</a:t>
            </a:r>
          </a:p>
          <a:p>
            <a:pPr>
              <a:spcAft>
                <a:spcPts val="1000"/>
              </a:spcAft>
            </a:pPr>
            <a:r>
              <a:rPr sz="1300" b="1">
                <a:solidFill>
                  <a:srgbClr val="028090"/>
                </a:solidFill>
                <a:latin typeface="Calibri"/>
              </a:rPr>
              <a:t>Not a production problem.  </a:t>
            </a:r>
            <a:r>
              <a:rPr sz="1300">
                <a:solidFill>
                  <a:srgbClr val="10292E"/>
                </a:solidFill>
                <a:latin typeface="Calibri"/>
              </a:rPr>
              <a:t>Nothing deletes hits in real use, and a genuinely novel organism has no near-identical relatives to remove. Include-self coverage is always 1.000.</a:t>
            </a:r>
          </a:p>
          <a:p>
            <a:pPr>
              <a:spcAft>
                <a:spcPts val="1000"/>
              </a:spcAft>
            </a:pPr>
            <a:r>
              <a:rPr sz="1300" b="1">
                <a:solidFill>
                  <a:srgbClr val="028090"/>
                </a:solidFill>
                <a:latin typeface="Calibri"/>
              </a:rPr>
              <a:t>Measured, not assumed.  </a:t>
            </a:r>
            <a:r>
              <a:rPr sz="1300">
                <a:solidFill>
                  <a:srgbClr val="10292E"/>
                </a:solidFill>
                <a:latin typeface="Calibri"/>
              </a:rPr>
              <a:t>320 affected amplicons re-aligned keeping 500 hits instead of 20: 88.4% recover an answer, at EC F1 0.783 against 0.798 for amplicons that already answered — ordinary calls, not dregs.</a:t>
            </a:r>
          </a:p>
          <a:p>
            <a:pPr>
              <a:spcAft>
                <a:spcPts val="1000"/>
              </a:spcAft>
            </a:pPr>
            <a:r>
              <a:rPr sz="1300" b="1">
                <a:solidFill>
                  <a:srgbClr val="028090"/>
                </a:solidFill>
                <a:latin typeface="Calibri"/>
              </a:rPr>
              <a:t>So.  </a:t>
            </a:r>
            <a:r>
              <a:rPr sz="1300">
                <a:solidFill>
                  <a:srgbClr val="10292E"/>
                </a:solidFill>
                <a:latin typeface="Calibri"/>
              </a:rPr>
              <a:t>Every self-exclusion coverage and population number we report is a lower bound; the conditional ones are not. Coverage would rise 0.77 → ~0.96 and population F1 0.60 → ~0.75 — under our own annotation as the answer key. The controlled comparison puts the neutral-key ceiling for a fully-answering prFBA at −0.03 against PICRUSt2, not ahead of it.</a:t>
            </a:r>
          </a:p>
        </p:txBody>
      </p:sp>
      <p:sp>
        <p:nvSpPr>
          <p:cNvPr id="8" name="TextBox 7"/>
          <p:cNvSpPr txBox="1"/>
          <p:nvPr/>
        </p:nvSpPr>
        <p:spPr>
          <a:xfrm>
            <a:off x="548640" y="6382512"/>
            <a:ext cx="11094415" cy="274320"/>
          </a:xfrm>
          <a:prstGeom prst="rect">
            <a:avLst/>
          </a:prstGeom>
          <a:noFill/>
        </p:spPr>
        <p:txBody>
          <a:bodyPr wrap="square" lIns="0" rIns="0" tIns="0" bIns="0" anchor="t">
            <a:spAutoFit/>
          </a:bodyPr>
          <a:lstStyle/>
          <a:p>
            <a:pPr algn="l">
              <a:spcAft>
                <a:spcPts val="0"/>
              </a:spcAft>
            </a:pPr>
            <a:r>
              <a:rPr sz="1000" b="0" i="0">
                <a:solidFill>
                  <a:srgbClr val="5B7179"/>
                </a:solidFill>
                <a:latin typeface="Calibri"/>
              </a:rPr>
              <a:t>The prefilter already scores 500 candidates, so keeping 100 costs essentially nothing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0984687" y="429768"/>
            <a:ext cx="658368" cy="292608"/>
          </a:xfrm>
          <a:prstGeom prst="roundRect">
            <a:avLst>
              <a:gd name="adj" fmla="val 6000"/>
            </a:avLst>
          </a:prstGeom>
          <a:solidFill>
            <a:srgbClr val="E887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600"/>
              </a:spcAft>
            </a:pPr>
            <a:r>
              <a:rPr sz="1150" b="1" i="0">
                <a:solidFill>
                  <a:srgbClr val="10292E"/>
                </a:solidFill>
                <a:latin typeface="Calibri"/>
              </a:rPr>
              <a:t>NEW</a:t>
            </a:r>
          </a:p>
        </p:txBody>
      </p:sp>
      <p:sp>
        <p:nvSpPr>
          <p:cNvPr id="3" name="TextBox 2"/>
          <p:cNvSpPr txBox="1"/>
          <p:nvPr/>
        </p:nvSpPr>
        <p:spPr>
          <a:xfrm>
            <a:off x="548640" y="384048"/>
            <a:ext cx="10225735" cy="777240"/>
          </a:xfrm>
          <a:prstGeom prst="rect">
            <a:avLst/>
          </a:prstGeom>
          <a:noFill/>
        </p:spPr>
        <p:txBody>
          <a:bodyPr wrap="square" lIns="0" rIns="0" tIns="0" bIns="0" anchor="t">
            <a:spAutoFit/>
          </a:bodyPr>
          <a:lstStyle/>
          <a:p>
            <a:pPr algn="l">
              <a:spcAft>
                <a:spcPts val="200"/>
              </a:spcAft>
            </a:pPr>
            <a:r>
              <a:rPr sz="3000" b="1" i="0">
                <a:solidFill>
                  <a:srgbClr val="10292E"/>
                </a:solidFill>
                <a:latin typeface="Cambria"/>
              </a:rPr>
              <a:t>Most real MAGs have no 16S to give</a:t>
            </a:r>
          </a:p>
          <a:p>
            <a:pPr algn="l">
              <a:spcAft>
                <a:spcPts val="0"/>
              </a:spcAft>
            </a:pPr>
            <a:r>
              <a:rPr sz="1350" b="0" i="0">
                <a:solidFill>
                  <a:srgbClr val="5B7179"/>
                </a:solidFill>
                <a:latin typeface="Calibri"/>
              </a:rPr>
              <a:t>The amplicon route is not available for the genomes people actually assemble</a:t>
            </a:r>
          </a:p>
        </p:txBody>
      </p:sp>
      <p:graphicFrame>
        <p:nvGraphicFramePr>
          <p:cNvPr id="4" name="Chart 3"/>
          <p:cNvGraphicFramePr>
            <a:graphicFrameLocks noGrp="1"/>
          </p:cNvGraphicFramePr>
          <p:nvPr/>
        </p:nvGraphicFramePr>
        <p:xfrm>
          <a:off x="548640" y="1664208"/>
          <a:ext cx="5577840" cy="3017520"/>
        </p:xfrm>
        <a:graphic>
          <a:graphicData uri="http://schemas.openxmlformats.org/drawingml/2006/chart">
            <c:chart xmlns:c="http://schemas.openxmlformats.org/drawingml/2006/chart" r:id="rId2"/>
          </a:graphicData>
        </a:graphic>
      </p:graphicFrame>
      <p:sp>
        <p:nvSpPr>
          <p:cNvPr id="5" name="TextBox 4"/>
          <p:cNvSpPr txBox="1"/>
          <p:nvPr/>
        </p:nvSpPr>
        <p:spPr>
          <a:xfrm>
            <a:off x="548640" y="1371600"/>
            <a:ext cx="5577840" cy="274320"/>
          </a:xfrm>
          <a:prstGeom prst="rect">
            <a:avLst/>
          </a:prstGeom>
          <a:noFill/>
        </p:spPr>
        <p:txBody>
          <a:bodyPr wrap="square" lIns="0" rIns="0" tIns="0" bIns="0" anchor="t">
            <a:spAutoFit/>
          </a:bodyPr>
          <a:lstStyle/>
          <a:p>
            <a:pPr algn="l">
              <a:spcAft>
                <a:spcPts val="0"/>
              </a:spcAft>
            </a:pPr>
            <a:r>
              <a:rPr sz="1150" b="1" i="0">
                <a:solidFill>
                  <a:srgbClr val="5B7179"/>
                </a:solidFill>
                <a:latin typeface="Calibri"/>
              </a:rPr>
              <a:t>GTDB r232, 901,341 genomes</a:t>
            </a:r>
          </a:p>
        </p:txBody>
      </p:sp>
      <p:sp>
        <p:nvSpPr>
          <p:cNvPr id="6" name="TextBox 5"/>
          <p:cNvSpPr txBox="1"/>
          <p:nvPr/>
        </p:nvSpPr>
        <p:spPr>
          <a:xfrm>
            <a:off x="6400800" y="1371600"/>
            <a:ext cx="5239512" cy="3200400"/>
          </a:xfrm>
          <a:prstGeom prst="rect">
            <a:avLst/>
          </a:prstGeom>
          <a:noFill/>
        </p:spPr>
        <p:txBody>
          <a:bodyPr wrap="square" lIns="0" rIns="0" tIns="0" bIns="0" anchor="t">
            <a:spAutoFit/>
          </a:bodyPr>
          <a:lstStyle/>
          <a:p>
            <a:pPr>
              <a:spcAft>
                <a:spcPts val="1100"/>
              </a:spcAft>
            </a:pPr>
            <a:r>
              <a:rPr sz="1300" b="1">
                <a:solidFill>
                  <a:srgbClr val="028090"/>
                </a:solidFill>
                <a:latin typeface="Calibri"/>
              </a:rPr>
              <a:t>The gap.  </a:t>
            </a:r>
            <a:r>
              <a:rPr sz="1300">
                <a:solidFill>
                  <a:srgbClr val="10292E"/>
                </a:solidFill>
                <a:latin typeface="Calibri"/>
              </a:rPr>
              <a:t>15.4% of 450,594 real MAGs carry a full-length 16S, against 85.0% of isolates. A 16S method simply cannot be run on most of them.</a:t>
            </a:r>
          </a:p>
          <a:p>
            <a:pPr>
              <a:spcAft>
                <a:spcPts val="1100"/>
              </a:spcAft>
            </a:pPr>
            <a:r>
              <a:rPr sz="1300" b="1">
                <a:solidFill>
                  <a:srgbClr val="028090"/>
                </a:solidFill>
                <a:latin typeface="Calibri"/>
              </a:rPr>
              <a:t>Our synthetic MAGs are kinder.  </a:t>
            </a:r>
            <a:r>
              <a:rPr sz="1300">
                <a:solidFill>
                  <a:srgbClr val="10292E"/>
                </a:solidFill>
                <a:latin typeface="Calibri"/>
              </a:rPr>
              <a:t>Full-length 16S survives in 82.1% of complete drafts and 39.1% at 30% completeness — about four times the rate in real MAGs of similar completeness (20.6% at 95–100%) — so they understate the problem.</a:t>
            </a:r>
          </a:p>
          <a:p>
            <a:pPr>
              <a:spcAft>
                <a:spcPts val="1100"/>
              </a:spcAft>
            </a:pPr>
            <a:r>
              <a:rPr sz="1300" b="1">
                <a:solidFill>
                  <a:srgbClr val="028090"/>
                </a:solidFill>
                <a:latin typeface="Calibri"/>
              </a:rPr>
              <a:t>And contigs are not a substitute.  </a:t>
            </a:r>
            <a:r>
              <a:rPr sz="1300">
                <a:solidFill>
                  <a:srgbClr val="10292E"/>
                </a:solidFill>
                <a:latin typeface="Calibri"/>
              </a:rPr>
              <a:t>Fed a MAG directly, PICRUSt2 refuses the default run outright. Forced through, it treats each contig as its own organism.</a:t>
            </a:r>
          </a:p>
        </p:txBody>
      </p:sp>
      <p:sp>
        <p:nvSpPr>
          <p:cNvPr id="7" name="Rounded Rectangle 6"/>
          <p:cNvSpPr/>
          <p:nvPr/>
        </p:nvSpPr>
        <p:spPr>
          <a:xfrm>
            <a:off x="548640" y="4681728"/>
            <a:ext cx="11091672" cy="1536192"/>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46304"/>
          <a:lstStyle/>
          <a:p>
            <a:pPr algn="l">
              <a:spcAft>
                <a:spcPts val="800"/>
              </a:spcAft>
            </a:pPr>
            <a:r>
              <a:rPr sz="1350" b="1" i="0">
                <a:solidFill>
                  <a:srgbClr val="10292E"/>
                </a:solidFill>
                <a:latin typeface="Cambria"/>
              </a:rPr>
              <a:t>What “forced through” looks like, on one bacterial genome</a:t>
            </a:r>
          </a:p>
          <a:p>
            <a:pPr algn="l">
              <a:lnSpc>
                <a:spcPct val="106000"/>
              </a:lnSpc>
              <a:spcAft>
                <a:spcPts val="0"/>
              </a:spcAft>
            </a:pPr>
            <a:r>
              <a:rPr sz="1200" b="0" i="0">
                <a:solidFill>
                  <a:srgbClr val="5B7179"/>
                </a:solidFill>
                <a:latin typeface="Calibri"/>
              </a:rPr>
              <a:t>Its 37 contigs draw 18 different closest references and 30 of 37 are called archaeal. The union asserts 1,429 EC numbers against 93 real ones — precision 0.064. 36 of the 37 contigs carry no 16S, yet 35 of them are reported at NSTI &lt; 0.15, which reads as a confident placement.</a:t>
            </a:r>
          </a:p>
        </p:txBody>
      </p:sp>
      <p:sp>
        <p:nvSpPr>
          <p:cNvPr id="8" name="TextBox 7"/>
          <p:cNvSpPr txBox="1"/>
          <p:nvPr/>
        </p:nvSpPr>
        <p:spPr>
          <a:xfrm>
            <a:off x="548640" y="6382512"/>
            <a:ext cx="11094415" cy="274320"/>
          </a:xfrm>
          <a:prstGeom prst="rect">
            <a:avLst/>
          </a:prstGeom>
          <a:noFill/>
        </p:spPr>
        <p:txBody>
          <a:bodyPr wrap="square" lIns="0" rIns="0" tIns="0" bIns="0" anchor="t">
            <a:spAutoFit/>
          </a:bodyPr>
          <a:lstStyle/>
          <a:p>
            <a:pPr algn="l">
              <a:spcAft>
                <a:spcPts val="0"/>
              </a:spcAft>
            </a:pPr>
            <a:r>
              <a:rPr sz="1000" b="0" i="0">
                <a:solidFill>
                  <a:srgbClr val="5B7179"/>
                </a:solidFill>
                <a:latin typeface="Calibri"/>
              </a:rPr>
              <a:t>The one full-length 16S that genome does carry scores precision 0.512 — the marker works when it is there; the problem is that usually it is not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0984687" y="429768"/>
            <a:ext cx="658368" cy="292608"/>
          </a:xfrm>
          <a:prstGeom prst="roundRect">
            <a:avLst>
              <a:gd name="adj" fmla="val 6000"/>
            </a:avLst>
          </a:prstGeom>
          <a:solidFill>
            <a:srgbClr val="E887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600"/>
              </a:spcAft>
            </a:pPr>
            <a:r>
              <a:rPr sz="1150" b="1" i="0">
                <a:solidFill>
                  <a:srgbClr val="10292E"/>
                </a:solidFill>
                <a:latin typeface="Calibri"/>
              </a:rPr>
              <a:t>NEW</a:t>
            </a:r>
          </a:p>
        </p:txBody>
      </p:sp>
      <p:sp>
        <p:nvSpPr>
          <p:cNvPr id="3" name="TextBox 2"/>
          <p:cNvSpPr txBox="1"/>
          <p:nvPr/>
        </p:nvSpPr>
        <p:spPr>
          <a:xfrm>
            <a:off x="548640" y="384048"/>
            <a:ext cx="10225735" cy="777240"/>
          </a:xfrm>
          <a:prstGeom prst="rect">
            <a:avLst/>
          </a:prstGeom>
          <a:noFill/>
        </p:spPr>
        <p:txBody>
          <a:bodyPr wrap="square" lIns="0" rIns="0" tIns="0" bIns="0" anchor="t">
            <a:spAutoFit/>
          </a:bodyPr>
          <a:lstStyle/>
          <a:p>
            <a:pPr algn="l">
              <a:spcAft>
                <a:spcPts val="200"/>
              </a:spcAft>
            </a:pPr>
            <a:r>
              <a:rPr sz="3000" b="1" i="0">
                <a:solidFill>
                  <a:srgbClr val="10292E"/>
                </a:solidFill>
                <a:latin typeface="Cambria"/>
              </a:rPr>
              <a:t>How a synthetic MAG is built</a:t>
            </a:r>
          </a:p>
          <a:p>
            <a:pPr algn="l">
              <a:spcAft>
                <a:spcPts val="0"/>
              </a:spcAft>
            </a:pPr>
            <a:r>
              <a:rPr sz="1350" b="0" i="0">
                <a:solidFill>
                  <a:srgbClr val="5B7179"/>
                </a:solidFill>
                <a:latin typeface="Calibri"/>
              </a:rPr>
              <a:t>Two-step degradation, because dropping deposited contigs would confound with assembly quality</a:t>
            </a:r>
          </a:p>
        </p:txBody>
      </p:sp>
      <p:sp>
        <p:nvSpPr>
          <p:cNvPr id="4" name="Rounded Rectangle 3"/>
          <p:cNvSpPr/>
          <p:nvPr/>
        </p:nvSpPr>
        <p:spPr>
          <a:xfrm>
            <a:off x="548640" y="1554480"/>
            <a:ext cx="1998878" cy="219456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676656"/>
          <a:lstStyle/>
          <a:p>
            <a:pPr algn="l">
              <a:spcAft>
                <a:spcPts val="700"/>
              </a:spcAft>
            </a:pPr>
            <a:r>
              <a:rPr sz="1550" b="1" i="0">
                <a:solidFill>
                  <a:srgbClr val="10292E"/>
                </a:solidFill>
                <a:latin typeface="Cambria"/>
              </a:rPr>
              <a:t>Fragment</a:t>
            </a:r>
          </a:p>
          <a:p>
            <a:pPr algn="l">
              <a:lnSpc>
                <a:spcPct val="105000"/>
              </a:lnSpc>
              <a:spcAft>
                <a:spcPts val="0"/>
              </a:spcAft>
            </a:pPr>
            <a:r>
              <a:rPr sz="1200" b="0" i="0">
                <a:solidFill>
                  <a:srgbClr val="5B7179"/>
                </a:solidFill>
                <a:latin typeface="Calibri"/>
              </a:rPr>
              <a:t>cut each deposited
contig to ~50 kb mean,
2.5 kb floor</a:t>
            </a:r>
          </a:p>
        </p:txBody>
      </p:sp>
      <p:sp>
        <p:nvSpPr>
          <p:cNvPr id="5" name="Oval 4"/>
          <p:cNvSpPr/>
          <p:nvPr/>
        </p:nvSpPr>
        <p:spPr>
          <a:xfrm>
            <a:off x="694944" y="1307592"/>
            <a:ext cx="493776" cy="493776"/>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i="0">
                <a:solidFill>
                  <a:srgbClr val="FFFFFF"/>
                </a:solidFill>
                <a:latin typeface="Cambria"/>
              </a:rPr>
              <a:t>1</a:t>
            </a:r>
          </a:p>
        </p:txBody>
      </p:sp>
      <p:sp>
        <p:nvSpPr>
          <p:cNvPr id="6" name="Rounded Rectangle 5"/>
          <p:cNvSpPr/>
          <p:nvPr/>
        </p:nvSpPr>
        <p:spPr>
          <a:xfrm>
            <a:off x="2821838" y="1554480"/>
            <a:ext cx="1998878" cy="219456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676656"/>
          <a:lstStyle/>
          <a:p>
            <a:pPr algn="l">
              <a:spcAft>
                <a:spcPts val="700"/>
              </a:spcAft>
            </a:pPr>
            <a:r>
              <a:rPr sz="1550" b="1" i="0">
                <a:solidFill>
                  <a:srgbClr val="10292E"/>
                </a:solidFill>
                <a:latin typeface="Cambria"/>
              </a:rPr>
              <a:t>Drop</a:t>
            </a:r>
          </a:p>
          <a:p>
            <a:pPr algn="l">
              <a:lnSpc>
                <a:spcPct val="105000"/>
              </a:lnSpc>
              <a:spcAft>
                <a:spcPts val="0"/>
              </a:spcAft>
            </a:pPr>
            <a:r>
              <a:rPr sz="1200" b="0" i="0">
                <a:solidFill>
                  <a:srgbClr val="5B7179"/>
                </a:solidFill>
                <a:latin typeface="Calibri"/>
              </a:rPr>
              <a:t>remove whole fragments
to hit the target
completeness</a:t>
            </a:r>
          </a:p>
        </p:txBody>
      </p:sp>
      <p:sp>
        <p:nvSpPr>
          <p:cNvPr id="7" name="Oval 6"/>
          <p:cNvSpPr/>
          <p:nvPr/>
        </p:nvSpPr>
        <p:spPr>
          <a:xfrm>
            <a:off x="2968142" y="1307592"/>
            <a:ext cx="493776" cy="493776"/>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i="0">
                <a:solidFill>
                  <a:srgbClr val="FFFFFF"/>
                </a:solidFill>
                <a:latin typeface="Cambria"/>
              </a:rPr>
              <a:t>2</a:t>
            </a:r>
          </a:p>
        </p:txBody>
      </p:sp>
      <p:sp>
        <p:nvSpPr>
          <p:cNvPr id="8" name="Rounded Rectangle 7"/>
          <p:cNvSpPr/>
          <p:nvPr/>
        </p:nvSpPr>
        <p:spPr>
          <a:xfrm>
            <a:off x="5095036" y="1554480"/>
            <a:ext cx="1998878" cy="219456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676656"/>
          <a:lstStyle/>
          <a:p>
            <a:pPr algn="l">
              <a:spcAft>
                <a:spcPts val="700"/>
              </a:spcAft>
            </a:pPr>
            <a:r>
              <a:rPr sz="1550" b="1" i="0">
                <a:solidFill>
                  <a:srgbClr val="10292E"/>
                </a:solidFill>
                <a:latin typeface="Cambria"/>
              </a:rPr>
              <a:t>Contaminate</a:t>
            </a:r>
          </a:p>
          <a:p>
            <a:pPr algn="l">
              <a:lnSpc>
                <a:spcPct val="105000"/>
              </a:lnSpc>
              <a:spcAft>
                <a:spcPts val="0"/>
              </a:spcAft>
            </a:pPr>
            <a:r>
              <a:rPr sz="1200" b="0" i="0">
                <a:solidFill>
                  <a:srgbClr val="5B7179"/>
                </a:solidFill>
                <a:latin typeface="Calibri"/>
              </a:rPr>
              <a:t>splice in fragments
from a different-phylum
donor</a:t>
            </a:r>
          </a:p>
        </p:txBody>
      </p:sp>
      <p:sp>
        <p:nvSpPr>
          <p:cNvPr id="9" name="Oval 8"/>
          <p:cNvSpPr/>
          <p:nvPr/>
        </p:nvSpPr>
        <p:spPr>
          <a:xfrm>
            <a:off x="5241340" y="1307592"/>
            <a:ext cx="493776" cy="493776"/>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i="0">
                <a:solidFill>
                  <a:srgbClr val="FFFFFF"/>
                </a:solidFill>
                <a:latin typeface="Cambria"/>
              </a:rPr>
              <a:t>3</a:t>
            </a:r>
          </a:p>
        </p:txBody>
      </p:sp>
      <p:sp>
        <p:nvSpPr>
          <p:cNvPr id="10" name="Rounded Rectangle 9"/>
          <p:cNvSpPr/>
          <p:nvPr/>
        </p:nvSpPr>
        <p:spPr>
          <a:xfrm>
            <a:off x="7368235" y="1554480"/>
            <a:ext cx="1998878" cy="219456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676656"/>
          <a:lstStyle/>
          <a:p>
            <a:pPr algn="l">
              <a:spcAft>
                <a:spcPts val="700"/>
              </a:spcAft>
            </a:pPr>
            <a:r>
              <a:rPr sz="1550" b="1" i="0">
                <a:solidFill>
                  <a:srgbClr val="10292E"/>
                </a:solidFill>
                <a:latin typeface="Cambria"/>
              </a:rPr>
              <a:t>Label</a:t>
            </a:r>
          </a:p>
          <a:p>
            <a:pPr algn="l">
              <a:lnSpc>
                <a:spcPct val="105000"/>
              </a:lnSpc>
              <a:spcAft>
                <a:spcPts val="0"/>
              </a:spcAft>
            </a:pPr>
            <a:r>
              <a:rPr sz="1200" b="0" i="0">
                <a:solidFill>
                  <a:srgbClr val="5B7179"/>
                </a:solidFill>
                <a:latin typeface="Calibri"/>
              </a:rPr>
              <a:t>prefix every contig
header with the MAG id</a:t>
            </a:r>
          </a:p>
        </p:txBody>
      </p:sp>
      <p:sp>
        <p:nvSpPr>
          <p:cNvPr id="11" name="Oval 10"/>
          <p:cNvSpPr/>
          <p:nvPr/>
        </p:nvSpPr>
        <p:spPr>
          <a:xfrm>
            <a:off x="7514539" y="1307592"/>
            <a:ext cx="493776" cy="493776"/>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i="0">
                <a:solidFill>
                  <a:srgbClr val="FFFFFF"/>
                </a:solidFill>
                <a:latin typeface="Cambria"/>
              </a:rPr>
              <a:t>4</a:t>
            </a:r>
          </a:p>
        </p:txBody>
      </p:sp>
      <p:sp>
        <p:nvSpPr>
          <p:cNvPr id="12" name="Rounded Rectangle 11"/>
          <p:cNvSpPr/>
          <p:nvPr/>
        </p:nvSpPr>
        <p:spPr>
          <a:xfrm>
            <a:off x="9641433" y="1554480"/>
            <a:ext cx="1998878" cy="219456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676656"/>
          <a:lstStyle/>
          <a:p>
            <a:pPr algn="l">
              <a:spcAft>
                <a:spcPts val="700"/>
              </a:spcAft>
            </a:pPr>
            <a:r>
              <a:rPr sz="1550" b="1" i="0">
                <a:solidFill>
                  <a:srgbClr val="10292E"/>
                </a:solidFill>
                <a:latin typeface="Cambria"/>
              </a:rPr>
              <a:t>Seed</a:t>
            </a:r>
          </a:p>
          <a:p>
            <a:pPr algn="l">
              <a:lnSpc>
                <a:spcPct val="105000"/>
              </a:lnSpc>
              <a:spcAft>
                <a:spcPts val="0"/>
              </a:spcAft>
            </a:pPr>
            <a:r>
              <a:rPr sz="1200" b="0" i="0">
                <a:solidFill>
                  <a:srgbClr val="5B7179"/>
                </a:solidFill>
                <a:latin typeface="Calibri"/>
              </a:rPr>
              <a:t>RNG from a CRC32 of
the genome id</a:t>
            </a:r>
          </a:p>
        </p:txBody>
      </p:sp>
      <p:sp>
        <p:nvSpPr>
          <p:cNvPr id="13" name="Oval 12"/>
          <p:cNvSpPr/>
          <p:nvPr/>
        </p:nvSpPr>
        <p:spPr>
          <a:xfrm>
            <a:off x="9787737" y="1307592"/>
            <a:ext cx="493776" cy="493776"/>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i="0">
                <a:solidFill>
                  <a:srgbClr val="FFFFFF"/>
                </a:solidFill>
                <a:latin typeface="Cambria"/>
              </a:rPr>
              <a:t>5</a:t>
            </a:r>
          </a:p>
        </p:txBody>
      </p:sp>
      <p:sp>
        <p:nvSpPr>
          <p:cNvPr id="14" name="TextBox 13"/>
          <p:cNvSpPr txBox="1"/>
          <p:nvPr/>
        </p:nvSpPr>
        <p:spPr>
          <a:xfrm>
            <a:off x="548640" y="3950208"/>
            <a:ext cx="5852160" cy="2103120"/>
          </a:xfrm>
          <a:prstGeom prst="rect">
            <a:avLst/>
          </a:prstGeom>
          <a:noFill/>
        </p:spPr>
        <p:txBody>
          <a:bodyPr wrap="square" lIns="0" rIns="0" tIns="0" bIns="0" anchor="t">
            <a:spAutoFit/>
          </a:bodyPr>
          <a:lstStyle/>
          <a:p>
            <a:pPr>
              <a:spcAft>
                <a:spcPts val="1000"/>
              </a:spcAft>
            </a:pPr>
            <a:r>
              <a:rPr sz="1300" b="1">
                <a:solidFill>
                  <a:srgbClr val="028090"/>
                </a:solidFill>
                <a:latin typeface="Calibri"/>
              </a:rPr>
              <a:t>Why fragment first.  </a:t>
            </a:r>
            <a:r>
              <a:rPr sz="1300">
                <a:solidFill>
                  <a:srgbClr val="10292E"/>
                </a:solidFill>
                <a:latin typeface="Calibri"/>
              </a:rPr>
              <a:t>19.8% of panel genomes are closed and 40.4% have fewer than ten contigs, so dropping deposited contigs cannot reach a 10%-granular grid and would make degradation severity depend on each reference's assembly quality — across a panel spanning 1 to 5,265 contigs.</a:t>
            </a:r>
          </a:p>
          <a:p>
            <a:pPr>
              <a:spcAft>
                <a:spcPts val="1000"/>
              </a:spcAft>
            </a:pPr>
            <a:r>
              <a:rPr sz="1300" b="1">
                <a:solidFill>
                  <a:srgbClr val="028090"/>
                </a:solidFill>
                <a:latin typeface="Calibri"/>
              </a:rPr>
              <a:t>Bases are never mutated.  </a:t>
            </a:r>
            <a:r>
              <a:rPr sz="1300">
                <a:solidFill>
                  <a:srgbClr val="10292E"/>
                </a:solidFill>
                <a:latin typeface="Calibri"/>
              </a:rPr>
              <a:t>skani compares k-mer sketches, and what a MAG actually suffers is incompleteness, not divergence.</a:t>
            </a:r>
          </a:p>
        </p:txBody>
      </p:sp>
      <p:sp>
        <p:nvSpPr>
          <p:cNvPr id="15" name="Rounded Rectangle 14"/>
          <p:cNvSpPr/>
          <p:nvPr/>
        </p:nvSpPr>
        <p:spPr>
          <a:xfrm>
            <a:off x="6583680" y="3950208"/>
            <a:ext cx="5056632" cy="987552"/>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28016"/>
          <a:lstStyle/>
          <a:p>
            <a:pPr algn="l">
              <a:spcAft>
                <a:spcPts val="600"/>
              </a:spcAft>
            </a:pPr>
            <a:r>
              <a:rPr sz="1300" b="1" i="0">
                <a:solidFill>
                  <a:srgbClr val="10292E"/>
                </a:solidFill>
                <a:latin typeface="Cambria"/>
              </a:rPr>
              <a:t>Step 4 is not cosmetic</a:t>
            </a:r>
          </a:p>
          <a:p>
            <a:pPr algn="l">
              <a:lnSpc>
                <a:spcPct val="105000"/>
              </a:lnSpc>
              <a:spcAft>
                <a:spcPts val="0"/>
              </a:spcAft>
            </a:pPr>
            <a:r>
              <a:rPr sz="1200" b="0" i="0">
                <a:solidFill>
                  <a:srgbClr val="5B7179"/>
                </a:solidFill>
                <a:latin typeface="Calibri"/>
              </a:rPr>
              <a:t>skani keys a query on its first contig header and silently collapses collisions: eight variants sharing one header returned five queries.</a:t>
            </a:r>
          </a:p>
        </p:txBody>
      </p:sp>
      <p:sp>
        <p:nvSpPr>
          <p:cNvPr id="16" name="Rounded Rectangle 15"/>
          <p:cNvSpPr/>
          <p:nvPr/>
        </p:nvSpPr>
        <p:spPr>
          <a:xfrm>
            <a:off x="6583680" y="5065776"/>
            <a:ext cx="5056632" cy="987552"/>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28016"/>
          <a:lstStyle/>
          <a:p>
            <a:pPr algn="l">
              <a:spcAft>
                <a:spcPts val="600"/>
              </a:spcAft>
            </a:pPr>
            <a:r>
              <a:rPr sz="1300" b="1" i="0">
                <a:solidFill>
                  <a:srgbClr val="10292E"/>
                </a:solidFill>
                <a:latin typeface="Cambria"/>
              </a:rPr>
              <a:t>What the 2.5 kb floor costs</a:t>
            </a:r>
          </a:p>
          <a:p>
            <a:pPr algn="l">
              <a:lnSpc>
                <a:spcPct val="105000"/>
              </a:lnSpc>
              <a:spcAft>
                <a:spcPts val="0"/>
              </a:spcAft>
            </a:pPr>
            <a:r>
              <a:rPr sz="1200" b="0" i="0">
                <a:solidFill>
                  <a:srgbClr val="5B7179"/>
                </a:solidFill>
                <a:latin typeface="Calibri"/>
              </a:rPr>
              <a:t>At full completeness 1,023 MAGs lose their only 16S to it, and 120 source genomes never had one.</a:t>
            </a:r>
          </a:p>
        </p:txBody>
      </p:sp>
      <p:sp>
        <p:nvSpPr>
          <p:cNvPr id="17" name="TextBox 16"/>
          <p:cNvSpPr txBox="1"/>
          <p:nvPr/>
        </p:nvSpPr>
        <p:spPr>
          <a:xfrm>
            <a:off x="548640" y="6382512"/>
            <a:ext cx="11094415" cy="274320"/>
          </a:xfrm>
          <a:prstGeom prst="rect">
            <a:avLst/>
          </a:prstGeom>
          <a:noFill/>
        </p:spPr>
        <p:txBody>
          <a:bodyPr wrap="square" lIns="0" rIns="0" tIns="0" bIns="0" anchor="t">
            <a:spAutoFit/>
          </a:bodyPr>
          <a:lstStyle/>
          <a:p>
            <a:pPr algn="l">
              <a:spcAft>
                <a:spcPts val="0"/>
              </a:spcAft>
            </a:pPr>
            <a:r>
              <a:rPr sz="1000" b="0" i="0">
                <a:solidFill>
                  <a:srgbClr val="5B7179"/>
                </a:solidFill>
                <a:latin typeface="Calibri"/>
              </a:rPr>
              <a:t>mag_validation/synth_mags.py — a given (genome, completeness, contamination) is byte-identical across runs and machines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1094415" cy="777240"/>
          </a:xfrm>
          <a:prstGeom prst="rect">
            <a:avLst/>
          </a:prstGeom>
          <a:noFill/>
        </p:spPr>
        <p:txBody>
          <a:bodyPr wrap="square" lIns="0" rIns="0" tIns="0" bIns="0" anchor="t">
            <a:spAutoFit/>
          </a:bodyPr>
          <a:lstStyle/>
          <a:p>
            <a:pPr algn="l">
              <a:spcAft>
                <a:spcPts val="200"/>
              </a:spcAft>
            </a:pPr>
            <a:r>
              <a:rPr sz="3000" b="1" i="0">
                <a:solidFill>
                  <a:srgbClr val="10292E"/>
                </a:solidFill>
                <a:latin typeface="Cambria"/>
              </a:rPr>
              <a:t>A second arm: whole genomes instead of amplicons</a:t>
            </a:r>
          </a:p>
          <a:p>
            <a:pPr algn="l">
              <a:spcAft>
                <a:spcPts val="0"/>
              </a:spcAft>
            </a:pPr>
            <a:r>
              <a:rPr sz="1350" b="0" i="0">
                <a:solidFill>
                  <a:srgbClr val="5B7179"/>
                </a:solidFill>
                <a:latin typeface="Calibri"/>
              </a:rPr>
              <a:t>The same 10,000 organisms, degraded into synthetic MAGs and matched by whole-genome ANI</a:t>
            </a:r>
          </a:p>
        </p:txBody>
      </p:sp>
      <p:sp>
        <p:nvSpPr>
          <p:cNvPr id="3" name="Rounded Rectangle 2"/>
          <p:cNvSpPr/>
          <p:nvPr/>
        </p:nvSpPr>
        <p:spPr>
          <a:xfrm>
            <a:off x="548640" y="1371600"/>
            <a:ext cx="2567635" cy="132588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100"/>
              </a:spcAft>
            </a:pPr>
            <a:r>
              <a:rPr sz="3400" b="1" i="0">
                <a:solidFill>
                  <a:srgbClr val="028090"/>
                </a:solidFill>
                <a:latin typeface="Cambria"/>
              </a:rPr>
              <a:t>49,985</a:t>
            </a:r>
          </a:p>
          <a:p>
            <a:pPr algn="l">
              <a:lnSpc>
                <a:spcPct val="92000"/>
              </a:lnSpc>
              <a:spcAft>
                <a:spcPts val="0"/>
              </a:spcAft>
            </a:pPr>
            <a:r>
              <a:rPr sz="1150" b="0" i="0">
                <a:solidFill>
                  <a:srgbClr val="5B7179"/>
                </a:solidFill>
                <a:latin typeface="Calibri"/>
              </a:rPr>
              <a:t>synthetic MAGs from
9,997 panel genomes</a:t>
            </a:r>
          </a:p>
        </p:txBody>
      </p:sp>
      <p:sp>
        <p:nvSpPr>
          <p:cNvPr id="4" name="Rounded Rectangle 3"/>
          <p:cNvSpPr/>
          <p:nvPr/>
        </p:nvSpPr>
        <p:spPr>
          <a:xfrm>
            <a:off x="3390595" y="1371600"/>
            <a:ext cx="2567635" cy="132588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100"/>
              </a:spcAft>
            </a:pPr>
            <a:r>
              <a:rPr sz="3400" b="1" i="0">
                <a:solidFill>
                  <a:srgbClr val="028090"/>
                </a:solidFill>
                <a:latin typeface="Cambria"/>
              </a:rPr>
              <a:t>99,970</a:t>
            </a:r>
          </a:p>
          <a:p>
            <a:pPr algn="l">
              <a:lnSpc>
                <a:spcPct val="92000"/>
              </a:lnSpc>
              <a:spcAft>
                <a:spcPts val="0"/>
              </a:spcAft>
            </a:pPr>
            <a:r>
              <a:rPr sz="1150" b="0" i="0">
                <a:solidFill>
                  <a:srgbClr val="5B7179"/>
                </a:solidFill>
                <a:latin typeface="Calibri"/>
              </a:rPr>
              <a:t>scored cells across five
completeness tiers</a:t>
            </a:r>
          </a:p>
        </p:txBody>
      </p:sp>
      <p:sp>
        <p:nvSpPr>
          <p:cNvPr id="5" name="Rounded Rectangle 4"/>
          <p:cNvSpPr/>
          <p:nvPr/>
        </p:nvSpPr>
        <p:spPr>
          <a:xfrm>
            <a:off x="6232550" y="1371600"/>
            <a:ext cx="2567635" cy="132588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100"/>
              </a:spcAft>
            </a:pPr>
            <a:r>
              <a:rPr sz="3400" b="1" i="0">
                <a:solidFill>
                  <a:srgbClr val="007A6C"/>
                </a:solidFill>
                <a:latin typeface="Cambria"/>
              </a:rPr>
              <a:t>0.807</a:t>
            </a:r>
          </a:p>
          <a:p>
            <a:pPr algn="l">
              <a:lnSpc>
                <a:spcPct val="92000"/>
              </a:lnSpc>
              <a:spcAft>
                <a:spcPts val="0"/>
              </a:spcAft>
            </a:pPr>
            <a:r>
              <a:rPr sz="1150" b="0" i="0">
                <a:solidFill>
                  <a:srgbClr val="5B7179"/>
                </a:solidFill>
                <a:latin typeface="Calibri"/>
              </a:rPr>
              <a:t>conditional gene-capture F1
— 0.805 at 30% complete</a:t>
            </a:r>
          </a:p>
        </p:txBody>
      </p:sp>
      <p:sp>
        <p:nvSpPr>
          <p:cNvPr id="6" name="Rounded Rectangle 5"/>
          <p:cNvSpPr/>
          <p:nvPr/>
        </p:nvSpPr>
        <p:spPr>
          <a:xfrm>
            <a:off x="9074505" y="1371600"/>
            <a:ext cx="2567635" cy="132588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100"/>
              </a:spcAft>
            </a:pPr>
            <a:r>
              <a:rPr sz="3400" b="1" i="0">
                <a:solidFill>
                  <a:srgbClr val="007A6C"/>
                </a:solidFill>
                <a:latin typeface="Cambria"/>
              </a:rPr>
              <a:t>0.910</a:t>
            </a:r>
          </a:p>
          <a:p>
            <a:pPr algn="l">
              <a:lnSpc>
                <a:spcPct val="92000"/>
              </a:lnSpc>
              <a:spcAft>
                <a:spcPts val="0"/>
              </a:spcAft>
            </a:pPr>
            <a:r>
              <a:rPr sz="1150" b="0" i="0">
                <a:solidFill>
                  <a:srgbClr val="5B7179"/>
                </a:solidFill>
                <a:latin typeface="Calibri"/>
              </a:rPr>
              <a:t>genus accuracy
— 0.912 at 30% complete</a:t>
            </a:r>
          </a:p>
        </p:txBody>
      </p:sp>
      <p:sp>
        <p:nvSpPr>
          <p:cNvPr id="7" name="TextBox 6"/>
          <p:cNvSpPr txBox="1"/>
          <p:nvPr/>
        </p:nvSpPr>
        <p:spPr>
          <a:xfrm>
            <a:off x="548640" y="2852928"/>
            <a:ext cx="5943600" cy="3200400"/>
          </a:xfrm>
          <a:prstGeom prst="rect">
            <a:avLst/>
          </a:prstGeom>
          <a:noFill/>
        </p:spPr>
        <p:txBody>
          <a:bodyPr wrap="square" lIns="0" rIns="0" tIns="0" bIns="0" anchor="t">
            <a:spAutoFit/>
          </a:bodyPr>
          <a:lstStyle/>
          <a:p>
            <a:pPr>
              <a:spcAft>
                <a:spcPts val="1000"/>
              </a:spcAft>
            </a:pPr>
            <a:r>
              <a:rPr sz="1350" b="1">
                <a:solidFill>
                  <a:srgbClr val="028090"/>
                </a:solidFill>
                <a:latin typeface="Calibri"/>
              </a:rPr>
              <a:t>The design.  </a:t>
            </a:r>
            <a:r>
              <a:rPr sz="1350">
                <a:solidFill>
                  <a:srgbClr val="10292E"/>
                </a:solidFill>
                <a:latin typeface="Calibri"/>
              </a:rPr>
              <a:t>Each panel genome is cut into ~50 kb synthetic contigs — removing a contiguity confound across genomes spanning 1 to 5,265 deposited contigs — then fragments are dropped at random to 100 / 90 / 70 / 50 / 30% completeness. The draft is matched by skani ANI instead of 16S identity.</a:t>
            </a:r>
          </a:p>
          <a:p>
            <a:pPr>
              <a:spcAft>
                <a:spcPts val="1000"/>
              </a:spcAft>
            </a:pPr>
            <a:r>
              <a:rPr sz="1350" b="1">
                <a:solidFill>
                  <a:srgbClr val="028090"/>
                </a:solidFill>
                <a:latin typeface="Calibri"/>
              </a:rPr>
              <a:t>Same everything else.  </a:t>
            </a:r>
            <a:r>
              <a:rPr sz="1350">
                <a:solidFill>
                  <a:srgbClr val="10292E"/>
                </a:solidFill>
                <a:latin typeface="Calibri"/>
              </a:rPr>
              <a:t>The amplicon arm's truth, metric definitions, three-state cells and conditional-vs-population denominators — not reimplementations — so the two arms are directly comparable.</a:t>
            </a:r>
          </a:p>
          <a:p>
            <a:pPr>
              <a:spcAft>
                <a:spcPts val="1000"/>
              </a:spcAft>
            </a:pPr>
            <a:r>
              <a:rPr sz="1350" b="1">
                <a:solidFill>
                  <a:srgbClr val="028090"/>
                </a:solidFill>
                <a:latin typeface="Calibri"/>
              </a:rPr>
              <a:t>Completeness is a null axis.  </a:t>
            </a:r>
            <a:r>
              <a:rPr sz="1350">
                <a:solidFill>
                  <a:srgbClr val="10292E"/>
                </a:solidFill>
                <a:latin typeface="Calibri"/>
              </a:rPr>
              <a:t>Nothing the pipeline decides moves with it: not which reference is selected, not whether one is selected, not how much metabolism is recovered.</a:t>
            </a:r>
          </a:p>
          <a:p>
            <a:pPr>
              <a:spcAft>
                <a:spcPts val="1000"/>
              </a:spcAft>
            </a:pPr>
            <a:r>
              <a:rPr sz="1350" b="1">
                <a:solidFill>
                  <a:srgbClr val="028090"/>
                </a:solidFill>
                <a:latin typeface="Calibri"/>
              </a:rPr>
              <a:t>Why.  </a:t>
            </a:r>
            <a:r>
              <a:rPr sz="1350">
                <a:solidFill>
                  <a:srgbClr val="10292E"/>
                </a:solidFill>
                <a:latin typeface="Calibri"/>
              </a:rPr>
              <a:t>With the source present, AF_query stays flat at ~99.8% — a clean contig subset still aligns end to end — while AF_ref ≈ 0.99 × completeness; under exclusion AF_query stays flat too and AF_ref still scales. The gate reads the first and ignores the second, a free completeness signal the pipeline already computes and discards.</a:t>
            </a:r>
          </a:p>
        </p:txBody>
      </p:sp>
      <p:graphicFrame>
        <p:nvGraphicFramePr>
          <p:cNvPr id="8" name="Chart 7"/>
          <p:cNvGraphicFramePr>
            <a:graphicFrameLocks noGrp="1"/>
          </p:cNvGraphicFramePr>
          <p:nvPr/>
        </p:nvGraphicFramePr>
        <p:xfrm>
          <a:off x="6766560" y="2944368"/>
          <a:ext cx="4873752" cy="2926080"/>
        </p:xfrm>
        <a:graphic>
          <a:graphicData uri="http://schemas.openxmlformats.org/drawingml/2006/chart">
            <c:chart xmlns:c="http://schemas.openxmlformats.org/drawingml/2006/chart" r:id="rId2"/>
          </a:graphicData>
        </a:graphic>
      </p:graphicFrame>
      <p:sp>
        <p:nvSpPr>
          <p:cNvPr id="9" name="TextBox 8"/>
          <p:cNvSpPr txBox="1"/>
          <p:nvPr/>
        </p:nvSpPr>
        <p:spPr>
          <a:xfrm>
            <a:off x="6766560" y="2670048"/>
            <a:ext cx="4873752" cy="274320"/>
          </a:xfrm>
          <a:prstGeom prst="rect">
            <a:avLst/>
          </a:prstGeom>
          <a:noFill/>
        </p:spPr>
        <p:txBody>
          <a:bodyPr wrap="square" lIns="0" rIns="0" tIns="0" bIns="0" anchor="t">
            <a:spAutoFit/>
          </a:bodyPr>
          <a:lstStyle/>
          <a:p>
            <a:pPr algn="l">
              <a:spcAft>
                <a:spcPts val="0"/>
              </a:spcAft>
            </a:pPr>
            <a:r>
              <a:rPr sz="1150" b="1" i="0">
                <a:solidFill>
                  <a:srgbClr val="5B7179"/>
                </a:solidFill>
                <a:latin typeface="Calibri"/>
              </a:rPr>
              <a:t>Self-exclusion, by MAG completeness</a:t>
            </a:r>
          </a:p>
        </p:txBody>
      </p:sp>
      <p:sp>
        <p:nvSpPr>
          <p:cNvPr id="10" name="TextBox 9"/>
          <p:cNvSpPr txBox="1"/>
          <p:nvPr/>
        </p:nvSpPr>
        <p:spPr>
          <a:xfrm>
            <a:off x="548640" y="6382512"/>
            <a:ext cx="11094415" cy="274320"/>
          </a:xfrm>
          <a:prstGeom prst="rect">
            <a:avLst/>
          </a:prstGeom>
          <a:noFill/>
        </p:spPr>
        <p:txBody>
          <a:bodyPr wrap="square" lIns="0" rIns="0" tIns="0" bIns="0" anchor="t">
            <a:spAutoFit/>
          </a:bodyPr>
          <a:lstStyle/>
          <a:p>
            <a:pPr algn="l">
              <a:spcAft>
                <a:spcPts val="0"/>
              </a:spcAft>
            </a:pPr>
            <a:r>
              <a:rPr sz="1000" b="0" i="0">
                <a:solidFill>
                  <a:srgbClr val="5B7179"/>
                </a:solidFill>
                <a:latin typeface="Calibri"/>
              </a:rPr>
              <a:t>0%-contamination grid only: the synthesizer that built this grid overshot its dose at low completeness, so every contamination claim was withdrawn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1094415" cy="777240"/>
          </a:xfrm>
          <a:prstGeom prst="rect">
            <a:avLst/>
          </a:prstGeom>
          <a:noFill/>
        </p:spPr>
        <p:txBody>
          <a:bodyPr wrap="square" lIns="0" rIns="0" tIns="0" bIns="0" anchor="t">
            <a:spAutoFit/>
          </a:bodyPr>
          <a:lstStyle/>
          <a:p>
            <a:pPr algn="l">
              <a:spcAft>
                <a:spcPts val="200"/>
              </a:spcAft>
            </a:pPr>
            <a:r>
              <a:rPr sz="3000" b="1" i="0">
                <a:solidFill>
                  <a:srgbClr val="10292E"/>
                </a:solidFill>
                <a:latin typeface="Cambria"/>
              </a:rPr>
              <a:t>There is no completeness at which the amplicon catches up</a:t>
            </a:r>
          </a:p>
          <a:p>
            <a:pPr algn="l">
              <a:spcAft>
                <a:spcPts val="0"/>
              </a:spcAft>
            </a:pPr>
            <a:r>
              <a:rPr sz="1350" b="0" i="0">
                <a:solidFill>
                  <a:srgbClr val="5B7179"/>
                </a:solidFill>
                <a:latin typeface="Calibri"/>
              </a:rPr>
              <a:t>Paired within organism, down to a 1%-complete draft — a 37 kb fragment</a:t>
            </a:r>
          </a:p>
        </p:txBody>
      </p:sp>
      <p:graphicFrame>
        <p:nvGraphicFramePr>
          <p:cNvPr id="3" name="Chart 2"/>
          <p:cNvGraphicFramePr>
            <a:graphicFrameLocks noGrp="1"/>
          </p:cNvGraphicFramePr>
          <p:nvPr/>
        </p:nvGraphicFramePr>
        <p:xfrm>
          <a:off x="548640" y="1645920"/>
          <a:ext cx="6675120" cy="3657600"/>
        </p:xfrm>
        <a:graphic>
          <a:graphicData uri="http://schemas.openxmlformats.org/drawingml/2006/chart">
            <c:chart xmlns:c="http://schemas.openxmlformats.org/drawingml/2006/chart" r:id="rId2"/>
          </a:graphicData>
        </a:graphic>
      </p:graphicFrame>
      <p:sp>
        <p:nvSpPr>
          <p:cNvPr id="4" name="TextBox 3"/>
          <p:cNvSpPr txBox="1"/>
          <p:nvPr/>
        </p:nvSpPr>
        <p:spPr>
          <a:xfrm>
            <a:off x="548640" y="1371600"/>
            <a:ext cx="6675120" cy="274320"/>
          </a:xfrm>
          <a:prstGeom prst="rect">
            <a:avLst/>
          </a:prstGeom>
          <a:noFill/>
        </p:spPr>
        <p:txBody>
          <a:bodyPr wrap="square" lIns="0" rIns="0" tIns="0" bIns="0" anchor="t">
            <a:spAutoFit/>
          </a:bodyPr>
          <a:lstStyle/>
          <a:p>
            <a:pPr algn="l">
              <a:spcAft>
                <a:spcPts val="0"/>
              </a:spcAft>
            </a:pPr>
            <a:r>
              <a:rPr sz="1150" b="1" i="0">
                <a:solidFill>
                  <a:srgbClr val="5B7179"/>
                </a:solidFill>
                <a:latin typeface="Calibri"/>
              </a:rPr>
              <a:t>Conditional gene-capture F1 against MAG completeness  (note the axis starts at 0.60)</a:t>
            </a:r>
          </a:p>
        </p:txBody>
      </p:sp>
      <p:sp>
        <p:nvSpPr>
          <p:cNvPr id="5" name="Rounded Rectangle 4"/>
          <p:cNvSpPr/>
          <p:nvPr/>
        </p:nvSpPr>
        <p:spPr>
          <a:xfrm>
            <a:off x="7406640" y="1371600"/>
            <a:ext cx="4233672" cy="128016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100"/>
              </a:spcAft>
            </a:pPr>
            <a:r>
              <a:rPr sz="2400" b="1" i="0">
                <a:solidFill>
                  <a:srgbClr val="028090"/>
                </a:solidFill>
                <a:latin typeface="Cambria"/>
              </a:rPr>
              <a:t>+0.104  →  +0.080</a:t>
            </a:r>
          </a:p>
          <a:p>
            <a:pPr algn="l">
              <a:lnSpc>
                <a:spcPct val="92000"/>
              </a:lnSpc>
              <a:spcAft>
                <a:spcPts val="0"/>
              </a:spcAft>
            </a:pPr>
            <a:r>
              <a:rPr sz="1150" b="0" i="0">
                <a:solidFill>
                  <a:srgbClr val="5B7179"/>
                </a:solidFill>
                <a:latin typeface="Calibri"/>
              </a:rPr>
              <a:t>MAG advantage in gene-capture F1 over a full-length amplicon, from a complete genome down to a 1% draft</a:t>
            </a:r>
          </a:p>
        </p:txBody>
      </p:sp>
      <p:sp>
        <p:nvSpPr>
          <p:cNvPr id="6" name="TextBox 5"/>
          <p:cNvSpPr txBox="1"/>
          <p:nvPr/>
        </p:nvSpPr>
        <p:spPr>
          <a:xfrm>
            <a:off x="7406640" y="2834640"/>
            <a:ext cx="4233672" cy="3108960"/>
          </a:xfrm>
          <a:prstGeom prst="rect">
            <a:avLst/>
          </a:prstGeom>
          <a:noFill/>
        </p:spPr>
        <p:txBody>
          <a:bodyPr wrap="square" lIns="0" rIns="0" tIns="0" bIns="0" anchor="t">
            <a:spAutoFit/>
          </a:bodyPr>
          <a:lstStyle/>
          <a:p>
            <a:pPr>
              <a:spcAft>
                <a:spcPts val="1000"/>
              </a:spcAft>
            </a:pPr>
            <a:r>
              <a:rPr sz="1300" b="1">
                <a:solidFill>
                  <a:srgbClr val="028090"/>
                </a:solidFill>
                <a:latin typeface="Calibri"/>
              </a:rPr>
              <a:t>Why it holds.  </a:t>
            </a:r>
            <a:r>
              <a:rPr sz="1300">
                <a:solidFill>
                  <a:srgbClr val="10292E"/>
                </a:solidFill>
                <a:latin typeface="Calibri"/>
              </a:rPr>
              <a:t>The prediction is the gene content of the selected reference, not of the MAG. Completeness matters only if it changes which reference is chosen, and ANI is robust enough that it rarely does.</a:t>
            </a:r>
          </a:p>
          <a:p>
            <a:pPr>
              <a:spcAft>
                <a:spcPts val="1000"/>
              </a:spcAft>
            </a:pPr>
            <a:r>
              <a:rPr sz="1300" b="1">
                <a:solidFill>
                  <a:srgbClr val="028090"/>
                </a:solidFill>
                <a:latin typeface="Calibri"/>
              </a:rPr>
              <a:t>Against V4.  </a:t>
            </a:r>
            <a:r>
              <a:rPr sz="1300">
                <a:solidFill>
                  <a:srgbClr val="10292E"/>
                </a:solidFill>
                <a:latin typeface="Calibri"/>
              </a:rPr>
              <a:t>The margin is larger still — +0.170 at 100% and +0.141 at 1%.</a:t>
            </a:r>
          </a:p>
          <a:p>
            <a:pPr>
              <a:spcAft>
                <a:spcPts val="1000"/>
              </a:spcAft>
            </a:pPr>
            <a:r>
              <a:rPr sz="1300" b="1">
                <a:solidFill>
                  <a:srgbClr val="028090"/>
                </a:solidFill>
                <a:latin typeface="Calibri"/>
              </a:rPr>
              <a:t>What does degrade.  </a:t>
            </a:r>
            <a:r>
              <a:rPr sz="1300">
                <a:solidFill>
                  <a:srgbClr val="10292E"/>
                </a:solidFill>
                <a:latin typeface="Calibri"/>
              </a:rPr>
              <a:t>Coverage, not quality: the resolve rate falls 0.308 → 0.253, flat to ~15% and then declining as the remaining sequence stops clearing skani's screen.</a:t>
            </a:r>
          </a:p>
          <a:p>
            <a:pPr>
              <a:spcAft>
                <a:spcPts val="1000"/>
              </a:spcAft>
            </a:pPr>
            <a:r>
              <a:rPr sz="1300" b="1">
                <a:solidFill>
                  <a:srgbClr val="028090"/>
                </a:solidFill>
                <a:latin typeface="Calibri"/>
              </a:rPr>
              <a:t>Do not over-read it.  </a:t>
            </a:r>
            <a:r>
              <a:rPr sz="1300">
                <a:solidFill>
                  <a:srgbClr val="10292E"/>
                </a:solidFill>
                <a:latin typeface="Calibri"/>
              </a:rPr>
              <a:t>This is conditional on both arms answering. Over the whole population the amplicon arm wins, 0.535 to 0.248, because the MAG arm abstains on 69% of organisms.</a:t>
            </a:r>
          </a:p>
        </p:txBody>
      </p:sp>
      <p:sp>
        <p:nvSpPr>
          <p:cNvPr id="7" name="TextBox 6"/>
          <p:cNvSpPr txBox="1"/>
          <p:nvPr/>
        </p:nvSpPr>
        <p:spPr>
          <a:xfrm>
            <a:off x="548640" y="6382512"/>
            <a:ext cx="11094415" cy="274320"/>
          </a:xfrm>
          <a:prstGeom prst="rect">
            <a:avLst/>
          </a:prstGeom>
          <a:noFill/>
        </p:spPr>
        <p:txBody>
          <a:bodyPr wrap="square" lIns="0" rIns="0" tIns="0" bIns="0" anchor="t">
            <a:spAutoFit/>
          </a:bodyPr>
          <a:lstStyle/>
          <a:p>
            <a:pPr algn="l">
              <a:spcAft>
                <a:spcPts val="0"/>
              </a:spcAft>
            </a:pPr>
            <a:r>
              <a:rPr sz="1000" b="0" i="0">
                <a:solidFill>
                  <a:srgbClr val="5B7179"/>
                </a:solidFill>
                <a:latin typeface="Calibri"/>
              </a:rPr>
              <a:t>Means of paired per-organism F1, n = 1,260–1,580 organisms per tier; median paired delta +0.064 → +0.050; Wilcoxon p &lt; 1e-80 throughout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1094415" cy="777240"/>
          </a:xfrm>
          <a:prstGeom prst="rect">
            <a:avLst/>
          </a:prstGeom>
          <a:noFill/>
        </p:spPr>
        <p:txBody>
          <a:bodyPr wrap="square" lIns="0" rIns="0" tIns="0" bIns="0" anchor="t">
            <a:spAutoFit/>
          </a:bodyPr>
          <a:lstStyle/>
          <a:p>
            <a:pPr algn="l">
              <a:spcAft>
                <a:spcPts val="200"/>
              </a:spcAft>
            </a:pPr>
            <a:r>
              <a:rPr sz="3000" b="1" i="0">
                <a:solidFill>
                  <a:srgbClr val="10292E"/>
                </a:solidFill>
                <a:latin typeface="Cambria"/>
              </a:rPr>
              <a:t>The MAG arm abstains on 69% of organisms — and should</a:t>
            </a:r>
          </a:p>
          <a:p>
            <a:pPr algn="l">
              <a:spcAft>
                <a:spcPts val="0"/>
              </a:spcAft>
            </a:pPr>
            <a:r>
              <a:rPr sz="1350" b="0" i="0">
                <a:solidFill>
                  <a:srgbClr val="5B7179"/>
                </a:solidFill>
                <a:latin typeface="Calibri"/>
              </a:rPr>
              <a:t>One gate, not the ANI floor, accounts for nearly all of it</a:t>
            </a:r>
          </a:p>
        </p:txBody>
      </p:sp>
      <p:graphicFrame>
        <p:nvGraphicFramePr>
          <p:cNvPr id="3" name="Chart 2"/>
          <p:cNvGraphicFramePr>
            <a:graphicFrameLocks noGrp="1"/>
          </p:cNvGraphicFramePr>
          <p:nvPr/>
        </p:nvGraphicFramePr>
        <p:xfrm>
          <a:off x="548640" y="1664208"/>
          <a:ext cx="5760720" cy="3017520"/>
        </p:xfrm>
        <a:graphic>
          <a:graphicData uri="http://schemas.openxmlformats.org/drawingml/2006/chart">
            <c:chart xmlns:c="http://schemas.openxmlformats.org/drawingml/2006/chart" r:id="rId2"/>
          </a:graphicData>
        </a:graphic>
      </p:graphicFrame>
      <p:sp>
        <p:nvSpPr>
          <p:cNvPr id="4" name="TextBox 3"/>
          <p:cNvSpPr txBox="1"/>
          <p:nvPr/>
        </p:nvSpPr>
        <p:spPr>
          <a:xfrm>
            <a:off x="548640" y="1371600"/>
            <a:ext cx="5760720" cy="274320"/>
          </a:xfrm>
          <a:prstGeom prst="rect">
            <a:avLst/>
          </a:prstGeom>
          <a:noFill/>
        </p:spPr>
        <p:txBody>
          <a:bodyPr wrap="square" lIns="0" rIns="0" tIns="0" bIns="0" anchor="t">
            <a:spAutoFit/>
          </a:bodyPr>
          <a:lstStyle/>
          <a:p>
            <a:pPr algn="l">
              <a:spcAft>
                <a:spcPts val="0"/>
              </a:spcAft>
            </a:pPr>
            <a:r>
              <a:rPr sz="1150" b="1" i="0">
                <a:solidFill>
                  <a:srgbClr val="5B7179"/>
                </a:solidFill>
                <a:latin typeface="Calibri"/>
              </a:rPr>
              <a:t>Qualifying-hit share as the gates are relaxed (resolve rate 0.308)</a:t>
            </a:r>
          </a:p>
        </p:txBody>
      </p:sp>
      <p:sp>
        <p:nvSpPr>
          <p:cNvPr id="5" name="TextBox 4"/>
          <p:cNvSpPr txBox="1"/>
          <p:nvPr/>
        </p:nvSpPr>
        <p:spPr>
          <a:xfrm>
            <a:off x="6492240" y="1371600"/>
            <a:ext cx="5148072" cy="3291840"/>
          </a:xfrm>
          <a:prstGeom prst="rect">
            <a:avLst/>
          </a:prstGeom>
          <a:noFill/>
        </p:spPr>
        <p:txBody>
          <a:bodyPr wrap="square" lIns="0" rIns="0" tIns="0" bIns="0" anchor="t">
            <a:spAutoFit/>
          </a:bodyPr>
          <a:lstStyle/>
          <a:p>
            <a:pPr>
              <a:spcAft>
                <a:spcPts val="1100"/>
              </a:spcAft>
            </a:pPr>
            <a:r>
              <a:rPr sz="1300" b="1">
                <a:solidFill>
                  <a:srgbClr val="028090"/>
                </a:solidFill>
                <a:latin typeface="Calibri"/>
              </a:rPr>
              <a:t>Marker reach is the cause.  </a:t>
            </a:r>
            <a:r>
              <a:rPr sz="1300">
                <a:solidFill>
                  <a:srgbClr val="10292E"/>
                </a:solidFill>
                <a:latin typeface="Calibri"/>
              </a:rPr>
              <a:t>At genus distance two genomes keep high local identity over only a small part of their length. Among the 6,011 organisms that do have a same-genus congener in the panel, the best surviving hit aligns over a median 20.3% of the query — and 45.1% fall under the 15% gate.</a:t>
            </a:r>
          </a:p>
          <a:p>
            <a:pPr>
              <a:spcAft>
                <a:spcPts val="1100"/>
              </a:spcAft>
            </a:pPr>
            <a:r>
              <a:rPr sz="1300" b="1">
                <a:solidFill>
                  <a:srgbClr val="028090"/>
                </a:solidFill>
                <a:latin typeface="Calibri"/>
              </a:rPr>
              <a:t>An amplicon has no such problem.  </a:t>
            </a:r>
            <a:r>
              <a:rPr sz="1300">
                <a:solidFill>
                  <a:srgbClr val="10292E"/>
                </a:solidFill>
                <a:latin typeface="Calibri"/>
              </a:rPr>
              <a:t>It aligns end to end by construction. In the 0.945–0.987 identity band the amplicon answers 98–99% of the time; whole-genome ANI answers 8–20%.</a:t>
            </a:r>
          </a:p>
          <a:p>
            <a:pPr>
              <a:spcAft>
                <a:spcPts val="1100"/>
              </a:spcAft>
            </a:pPr>
            <a:r>
              <a:rPr sz="1300" b="1">
                <a:solidFill>
                  <a:srgbClr val="028090"/>
                </a:solidFill>
                <a:latin typeface="Calibri"/>
              </a:rPr>
              <a:t>Reference density, not the marker.  </a:t>
            </a:r>
            <a:r>
              <a:rPr sz="1300">
                <a:solidFill>
                  <a:srgbClr val="10292E"/>
                </a:solidFill>
                <a:latin typeface="Calibri"/>
              </a:rPr>
              <a:t>Against GTDB r226 — 14× denser — the same pipeline resolves 0.556 of 2,000 organisms instead of 0.308, with completeness-invariance intact.</a:t>
            </a:r>
          </a:p>
        </p:txBody>
      </p:sp>
      <p:sp>
        <p:nvSpPr>
          <p:cNvPr id="6" name="Rounded Rectangle 5"/>
          <p:cNvSpPr/>
          <p:nvPr/>
        </p:nvSpPr>
        <p:spPr>
          <a:xfrm>
            <a:off x="548640" y="4645152"/>
            <a:ext cx="5760720" cy="1572768"/>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46304"/>
          <a:lstStyle/>
          <a:p>
            <a:pPr algn="l">
              <a:spcAft>
                <a:spcPts val="800"/>
              </a:spcAft>
            </a:pPr>
            <a:r>
              <a:rPr sz="1350" b="1" i="0">
                <a:solidFill>
                  <a:srgbClr val="10292E"/>
                </a:solidFill>
                <a:latin typeface="Cambria"/>
              </a:rPr>
              <a:t>The gate is not a defect — it is the method working</a:t>
            </a:r>
          </a:p>
          <a:p>
            <a:pPr algn="l">
              <a:lnSpc>
                <a:spcPct val="106000"/>
              </a:lnSpc>
              <a:spcAft>
                <a:spcPts val="0"/>
              </a:spcAft>
            </a:pPr>
            <a:r>
              <a:rPr sz="1200" b="0" i="0">
                <a:solidFill>
                  <a:srgbClr val="5B7179"/>
                </a:solidFill>
                <a:latin typeface="Calibri"/>
              </a:rPr>
              <a:t>The 1,367 organisms a 2% gate would newly resolve come back at mean gene-capture F1 0.599 against 0.807 for those already resolving, and only 27.0% of them exceed the full-length 16S amplicon's mean of 0.709. prFBA abstains where answering would be worse than the marker it replaces.</a:t>
            </a:r>
          </a:p>
        </p:txBody>
      </p:sp>
      <p:sp>
        <p:nvSpPr>
          <p:cNvPr id="7" name="Rounded Rectangle 6"/>
          <p:cNvSpPr/>
          <p:nvPr/>
        </p:nvSpPr>
        <p:spPr>
          <a:xfrm>
            <a:off x="6492240" y="4645152"/>
            <a:ext cx="5148072" cy="1572768"/>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46304"/>
          <a:lstStyle/>
          <a:p>
            <a:pPr algn="l">
              <a:spcAft>
                <a:spcPts val="800"/>
              </a:spcAft>
            </a:pPr>
            <a:r>
              <a:rPr sz="1350" b="1" i="0">
                <a:solidFill>
                  <a:srgbClr val="10292E"/>
                </a:solidFill>
                <a:latin typeface="Cambria"/>
              </a:rPr>
              <a:t>Neither is it the amplicon arm's truncation artifact</a:t>
            </a:r>
          </a:p>
          <a:p>
            <a:pPr algn="l">
              <a:lnSpc>
                <a:spcPct val="106000"/>
              </a:lnSpc>
              <a:spcAft>
                <a:spcPts val="0"/>
              </a:spcAft>
            </a:pPr>
            <a:r>
              <a:rPr sz="1200" b="0" i="0">
                <a:solidFill>
                  <a:srgbClr val="5B7179"/>
                </a:solidFill>
                <a:latin typeface="Calibri"/>
              </a:rPr>
              <a:t>Re-searching 647 probe queries at depth 2,000 leaves every uncapped selection identical (200/200), and depth 200 is already fully converged. Truncation censors 0.16% of MAG queries, against 94.6% of the amplicon arm's self-exclusion abstentions.</a:t>
            </a:r>
          </a:p>
        </p:txBody>
      </p:sp>
      <p:sp>
        <p:nvSpPr>
          <p:cNvPr id="8" name="TextBox 7"/>
          <p:cNvSpPr txBox="1"/>
          <p:nvPr/>
        </p:nvSpPr>
        <p:spPr>
          <a:xfrm>
            <a:off x="548640" y="6382512"/>
            <a:ext cx="11094415" cy="274320"/>
          </a:xfrm>
          <a:prstGeom prst="rect">
            <a:avLst/>
          </a:prstGeom>
          <a:noFill/>
        </p:spPr>
        <p:txBody>
          <a:bodyPr wrap="square" lIns="0" rIns="0" tIns="0" bIns="0" anchor="t">
            <a:spAutoFit/>
          </a:bodyPr>
          <a:lstStyle/>
          <a:p>
            <a:pPr algn="l">
              <a:spcAft>
                <a:spcPts val="0"/>
              </a:spcAft>
            </a:pPr>
            <a:r>
              <a:rPr sz="1000" b="0" i="0">
                <a:solidFill>
                  <a:srgbClr val="5B7179"/>
                </a:solidFill>
                <a:latin typeface="Calibri"/>
              </a:rPr>
              <a:t>Self-exclusion at ANI 95, 100% completeness; all 11 selections that depth did change were abstention → resolution, never one reference for another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1094415" cy="777240"/>
          </a:xfrm>
          <a:prstGeom prst="rect">
            <a:avLst/>
          </a:prstGeom>
          <a:noFill/>
        </p:spPr>
        <p:txBody>
          <a:bodyPr wrap="square" lIns="0" rIns="0" tIns="0" bIns="0" anchor="t">
            <a:spAutoFit/>
          </a:bodyPr>
          <a:lstStyle/>
          <a:p>
            <a:pPr algn="l">
              <a:spcAft>
                <a:spcPts val="200"/>
              </a:spcAft>
            </a:pPr>
            <a:r>
              <a:rPr sz="3000" b="1" i="0">
                <a:solidFill>
                  <a:srgbClr val="10292E"/>
                </a:solidFill>
                <a:latin typeface="Cambria"/>
              </a:rPr>
              <a:t>Does the benchmark panel decide the answer?</a:t>
            </a:r>
          </a:p>
          <a:p>
            <a:pPr algn="l">
              <a:spcAft>
                <a:spcPts val="0"/>
              </a:spcAft>
            </a:pPr>
            <a:r>
              <a:rPr sz="1350" b="0" i="0">
                <a:solidFill>
                  <a:srgbClr val="5B7179"/>
                </a:solidFill>
                <a:latin typeface="Calibri"/>
              </a:rPr>
              <a:t>Three 10,000-organism panels built on different principles — taxonomy-stratified, embedding-uniform, and a random null</a:t>
            </a:r>
          </a:p>
        </p:txBody>
      </p:sp>
      <p:graphicFrame>
        <p:nvGraphicFramePr>
          <p:cNvPr id="3" name="Chart 2"/>
          <p:cNvGraphicFramePr>
            <a:graphicFrameLocks noGrp="1"/>
          </p:cNvGraphicFramePr>
          <p:nvPr/>
        </p:nvGraphicFramePr>
        <p:xfrm>
          <a:off x="548640" y="1645920"/>
          <a:ext cx="6858000" cy="2788920"/>
        </p:xfrm>
        <a:graphic>
          <a:graphicData uri="http://schemas.openxmlformats.org/drawingml/2006/chart">
            <c:chart xmlns:c="http://schemas.openxmlformats.org/drawingml/2006/chart" r:id="rId2"/>
          </a:graphicData>
        </a:graphic>
      </p:graphicFrame>
      <p:sp>
        <p:nvSpPr>
          <p:cNvPr id="4" name="TextBox 3"/>
          <p:cNvSpPr txBox="1"/>
          <p:nvPr/>
        </p:nvSpPr>
        <p:spPr>
          <a:xfrm>
            <a:off x="548640" y="1371600"/>
            <a:ext cx="6858000" cy="274320"/>
          </a:xfrm>
          <a:prstGeom prst="rect">
            <a:avLst/>
          </a:prstGeom>
          <a:noFill/>
        </p:spPr>
        <p:txBody>
          <a:bodyPr wrap="square" lIns="0" rIns="0" tIns="0" bIns="0" anchor="t">
            <a:spAutoFit/>
          </a:bodyPr>
          <a:lstStyle/>
          <a:p>
            <a:pPr algn="l">
              <a:spcAft>
                <a:spcPts val="0"/>
              </a:spcAft>
            </a:pPr>
            <a:r>
              <a:rPr sz="1150" b="1" i="0">
                <a:solidFill>
                  <a:srgbClr val="5B7179"/>
                </a:solidFill>
                <a:latin typeface="Calibri"/>
              </a:rPr>
              <a:t>Conditional gene-capture F1 by region, self-exclusion — the three panels nearly agree</a:t>
            </a:r>
          </a:p>
        </p:txBody>
      </p:sp>
      <p:sp>
        <p:nvSpPr>
          <p:cNvPr id="5" name="Rounded Rectangle 4"/>
          <p:cNvSpPr/>
          <p:nvPr/>
        </p:nvSpPr>
        <p:spPr>
          <a:xfrm>
            <a:off x="548640" y="4553712"/>
            <a:ext cx="6858000" cy="1664208"/>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46304"/>
          <a:lstStyle/>
          <a:p>
            <a:pPr algn="l">
              <a:spcAft>
                <a:spcPts val="800"/>
              </a:spcAft>
            </a:pPr>
            <a:r>
              <a:rPr sz="1350" b="1" i="0">
                <a:solidFill>
                  <a:srgbClr val="10292E"/>
                </a:solidFill>
                <a:latin typeface="Cambria"/>
              </a:rPr>
              <a:t>Coverage is not panel-invariant — because retention depth is not</a:t>
            </a:r>
          </a:p>
          <a:p>
            <a:pPr algn="l">
              <a:lnSpc>
                <a:spcPct val="106000"/>
              </a:lnSpc>
              <a:spcAft>
                <a:spcPts val="0"/>
              </a:spcAft>
            </a:pPr>
            <a:r>
              <a:rPr sz="1200" b="0" i="0">
                <a:solidFill>
                  <a:srgbClr val="5B7179"/>
                </a:solidFill>
                <a:latin typeface="Calibri"/>
              </a:rPr>
              <a:t>On full-length 16S, self-exclusion empties the whole 20-hit record for 49.9% of random-panel queries, 40.4% of k-means and 14.3% of the original's. Where the record survives, only 2.5–3.3% go uncovered on any panel, so emptied records are nearly all of the coverage gap (0.83 against 0.49).</a:t>
            </a:r>
          </a:p>
        </p:txBody>
      </p:sp>
      <p:sp>
        <p:nvSpPr>
          <p:cNvPr id="6" name="TextBox 5"/>
          <p:cNvSpPr txBox="1"/>
          <p:nvPr/>
        </p:nvSpPr>
        <p:spPr>
          <a:xfrm>
            <a:off x="7589520" y="1371600"/>
            <a:ext cx="4050791" cy="4846320"/>
          </a:xfrm>
          <a:prstGeom prst="rect">
            <a:avLst/>
          </a:prstGeom>
          <a:noFill/>
        </p:spPr>
        <p:txBody>
          <a:bodyPr wrap="square" lIns="0" rIns="0" tIns="0" bIns="0" anchor="t">
            <a:spAutoFit/>
          </a:bodyPr>
          <a:lstStyle/>
          <a:p>
            <a:pPr>
              <a:spcAft>
                <a:spcPts val="1000"/>
              </a:spcAft>
            </a:pPr>
            <a:r>
              <a:rPr sz="1250" b="1">
                <a:solidFill>
                  <a:srgbClr val="028090"/>
                </a:solidFill>
                <a:latin typeface="Calibri"/>
              </a:rPr>
              <a:t>Three compositions.  </a:t>
            </a:r>
            <a:r>
              <a:rPr sz="1250">
                <a:solidFill>
                  <a:srgbClr val="10292E"/>
                </a:solidFill>
                <a:latin typeface="Calibri"/>
              </a:rPr>
              <a:t>Stratified to over-weight rare taxa; k-means++ over 210,779 16S embeddings; and a uniform random draw over the same admissible organisms — the null, which inherits the database's own skew.</a:t>
            </a:r>
          </a:p>
          <a:p>
            <a:pPr>
              <a:spcAft>
                <a:spcPts val="1000"/>
              </a:spcAft>
            </a:pPr>
            <a:r>
              <a:rPr sz="1250" b="1">
                <a:solidFill>
                  <a:srgbClr val="028090"/>
                </a:solidFill>
                <a:latin typeface="Calibri"/>
              </a:rPr>
              <a:t>What replicates.  </a:t>
            </a:r>
            <a:r>
              <a:rPr sz="1250">
                <a:solidFill>
                  <a:srgbClr val="10292E"/>
                </a:solidFill>
                <a:latin typeface="Calibri"/>
              </a:rPr>
              <a:t>Conditional gene capture, everywhere: within 0.026 between any two panels once phylum mix is standardized, in both arms.</a:t>
            </a:r>
          </a:p>
          <a:p>
            <a:pPr>
              <a:spcAft>
                <a:spcPts val="1000"/>
              </a:spcAft>
            </a:pPr>
            <a:r>
              <a:rPr sz="1250" b="1">
                <a:solidFill>
                  <a:srgbClr val="028090"/>
                </a:solidFill>
                <a:latin typeface="Calibri"/>
              </a:rPr>
              <a:t>What does not.  </a:t>
            </a:r>
            <a:r>
              <a:rPr sz="1250">
                <a:solidFill>
                  <a:srgbClr val="10292E"/>
                </a:solidFill>
                <a:latin typeface="Calibri"/>
              </a:rPr>
              <a:t>Self-exclusion coverage, which falls 0.27–0.31 on the random panel in every region and survives standardization — a property of record depth, not of the scheme's taxa.</a:t>
            </a:r>
          </a:p>
          <a:p>
            <a:pPr>
              <a:spcAft>
                <a:spcPts val="1000"/>
              </a:spcAft>
            </a:pPr>
            <a:r>
              <a:rPr sz="1250" b="1">
                <a:solidFill>
                  <a:srgbClr val="028090"/>
                </a:solidFill>
                <a:latin typeface="Calibri"/>
              </a:rPr>
              <a:t>The defensible claim.  </a:t>
            </a:r>
            <a:r>
              <a:rPr sz="1250">
                <a:solidFill>
                  <a:srgbClr val="10292E"/>
                </a:solidFill>
                <a:latin typeface="Calibri"/>
              </a:rPr>
              <a:t>Gene capture given a reference does not depend on how the panel was built. Coverage at fixed depth measures panel redundancy.</a:t>
            </a:r>
          </a:p>
        </p:txBody>
      </p:sp>
      <p:sp>
        <p:nvSpPr>
          <p:cNvPr id="7" name="TextBox 6"/>
          <p:cNvSpPr txBox="1"/>
          <p:nvPr/>
        </p:nvSpPr>
        <p:spPr>
          <a:xfrm>
            <a:off x="548640" y="6382512"/>
            <a:ext cx="11094415" cy="274320"/>
          </a:xfrm>
          <a:prstGeom prst="rect">
            <a:avLst/>
          </a:prstGeom>
          <a:noFill/>
        </p:spPr>
        <p:txBody>
          <a:bodyPr wrap="square" lIns="0" rIns="0" tIns="0" bIns="0" anchor="t">
            <a:spAutoFit/>
          </a:bodyPr>
          <a:lstStyle/>
          <a:p>
            <a:pPr algn="l">
              <a:spcAft>
                <a:spcPts val="0"/>
              </a:spcAft>
            </a:pPr>
            <a:r>
              <a:rPr sz="1000" b="0" i="0">
                <a:solidFill>
                  <a:srgbClr val="5B7179"/>
                </a:solidFill>
                <a:latin typeface="Calibri"/>
              </a:rPr>
              <a:t>Crude values; the phylum-standardized comparison follows. All three panels scored against one PGFam cache state, verified intact against a snapshot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0984687" y="429768"/>
            <a:ext cx="658368" cy="292608"/>
          </a:xfrm>
          <a:prstGeom prst="roundRect">
            <a:avLst>
              <a:gd name="adj" fmla="val 6000"/>
            </a:avLst>
          </a:prstGeom>
          <a:solidFill>
            <a:srgbClr val="E887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600"/>
              </a:spcAft>
            </a:pPr>
            <a:r>
              <a:rPr sz="1150" b="1" i="0">
                <a:solidFill>
                  <a:srgbClr val="10292E"/>
                </a:solidFill>
                <a:latin typeface="Calibri"/>
              </a:rPr>
              <a:t>NEW</a:t>
            </a:r>
          </a:p>
        </p:txBody>
      </p:sp>
      <p:sp>
        <p:nvSpPr>
          <p:cNvPr id="3" name="TextBox 2"/>
          <p:cNvSpPr txBox="1"/>
          <p:nvPr/>
        </p:nvSpPr>
        <p:spPr>
          <a:xfrm>
            <a:off x="548640" y="384048"/>
            <a:ext cx="10225735" cy="777240"/>
          </a:xfrm>
          <a:prstGeom prst="rect">
            <a:avLst/>
          </a:prstGeom>
          <a:noFill/>
        </p:spPr>
        <p:txBody>
          <a:bodyPr wrap="square" lIns="0" rIns="0" tIns="0" bIns="0" anchor="t">
            <a:spAutoFit/>
          </a:bodyPr>
          <a:lstStyle/>
          <a:p>
            <a:pPr algn="l">
              <a:spcAft>
                <a:spcPts val="200"/>
              </a:spcAft>
            </a:pPr>
            <a:r>
              <a:rPr sz="3000" b="1" i="0">
                <a:solidFill>
                  <a:srgbClr val="10292E"/>
                </a:solidFill>
                <a:latin typeface="Cambria"/>
              </a:rPr>
              <a:t>A third panel, drawn at random</a:t>
            </a:r>
          </a:p>
          <a:p>
            <a:pPr algn="l">
              <a:spcAft>
                <a:spcPts val="0"/>
              </a:spcAft>
            </a:pPr>
            <a:r>
              <a:rPr sz="1350" b="0" i="0">
                <a:solidFill>
                  <a:srgbClr val="5B7179"/>
                </a:solidFill>
                <a:latin typeface="Calibri"/>
              </a:rPr>
              <a:t>The null composition: uniform over the same 140,197 admissible organisms the k-means panel clusters</a:t>
            </a:r>
          </a:p>
        </p:txBody>
      </p:sp>
      <p:graphicFrame>
        <p:nvGraphicFramePr>
          <p:cNvPr id="4" name="Table 3"/>
          <p:cNvGraphicFramePr>
            <a:graphicFrameLocks noGrp="1"/>
          </p:cNvGraphicFramePr>
          <p:nvPr/>
        </p:nvGraphicFramePr>
        <p:xfrm>
          <a:off x="548640" y="1371600"/>
          <a:ext cx="6035040" cy="3072384"/>
        </p:xfrm>
        <a:graphic>
          <a:graphicData uri="http://schemas.openxmlformats.org/drawingml/2006/table">
            <a:tbl>
              <a:tblPr firstRow="1" bandRow="1">
                <a:tableStyleId>{5C22544A-7EE6-4342-B048-85BDC9FD1C3A}</a:tableStyleId>
              </a:tblPr>
              <a:tblGrid>
                <a:gridCol w="1920240"/>
                <a:gridCol w="1371600"/>
                <a:gridCol w="1371600"/>
                <a:gridCol w="1371600"/>
              </a:tblGrid>
              <a:tr h="384048">
                <a:tc>
                  <a:txBody>
                    <a:bodyPr/>
                    <a:lstStyle/>
                    <a:p>
                      <a:pPr algn="l"/>
                      <a:r>
                        <a:rPr sz="1300" b="1">
                          <a:solidFill>
                            <a:srgbClr val="FFFFFF"/>
                          </a:solidFill>
                          <a:latin typeface="Calibri"/>
                        </a:rPr>
                        <a:t/>
                      </a:r>
                    </a:p>
                  </a:txBody>
                  <a:tcPr>
                    <a:solidFill>
                      <a:srgbClr val="05343D"/>
                    </a:solidFill>
                  </a:tcPr>
                </a:tc>
                <a:tc>
                  <a:txBody>
                    <a:bodyPr/>
                    <a:lstStyle/>
                    <a:p>
                      <a:pPr algn="ctr"/>
                      <a:r>
                        <a:rPr sz="1300" b="1">
                          <a:solidFill>
                            <a:srgbClr val="FFFFFF"/>
                          </a:solidFill>
                          <a:latin typeface="Calibri"/>
                        </a:rPr>
                        <a:t>Stratified</a:t>
                      </a:r>
                    </a:p>
                  </a:txBody>
                  <a:tcPr>
                    <a:solidFill>
                      <a:srgbClr val="05343D"/>
                    </a:solidFill>
                  </a:tcPr>
                </a:tc>
                <a:tc>
                  <a:txBody>
                    <a:bodyPr/>
                    <a:lstStyle/>
                    <a:p>
                      <a:pPr algn="ctr"/>
                      <a:r>
                        <a:rPr sz="1300" b="1">
                          <a:solidFill>
                            <a:srgbClr val="FFFFFF"/>
                          </a:solidFill>
                          <a:latin typeface="Calibri"/>
                        </a:rPr>
                        <a:t>k-means</a:t>
                      </a:r>
                    </a:p>
                  </a:txBody>
                  <a:tcPr>
                    <a:solidFill>
                      <a:srgbClr val="05343D"/>
                    </a:solidFill>
                  </a:tcPr>
                </a:tc>
                <a:tc>
                  <a:txBody>
                    <a:bodyPr/>
                    <a:lstStyle/>
                    <a:p>
                      <a:pPr algn="ctr"/>
                      <a:r>
                        <a:rPr sz="1300" b="1">
                          <a:solidFill>
                            <a:srgbClr val="FFFFFF"/>
                          </a:solidFill>
                          <a:latin typeface="Calibri"/>
                        </a:rPr>
                        <a:t>Random</a:t>
                      </a:r>
                    </a:p>
                  </a:txBody>
                  <a:tcPr>
                    <a:solidFill>
                      <a:srgbClr val="05343D"/>
                    </a:solidFill>
                  </a:tcPr>
                </a:tc>
              </a:tr>
              <a:tr h="384048">
                <a:tc>
                  <a:txBody>
                    <a:bodyPr/>
                    <a:lstStyle/>
                    <a:p>
                      <a:pPr algn="l"/>
                      <a:r>
                        <a:rPr sz="1300" b="0">
                          <a:solidFill>
                            <a:srgbClr val="10292E"/>
                          </a:solidFill>
                          <a:latin typeface="Calibri"/>
                        </a:rPr>
                        <a:t>Archaea</a:t>
                      </a:r>
                    </a:p>
                  </a:txBody>
                  <a:tcPr>
                    <a:solidFill>
                      <a:srgbClr val="EFF5F5"/>
                    </a:solidFill>
                  </a:tcPr>
                </a:tc>
                <a:tc>
                  <a:txBody>
                    <a:bodyPr/>
                    <a:lstStyle/>
                    <a:p>
                      <a:pPr algn="ctr"/>
                      <a:r>
                        <a:rPr sz="1300" b="0">
                          <a:solidFill>
                            <a:srgbClr val="10292E"/>
                          </a:solidFill>
                          <a:latin typeface="Calibri"/>
                        </a:rPr>
                        <a:t>1,289 (12.9%)</a:t>
                      </a:r>
                    </a:p>
                  </a:txBody>
                  <a:tcPr>
                    <a:solidFill>
                      <a:srgbClr val="EFF5F5"/>
                    </a:solidFill>
                  </a:tcPr>
                </a:tc>
                <a:tc>
                  <a:txBody>
                    <a:bodyPr/>
                    <a:lstStyle/>
                    <a:p>
                      <a:pPr algn="ctr"/>
                      <a:r>
                        <a:rPr sz="1300" b="0">
                          <a:solidFill>
                            <a:srgbClr val="10292E"/>
                          </a:solidFill>
                          <a:latin typeface="Calibri"/>
                        </a:rPr>
                        <a:t>494 (4.9%)</a:t>
                      </a:r>
                    </a:p>
                  </a:txBody>
                  <a:tcPr>
                    <a:solidFill>
                      <a:srgbClr val="EFF5F5"/>
                    </a:solidFill>
                  </a:tcPr>
                </a:tc>
                <a:tc>
                  <a:txBody>
                    <a:bodyPr/>
                    <a:lstStyle/>
                    <a:p>
                      <a:pPr algn="ctr"/>
                      <a:r>
                        <a:rPr sz="1300" b="1">
                          <a:solidFill>
                            <a:srgbClr val="007A6C"/>
                          </a:solidFill>
                          <a:latin typeface="Calibri"/>
                        </a:rPr>
                        <a:t>392 (3.9%)</a:t>
                      </a:r>
                    </a:p>
                  </a:txBody>
                  <a:tcPr>
                    <a:solidFill>
                      <a:srgbClr val="EFF5F5"/>
                    </a:solidFill>
                  </a:tcPr>
                </a:tc>
              </a:tr>
              <a:tr h="384048">
                <a:tc>
                  <a:txBody>
                    <a:bodyPr/>
                    <a:lstStyle/>
                    <a:p>
                      <a:pPr algn="l"/>
                      <a:r>
                        <a:rPr sz="1300" b="0">
                          <a:solidFill>
                            <a:srgbClr val="10292E"/>
                          </a:solidFill>
                          <a:latin typeface="Calibri"/>
                        </a:rPr>
                        <a:t>Phyla</a:t>
                      </a:r>
                    </a:p>
                  </a:txBody>
                  <a:tcPr>
                    <a:solidFill>
                      <a:srgbClr val="FFFFFF"/>
                    </a:solidFill>
                  </a:tcPr>
                </a:tc>
                <a:tc>
                  <a:txBody>
                    <a:bodyPr/>
                    <a:lstStyle/>
                    <a:p>
                      <a:pPr algn="ctr"/>
                      <a:r>
                        <a:rPr sz="1300" b="0">
                          <a:solidFill>
                            <a:srgbClr val="10292E"/>
                          </a:solidFill>
                          <a:latin typeface="Calibri"/>
                        </a:rPr>
                        <a:t>206</a:t>
                      </a:r>
                    </a:p>
                  </a:txBody>
                  <a:tcPr>
                    <a:solidFill>
                      <a:srgbClr val="FFFFFF"/>
                    </a:solidFill>
                  </a:tcPr>
                </a:tc>
                <a:tc>
                  <a:txBody>
                    <a:bodyPr/>
                    <a:lstStyle/>
                    <a:p>
                      <a:pPr algn="ctr"/>
                      <a:r>
                        <a:rPr sz="1300" b="0">
                          <a:solidFill>
                            <a:srgbClr val="10292E"/>
                          </a:solidFill>
                          <a:latin typeface="Calibri"/>
                        </a:rPr>
                        <a:t>142</a:t>
                      </a:r>
                    </a:p>
                  </a:txBody>
                  <a:tcPr>
                    <a:solidFill>
                      <a:srgbClr val="FFFFFF"/>
                    </a:solidFill>
                  </a:tcPr>
                </a:tc>
                <a:tc>
                  <a:txBody>
                    <a:bodyPr/>
                    <a:lstStyle/>
                    <a:p>
                      <a:pPr algn="ctr"/>
                      <a:r>
                        <a:rPr sz="1300" b="1">
                          <a:solidFill>
                            <a:srgbClr val="007A6C"/>
                          </a:solidFill>
                          <a:latin typeface="Calibri"/>
                        </a:rPr>
                        <a:t>130</a:t>
                      </a:r>
                    </a:p>
                  </a:txBody>
                  <a:tcPr>
                    <a:solidFill>
                      <a:srgbClr val="FFFFFF"/>
                    </a:solidFill>
                  </a:tcPr>
                </a:tc>
              </a:tr>
              <a:tr h="384048">
                <a:tc>
                  <a:txBody>
                    <a:bodyPr/>
                    <a:lstStyle/>
                    <a:p>
                      <a:pPr algn="l"/>
                      <a:r>
                        <a:rPr sz="1300" b="0">
                          <a:solidFill>
                            <a:srgbClr val="10292E"/>
                          </a:solidFill>
                          <a:latin typeface="Calibri"/>
                        </a:rPr>
                        <a:t>Named families</a:t>
                      </a:r>
                    </a:p>
                  </a:txBody>
                  <a:tcPr>
                    <a:solidFill>
                      <a:srgbClr val="EFF5F5"/>
                    </a:solidFill>
                  </a:tcPr>
                </a:tc>
                <a:tc>
                  <a:txBody>
                    <a:bodyPr/>
                    <a:lstStyle/>
                    <a:p>
                      <a:pPr algn="ctr"/>
                      <a:r>
                        <a:rPr sz="1300" b="0">
                          <a:solidFill>
                            <a:srgbClr val="10292E"/>
                          </a:solidFill>
                          <a:latin typeface="Calibri"/>
                        </a:rPr>
                        <a:t>883</a:t>
                      </a:r>
                    </a:p>
                  </a:txBody>
                  <a:tcPr>
                    <a:solidFill>
                      <a:srgbClr val="EFF5F5"/>
                    </a:solidFill>
                  </a:tcPr>
                </a:tc>
                <a:tc>
                  <a:txBody>
                    <a:bodyPr/>
                    <a:lstStyle/>
                    <a:p>
                      <a:pPr algn="ctr"/>
                      <a:r>
                        <a:rPr sz="1300" b="0">
                          <a:solidFill>
                            <a:srgbClr val="10292E"/>
                          </a:solidFill>
                          <a:latin typeface="Calibri"/>
                        </a:rPr>
                        <a:t>564</a:t>
                      </a:r>
                    </a:p>
                  </a:txBody>
                  <a:tcPr>
                    <a:solidFill>
                      <a:srgbClr val="EFF5F5"/>
                    </a:solidFill>
                  </a:tcPr>
                </a:tc>
                <a:tc>
                  <a:txBody>
                    <a:bodyPr/>
                    <a:lstStyle/>
                    <a:p>
                      <a:pPr algn="ctr"/>
                      <a:r>
                        <a:rPr sz="1300" b="1">
                          <a:solidFill>
                            <a:srgbClr val="007A6C"/>
                          </a:solidFill>
                          <a:latin typeface="Calibri"/>
                        </a:rPr>
                        <a:t>478</a:t>
                      </a:r>
                    </a:p>
                  </a:txBody>
                  <a:tcPr>
                    <a:solidFill>
                      <a:srgbClr val="EFF5F5"/>
                    </a:solidFill>
                  </a:tcPr>
                </a:tc>
              </a:tr>
              <a:tr h="384048">
                <a:tc>
                  <a:txBody>
                    <a:bodyPr/>
                    <a:lstStyle/>
                    <a:p>
                      <a:pPr algn="l"/>
                      <a:r>
                        <a:rPr sz="1300" b="0">
                          <a:solidFill>
                            <a:srgbClr val="10292E"/>
                          </a:solidFill>
                          <a:latin typeface="Calibri"/>
                        </a:rPr>
                        <a:t>Named genera</a:t>
                      </a:r>
                    </a:p>
                  </a:txBody>
                  <a:tcPr>
                    <a:solidFill>
                      <a:srgbClr val="FFFFFF"/>
                    </a:solidFill>
                  </a:tcPr>
                </a:tc>
                <a:tc>
                  <a:txBody>
                    <a:bodyPr/>
                    <a:lstStyle/>
                    <a:p>
                      <a:pPr algn="ctr"/>
                      <a:r>
                        <a:rPr sz="1300" b="0">
                          <a:solidFill>
                            <a:srgbClr val="10292E"/>
                          </a:solidFill>
                          <a:latin typeface="Calibri"/>
                        </a:rPr>
                        <a:t>2,500</a:t>
                      </a:r>
                    </a:p>
                  </a:txBody>
                  <a:tcPr>
                    <a:solidFill>
                      <a:srgbClr val="FFFFFF"/>
                    </a:solidFill>
                  </a:tcPr>
                </a:tc>
                <a:tc>
                  <a:txBody>
                    <a:bodyPr/>
                    <a:lstStyle/>
                    <a:p>
                      <a:pPr algn="ctr"/>
                      <a:r>
                        <a:rPr sz="1300" b="0">
                          <a:solidFill>
                            <a:srgbClr val="10292E"/>
                          </a:solidFill>
                          <a:latin typeface="Calibri"/>
                        </a:rPr>
                        <a:t>1,499</a:t>
                      </a:r>
                    </a:p>
                  </a:txBody>
                  <a:tcPr>
                    <a:solidFill>
                      <a:srgbClr val="FFFFFF"/>
                    </a:solidFill>
                  </a:tcPr>
                </a:tc>
                <a:tc>
                  <a:txBody>
                    <a:bodyPr/>
                    <a:lstStyle/>
                    <a:p>
                      <a:pPr algn="ctr"/>
                      <a:r>
                        <a:rPr sz="1300" b="1">
                          <a:solidFill>
                            <a:srgbClr val="007A6C"/>
                          </a:solidFill>
                          <a:latin typeface="Calibri"/>
                        </a:rPr>
                        <a:t>1,239</a:t>
                      </a:r>
                    </a:p>
                  </a:txBody>
                  <a:tcPr>
                    <a:solidFill>
                      <a:srgbClr val="FFFFFF"/>
                    </a:solidFill>
                  </a:tcPr>
                </a:tc>
              </a:tr>
              <a:tr h="384048">
                <a:tc>
                  <a:txBody>
                    <a:bodyPr/>
                    <a:lstStyle/>
                    <a:p>
                      <a:pPr algn="l"/>
                      <a:r>
                        <a:rPr sz="1300" b="0">
                          <a:solidFill>
                            <a:srgbClr val="10292E"/>
                          </a:solidFill>
                          <a:latin typeface="Calibri"/>
                        </a:rPr>
                        <a:t>Species</a:t>
                      </a:r>
                    </a:p>
                  </a:txBody>
                  <a:tcPr>
                    <a:solidFill>
                      <a:srgbClr val="EFF5F5"/>
                    </a:solidFill>
                  </a:tcPr>
                </a:tc>
                <a:tc>
                  <a:txBody>
                    <a:bodyPr/>
                    <a:lstStyle/>
                    <a:p>
                      <a:pPr algn="ctr"/>
                      <a:r>
                        <a:rPr sz="1300" b="0">
                          <a:solidFill>
                            <a:srgbClr val="10292E"/>
                          </a:solidFill>
                          <a:latin typeface="Calibri"/>
                        </a:rPr>
                        <a:t>10,000</a:t>
                      </a:r>
                    </a:p>
                  </a:txBody>
                  <a:tcPr>
                    <a:solidFill>
                      <a:srgbClr val="EFF5F5"/>
                    </a:solidFill>
                  </a:tcPr>
                </a:tc>
                <a:tc>
                  <a:txBody>
                    <a:bodyPr/>
                    <a:lstStyle/>
                    <a:p>
                      <a:pPr algn="ctr"/>
                      <a:r>
                        <a:rPr sz="1300" b="0">
                          <a:solidFill>
                            <a:srgbClr val="10292E"/>
                          </a:solidFill>
                          <a:latin typeface="Calibri"/>
                        </a:rPr>
                        <a:t>4,935</a:t>
                      </a:r>
                    </a:p>
                  </a:txBody>
                  <a:tcPr>
                    <a:solidFill>
                      <a:srgbClr val="EFF5F5"/>
                    </a:solidFill>
                  </a:tcPr>
                </a:tc>
                <a:tc>
                  <a:txBody>
                    <a:bodyPr/>
                    <a:lstStyle/>
                    <a:p>
                      <a:pPr algn="ctr"/>
                      <a:r>
                        <a:rPr sz="1300" b="1">
                          <a:solidFill>
                            <a:srgbClr val="007A6C"/>
                          </a:solidFill>
                          <a:latin typeface="Calibri"/>
                        </a:rPr>
                        <a:t>4,534</a:t>
                      </a:r>
                    </a:p>
                  </a:txBody>
                  <a:tcPr>
                    <a:solidFill>
                      <a:srgbClr val="EFF5F5"/>
                    </a:solidFill>
                  </a:tcPr>
                </a:tc>
              </a:tr>
              <a:tr h="384048">
                <a:tc>
                  <a:txBody>
                    <a:bodyPr/>
                    <a:lstStyle/>
                    <a:p>
                      <a:pPr algn="l"/>
                      <a:r>
                        <a:rPr sz="1300" b="0">
                          <a:solidFill>
                            <a:srgbClr val="10292E"/>
                          </a:solidFill>
                          <a:latin typeface="Calibri"/>
                        </a:rPr>
                        <a:t>Genus Gini</a:t>
                      </a:r>
                    </a:p>
                  </a:txBody>
                  <a:tcPr>
                    <a:solidFill>
                      <a:srgbClr val="FFFFFF"/>
                    </a:solidFill>
                  </a:tcPr>
                </a:tc>
                <a:tc>
                  <a:txBody>
                    <a:bodyPr/>
                    <a:lstStyle/>
                    <a:p>
                      <a:pPr algn="ctr"/>
                      <a:r>
                        <a:rPr sz="1300" b="0">
                          <a:solidFill>
                            <a:srgbClr val="10292E"/>
                          </a:solidFill>
                          <a:latin typeface="Calibri"/>
                        </a:rPr>
                        <a:t>0.524</a:t>
                      </a:r>
                    </a:p>
                  </a:txBody>
                  <a:tcPr>
                    <a:solidFill>
                      <a:srgbClr val="FFFFFF"/>
                    </a:solidFill>
                  </a:tcPr>
                </a:tc>
                <a:tc>
                  <a:txBody>
                    <a:bodyPr/>
                    <a:lstStyle/>
                    <a:p>
                      <a:pPr algn="ctr"/>
                      <a:r>
                        <a:rPr sz="1300" b="0">
                          <a:solidFill>
                            <a:srgbClr val="10292E"/>
                          </a:solidFill>
                          <a:latin typeface="Calibri"/>
                        </a:rPr>
                        <a:t>0.684</a:t>
                      </a:r>
                    </a:p>
                  </a:txBody>
                  <a:tcPr>
                    <a:solidFill>
                      <a:srgbClr val="FFFFFF"/>
                    </a:solidFill>
                  </a:tcPr>
                </a:tc>
                <a:tc>
                  <a:txBody>
                    <a:bodyPr/>
                    <a:lstStyle/>
                    <a:p>
                      <a:pPr algn="ctr"/>
                      <a:r>
                        <a:rPr sz="1300" b="1">
                          <a:solidFill>
                            <a:srgbClr val="007A6C"/>
                          </a:solidFill>
                          <a:latin typeface="Calibri"/>
                        </a:rPr>
                        <a:t>0.723</a:t>
                      </a:r>
                    </a:p>
                  </a:txBody>
                  <a:tcPr>
                    <a:solidFill>
                      <a:srgbClr val="FFFFFF"/>
                    </a:solidFill>
                  </a:tcPr>
                </a:tc>
              </a:tr>
              <a:tr h="384048">
                <a:tc>
                  <a:txBody>
                    <a:bodyPr/>
                    <a:lstStyle/>
                    <a:p>
                      <a:pPr algn="l"/>
                      <a:r>
                        <a:rPr sz="1300" b="0">
                          <a:solidFill>
                            <a:srgbClr val="10292E"/>
                          </a:solidFill>
                          <a:latin typeface="Calibri"/>
                        </a:rPr>
                        <a:t>Largest genus</a:t>
                      </a:r>
                    </a:p>
                  </a:txBody>
                  <a:tcPr>
                    <a:solidFill>
                      <a:srgbClr val="EFF5F5"/>
                    </a:solidFill>
                  </a:tcPr>
                </a:tc>
                <a:tc>
                  <a:txBody>
                    <a:bodyPr/>
                    <a:lstStyle/>
                    <a:p>
                      <a:pPr algn="ctr"/>
                      <a:r>
                        <a:rPr sz="1300" b="0">
                          <a:solidFill>
                            <a:srgbClr val="10292E"/>
                          </a:solidFill>
                          <a:latin typeface="Calibri"/>
                        </a:rPr>
                        <a:t>120</a:t>
                      </a:r>
                    </a:p>
                  </a:txBody>
                  <a:tcPr>
                    <a:solidFill>
                      <a:srgbClr val="EFF5F5"/>
                    </a:solidFill>
                  </a:tcPr>
                </a:tc>
                <a:tc>
                  <a:txBody>
                    <a:bodyPr/>
                    <a:lstStyle/>
                    <a:p>
                      <a:pPr algn="ctr"/>
                      <a:r>
                        <a:rPr sz="1300" b="0">
                          <a:solidFill>
                            <a:srgbClr val="10292E"/>
                          </a:solidFill>
                          <a:latin typeface="Calibri"/>
                        </a:rPr>
                        <a:t>315</a:t>
                      </a:r>
                    </a:p>
                  </a:txBody>
                  <a:tcPr>
                    <a:solidFill>
                      <a:srgbClr val="EFF5F5"/>
                    </a:solidFill>
                  </a:tcPr>
                </a:tc>
                <a:tc>
                  <a:txBody>
                    <a:bodyPr/>
                    <a:lstStyle/>
                    <a:p>
                      <a:pPr algn="ctr"/>
                      <a:r>
                        <a:rPr sz="1300" b="1">
                          <a:solidFill>
                            <a:srgbClr val="007A6C"/>
                          </a:solidFill>
                          <a:latin typeface="Calibri"/>
                        </a:rPr>
                        <a:t>401</a:t>
                      </a:r>
                    </a:p>
                  </a:txBody>
                  <a:tcPr>
                    <a:solidFill>
                      <a:srgbClr val="EFF5F5"/>
                    </a:solidFill>
                  </a:tcPr>
                </a:tc>
              </a:tr>
            </a:tbl>
          </a:graphicData>
        </a:graphic>
      </p:graphicFrame>
      <p:sp>
        <p:nvSpPr>
          <p:cNvPr id="5" name="TextBox 4"/>
          <p:cNvSpPr txBox="1"/>
          <p:nvPr/>
        </p:nvSpPr>
        <p:spPr>
          <a:xfrm>
            <a:off x="6949440" y="1371600"/>
            <a:ext cx="4690872" cy="4480560"/>
          </a:xfrm>
          <a:prstGeom prst="rect">
            <a:avLst/>
          </a:prstGeom>
          <a:noFill/>
        </p:spPr>
        <p:txBody>
          <a:bodyPr wrap="square" lIns="0" rIns="0" tIns="0" bIns="0" anchor="t">
            <a:spAutoFit/>
          </a:bodyPr>
          <a:lstStyle/>
          <a:p>
            <a:pPr>
              <a:spcAft>
                <a:spcPts val="1100"/>
              </a:spcAft>
            </a:pPr>
            <a:r>
              <a:rPr sz="1300" b="1">
                <a:solidFill>
                  <a:srgbClr val="028090"/>
                </a:solidFill>
                <a:latin typeface="Calibri"/>
              </a:rPr>
              <a:t>The draw.  </a:t>
            </a:r>
            <a:r>
              <a:rPr sz="1300">
                <a:solidFill>
                  <a:srgbClr val="10292E"/>
                </a:solidFill>
                <a:latin typeface="Calibri"/>
              </a:rPr>
              <a:t>Uniform over organisms, not sequences (seed 1729), with the original panel's representative-16S rule. Admissibility is identical to k-means, so any difference is the sampling scheme alone.</a:t>
            </a:r>
          </a:p>
          <a:p>
            <a:pPr>
              <a:spcAft>
                <a:spcPts val="1100"/>
              </a:spcAft>
            </a:pPr>
            <a:r>
              <a:rPr sz="1300" b="1">
                <a:solidFill>
                  <a:srgbClr val="028090"/>
                </a:solidFill>
                <a:latin typeface="Calibri"/>
              </a:rPr>
              <a:t>The null.  </a:t>
            </a:r>
            <a:r>
              <a:rPr sz="1300">
                <a:solidFill>
                  <a:srgbClr val="10292E"/>
                </a:solidFill>
                <a:latin typeface="Calibri"/>
              </a:rPr>
              <a:t>No correction in either direction: Archaea fall to 3.9% against 3.5% of the pool, and one genus contributes 401 organisms.</a:t>
            </a:r>
          </a:p>
          <a:p>
            <a:pPr>
              <a:spcAft>
                <a:spcPts val="1100"/>
              </a:spcAft>
            </a:pPr>
            <a:r>
              <a:rPr sz="1300" b="1">
                <a:solidFill>
                  <a:srgbClr val="028090"/>
                </a:solidFill>
                <a:latin typeface="Calibri"/>
              </a:rPr>
              <a:t>Run through everything.  </a:t>
            </a:r>
            <a:r>
              <a:rPr sz="1300">
                <a:solidFill>
                  <a:srgbClr val="10292E"/>
                </a:solidFill>
                <a:latin typeface="Calibri"/>
              </a:rPr>
              <a:t>The full eight-region 16S arm, the panel-as-reference MAG arm at depth 500, and the GTDB arm on a 20% phylum-proportional subsample.</a:t>
            </a:r>
          </a:p>
          <a:p>
            <a:pPr>
              <a:spcAft>
                <a:spcPts val="1100"/>
              </a:spcAft>
            </a:pPr>
            <a:r>
              <a:rPr sz="1300" b="1">
                <a:solidFill>
                  <a:srgbClr val="028090"/>
                </a:solidFill>
                <a:latin typeface="Calibri"/>
              </a:rPr>
              <a:t>Checked before trusted.  </a:t>
            </a:r>
            <a:r>
              <a:rPr sz="1300">
                <a:solidFill>
                  <a:srgbClr val="10292E"/>
                </a:solidFill>
                <a:latin typeface="Calibri"/>
              </a:rPr>
              <a:t>Each comparison's crude column reproduces the panel's own scorer exactly — 288 of 288 amplicon cells, 30 of 30 GTDB cells.</a:t>
            </a:r>
          </a:p>
        </p:txBody>
      </p:sp>
      <p:sp>
        <p:nvSpPr>
          <p:cNvPr id="6" name="TextBox 5"/>
          <p:cNvSpPr txBox="1"/>
          <p:nvPr/>
        </p:nvSpPr>
        <p:spPr>
          <a:xfrm>
            <a:off x="548640" y="6382512"/>
            <a:ext cx="11094415" cy="274320"/>
          </a:xfrm>
          <a:prstGeom prst="rect">
            <a:avLst/>
          </a:prstGeom>
          <a:noFill/>
        </p:spPr>
        <p:txBody>
          <a:bodyPr wrap="square" lIns="0" rIns="0" tIns="0" bIns="0" anchor="t">
            <a:spAutoFit/>
          </a:bodyPr>
          <a:lstStyle/>
          <a:p>
            <a:pPr algn="l">
              <a:spcAft>
                <a:spcPts val="0"/>
              </a:spcAft>
            </a:pPr>
            <a:r>
              <a:rPr sz="1000" b="0" i="0">
                <a:solidFill>
                  <a:srgbClr val="5B7179"/>
                </a:solidFill>
                <a:latin typeface="Calibri"/>
              </a:rPr>
              <a:t>Genus Gini over genus-level bins, placeholders included; overlap 804 stratified–k-means, 524 stratified–random, 701 k-means–random, 49 in all three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1094415" cy="777240"/>
          </a:xfrm>
          <a:prstGeom prst="rect">
            <a:avLst/>
          </a:prstGeom>
          <a:noFill/>
        </p:spPr>
        <p:txBody>
          <a:bodyPr wrap="square" lIns="0" rIns="0" tIns="0" bIns="0" anchor="t">
            <a:spAutoFit/>
          </a:bodyPr>
          <a:lstStyle/>
          <a:p>
            <a:pPr algn="l">
              <a:spcAft>
                <a:spcPts val="200"/>
              </a:spcAft>
            </a:pPr>
            <a:r>
              <a:rPr sz="3000" b="1" i="0">
                <a:solidFill>
                  <a:srgbClr val="10292E"/>
                </a:solidFill>
                <a:latin typeface="Cambria"/>
              </a:rPr>
              <a:t>Where each panel samples the 16S space</a:t>
            </a:r>
          </a:p>
          <a:p>
            <a:pPr algn="l">
              <a:spcAft>
                <a:spcPts val="0"/>
              </a:spcAft>
            </a:pPr>
            <a:r>
              <a:rPr sz="1350" b="0" i="0">
                <a:solidFill>
                  <a:srgbClr val="5B7179"/>
                </a:solidFill>
                <a:latin typeface="Calibri"/>
              </a:rPr>
              <a:t>Local density measured in the full 1024-d embedding, not in the projection</a:t>
            </a:r>
          </a:p>
        </p:txBody>
      </p:sp>
      <p:pic>
        <p:nvPicPr>
          <p:cNvPr id="3" name="Picture 2" descr="F_panel_space_three.png"/>
          <p:cNvPicPr>
            <a:picLocks noChangeAspect="1"/>
          </p:cNvPicPr>
          <p:nvPr/>
        </p:nvPicPr>
        <p:blipFill>
          <a:blip r:embed="rId2"/>
          <a:stretch>
            <a:fillRect/>
          </a:stretch>
        </p:blipFill>
        <p:spPr>
          <a:xfrm>
            <a:off x="548640" y="1325880"/>
            <a:ext cx="11094415" cy="3315714"/>
          </a:xfrm>
          <a:prstGeom prst="rect">
            <a:avLst/>
          </a:prstGeom>
        </p:spPr>
      </p:pic>
      <p:sp>
        <p:nvSpPr>
          <p:cNvPr id="4" name="TextBox 3"/>
          <p:cNvSpPr txBox="1"/>
          <p:nvPr/>
        </p:nvSpPr>
        <p:spPr>
          <a:xfrm>
            <a:off x="548640" y="4864608"/>
            <a:ext cx="11094415" cy="1097280"/>
          </a:xfrm>
          <a:prstGeom prst="rect">
            <a:avLst/>
          </a:prstGeom>
          <a:noFill/>
        </p:spPr>
        <p:txBody>
          <a:bodyPr wrap="square" lIns="0" rIns="0" tIns="0" bIns="0" anchor="t">
            <a:spAutoFit/>
          </a:bodyPr>
          <a:lstStyle/>
          <a:p>
            <a:pPr algn="l">
              <a:lnSpc>
                <a:spcPct val="106000"/>
              </a:lnSpc>
              <a:spcAft>
                <a:spcPts val="600"/>
              </a:spcAft>
            </a:pPr>
            <a:r>
              <a:rPr sz="1200" b="0" i="0">
                <a:solidFill>
                  <a:srgbClr val="5B7179"/>
                </a:solidFill>
                <a:latin typeface="Calibri"/>
              </a:rPr>
              <a:t>The stratified panel over-weights the sparse space hardest — 49.1% of its picks from the two sparsest deciles, against 36.6% for k-means — while the random panel (C) tracks the population: 23.8% against 19.2%, and 12.4% of picks in the densest decile against the population's 12.6% (stratified 0.8%, k-means 4.1%). The dense deciles are where self-exclusion empties a 20-hit record.</a:t>
            </a:r>
          </a:p>
          <a:p>
            <a:pPr algn="l">
              <a:lnSpc>
                <a:spcPct val="104000"/>
              </a:lnSpc>
              <a:spcAft>
                <a:spcPts val="0"/>
              </a:spcAft>
            </a:pPr>
            <a:r>
              <a:rPr sz="1100" b="0" i="0">
                <a:solidFill>
                  <a:srgbClr val="5B7179"/>
                </a:solidFill>
                <a:latin typeface="Calibri"/>
              </a:rPr>
              <a:t>Black ticks in D are each decile's share of all sequences: the density measure is heavily tied (166 distinct values), so the deciles hold 7.7–12.6% of sequences rather than 10% each.</a:t>
            </a:r>
          </a:p>
        </p:txBody>
      </p:sp>
      <p:sp>
        <p:nvSpPr>
          <p:cNvPr id="5" name="TextBox 4"/>
          <p:cNvSpPr txBox="1"/>
          <p:nvPr/>
        </p:nvSpPr>
        <p:spPr>
          <a:xfrm>
            <a:off x="548640" y="6382512"/>
            <a:ext cx="11094415" cy="274320"/>
          </a:xfrm>
          <a:prstGeom prst="rect">
            <a:avLst/>
          </a:prstGeom>
          <a:noFill/>
        </p:spPr>
        <p:txBody>
          <a:bodyPr wrap="square" lIns="0" rIns="0" tIns="0" bIns="0" anchor="t">
            <a:spAutoFit/>
          </a:bodyPr>
          <a:lstStyle/>
          <a:p>
            <a:pPr algn="l">
              <a:spcAft>
                <a:spcPts val="0"/>
              </a:spcAft>
            </a:pPr>
            <a:r>
              <a:rPr sz="1000" b="0" i="0">
                <a:solidFill>
                  <a:srgbClr val="5B7179"/>
                </a:solidFill>
                <a:latin typeface="Calibri"/>
              </a:rPr>
              <a:t>9,097 of the original panel's 10,000 organisms have a position in this space (the rest have short or atypical 16S, or a sequence the index credits to no admissible taxon); all 10,000 k-means and random picks do. Shares are of each panel's on-frame picks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0984687" y="429768"/>
            <a:ext cx="658368" cy="292608"/>
          </a:xfrm>
          <a:prstGeom prst="roundRect">
            <a:avLst>
              <a:gd name="adj" fmla="val 6000"/>
            </a:avLst>
          </a:prstGeom>
          <a:solidFill>
            <a:srgbClr val="E887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600"/>
              </a:spcAft>
            </a:pPr>
            <a:r>
              <a:rPr sz="1150" b="1" i="0">
                <a:solidFill>
                  <a:srgbClr val="10292E"/>
                </a:solidFill>
                <a:latin typeface="Calibri"/>
              </a:rPr>
              <a:t>NEW</a:t>
            </a:r>
          </a:p>
        </p:txBody>
      </p:sp>
      <p:sp>
        <p:nvSpPr>
          <p:cNvPr id="3" name="TextBox 2"/>
          <p:cNvSpPr txBox="1"/>
          <p:nvPr/>
        </p:nvSpPr>
        <p:spPr>
          <a:xfrm>
            <a:off x="548640" y="384048"/>
            <a:ext cx="10225735" cy="777240"/>
          </a:xfrm>
          <a:prstGeom prst="rect">
            <a:avLst/>
          </a:prstGeom>
          <a:noFill/>
        </p:spPr>
        <p:txBody>
          <a:bodyPr wrap="square" lIns="0" rIns="0" tIns="0" bIns="0" anchor="t">
            <a:spAutoFit/>
          </a:bodyPr>
          <a:lstStyle/>
          <a:p>
            <a:pPr algn="l">
              <a:spcAft>
                <a:spcPts val="200"/>
              </a:spcAft>
            </a:pPr>
            <a:r>
              <a:rPr sz="3000" b="1" i="0">
                <a:solidFill>
                  <a:srgbClr val="10292E"/>
                </a:solidFill>
                <a:latin typeface="Cambria"/>
              </a:rPr>
              <a:t>Coverage falls on the random panel; quality holds</a:t>
            </a:r>
          </a:p>
          <a:p>
            <a:pPr algn="l">
              <a:spcAft>
                <a:spcPts val="0"/>
              </a:spcAft>
            </a:pPr>
            <a:r>
              <a:rPr sz="1350" b="0" i="0">
                <a:solidFill>
                  <a:srgbClr val="5B7179"/>
                </a:solidFill>
                <a:latin typeface="Calibri"/>
              </a:rPr>
              <a:t>Phylum-standardized over the 113 phyla in all three panels, self-exclusion at τ = 0.987</a:t>
            </a:r>
          </a:p>
        </p:txBody>
      </p:sp>
      <p:graphicFrame>
        <p:nvGraphicFramePr>
          <p:cNvPr id="4" name="Chart 3"/>
          <p:cNvGraphicFramePr>
            <a:graphicFrameLocks noGrp="1"/>
          </p:cNvGraphicFramePr>
          <p:nvPr/>
        </p:nvGraphicFramePr>
        <p:xfrm>
          <a:off x="548640" y="1645920"/>
          <a:ext cx="7223760" cy="4114800"/>
        </p:xfrm>
        <a:graphic>
          <a:graphicData uri="http://schemas.openxmlformats.org/drawingml/2006/chart">
            <c:chart xmlns:c="http://schemas.openxmlformats.org/drawingml/2006/chart" r:id="rId2"/>
          </a:graphicData>
        </a:graphic>
      </p:graphicFrame>
      <p:sp>
        <p:nvSpPr>
          <p:cNvPr id="5" name="TextBox 4"/>
          <p:cNvSpPr txBox="1"/>
          <p:nvPr/>
        </p:nvSpPr>
        <p:spPr>
          <a:xfrm>
            <a:off x="548640" y="1371600"/>
            <a:ext cx="7223760" cy="274320"/>
          </a:xfrm>
          <a:prstGeom prst="rect">
            <a:avLst/>
          </a:prstGeom>
          <a:noFill/>
        </p:spPr>
        <p:txBody>
          <a:bodyPr wrap="square" lIns="0" rIns="0" tIns="0" bIns="0" anchor="t">
            <a:spAutoFit/>
          </a:bodyPr>
          <a:lstStyle/>
          <a:p>
            <a:pPr algn="l">
              <a:spcAft>
                <a:spcPts val="0"/>
              </a:spcAft>
            </a:pPr>
            <a:r>
              <a:rPr sz="1150" b="1" i="0">
                <a:solidFill>
                  <a:srgbClr val="5B7179"/>
                </a:solidFill>
                <a:latin typeface="Calibri"/>
              </a:rPr>
              <a:t>Genus coverage of novel organisms, by region</a:t>
            </a:r>
          </a:p>
        </p:txBody>
      </p:sp>
      <p:sp>
        <p:nvSpPr>
          <p:cNvPr id="6" name="Rounded Rectangle 5"/>
          <p:cNvSpPr/>
          <p:nvPr/>
        </p:nvSpPr>
        <p:spPr>
          <a:xfrm>
            <a:off x="8092440" y="1371600"/>
            <a:ext cx="3547872" cy="1298448"/>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100"/>
              </a:spcAft>
            </a:pPr>
            <a:r>
              <a:rPr sz="2800" b="1" i="0">
                <a:solidFill>
                  <a:srgbClr val="C96E0A"/>
                </a:solidFill>
                <a:latin typeface="Cambria"/>
              </a:rPr>
              <a:t>−0.27 to −0.31</a:t>
            </a:r>
          </a:p>
          <a:p>
            <a:pPr algn="l">
              <a:lnSpc>
                <a:spcPct val="92000"/>
              </a:lnSpc>
              <a:spcAft>
                <a:spcPts val="0"/>
              </a:spcAft>
            </a:pPr>
            <a:r>
              <a:rPr sz="1150" b="0" i="0">
                <a:solidFill>
                  <a:srgbClr val="5B7179"/>
                </a:solidFill>
                <a:latin typeface="Calibri"/>
              </a:rPr>
              <a:t>random − stratified coverage,
every region, CI excludes 0</a:t>
            </a:r>
          </a:p>
        </p:txBody>
      </p:sp>
      <p:sp>
        <p:nvSpPr>
          <p:cNvPr id="7" name="Rounded Rectangle 6"/>
          <p:cNvSpPr/>
          <p:nvPr/>
        </p:nvSpPr>
        <p:spPr>
          <a:xfrm>
            <a:off x="8092440" y="2834640"/>
            <a:ext cx="3547872" cy="1298448"/>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100"/>
              </a:spcAft>
            </a:pPr>
            <a:r>
              <a:rPr sz="3400" b="1" i="0">
                <a:solidFill>
                  <a:srgbClr val="028090"/>
                </a:solidFill>
                <a:latin typeface="Cambria"/>
              </a:rPr>
              <a:t>≤ 0.04</a:t>
            </a:r>
          </a:p>
          <a:p>
            <a:pPr algn="l">
              <a:lnSpc>
                <a:spcPct val="92000"/>
              </a:lnSpc>
              <a:spcAft>
                <a:spcPts val="0"/>
              </a:spcAft>
            </a:pPr>
            <a:r>
              <a:rPr sz="1150" b="0" i="0">
                <a:solidFill>
                  <a:srgbClr val="5B7179"/>
                </a:solidFill>
                <a:latin typeface="Calibri"/>
              </a:rPr>
              <a:t>difference in conditional genus
accuracy, either direction</a:t>
            </a:r>
          </a:p>
        </p:txBody>
      </p:sp>
      <p:sp>
        <p:nvSpPr>
          <p:cNvPr id="8" name="Rounded Rectangle 7"/>
          <p:cNvSpPr/>
          <p:nvPr/>
        </p:nvSpPr>
        <p:spPr>
          <a:xfrm>
            <a:off x="8092440" y="4297680"/>
            <a:ext cx="3547872" cy="1298448"/>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100"/>
              </a:spcAft>
            </a:pPr>
            <a:r>
              <a:rPr sz="3400" b="1" i="0">
                <a:solidFill>
                  <a:srgbClr val="028090"/>
                </a:solidFill>
                <a:latin typeface="Cambria"/>
              </a:rPr>
              <a:t>≤ 0.026</a:t>
            </a:r>
          </a:p>
          <a:p>
            <a:pPr algn="l">
              <a:lnSpc>
                <a:spcPct val="92000"/>
              </a:lnSpc>
              <a:spcAft>
                <a:spcPts val="0"/>
              </a:spcAft>
            </a:pPr>
            <a:r>
              <a:rPr sz="1150" b="0" i="0">
                <a:solidFill>
                  <a:srgbClr val="5B7179"/>
                </a:solidFill>
                <a:latin typeface="Calibri"/>
              </a:rPr>
              <a:t>difference in conditional
gene-capture F1</a:t>
            </a:r>
          </a:p>
        </p:txBody>
      </p:sp>
      <p:sp>
        <p:nvSpPr>
          <p:cNvPr id="9" name="TextBox 8"/>
          <p:cNvSpPr txBox="1"/>
          <p:nvPr/>
        </p:nvSpPr>
        <p:spPr>
          <a:xfrm>
            <a:off x="548640" y="6382512"/>
            <a:ext cx="11094415" cy="274320"/>
          </a:xfrm>
          <a:prstGeom prst="rect">
            <a:avLst/>
          </a:prstGeom>
          <a:noFill/>
        </p:spPr>
        <p:txBody>
          <a:bodyPr wrap="square" lIns="0" rIns="0" tIns="0" bIns="0" anchor="t">
            <a:spAutoFit/>
          </a:bodyPr>
          <a:lstStyle/>
          <a:p>
            <a:pPr algn="l">
              <a:spcAft>
                <a:spcPts val="0"/>
              </a:spcAft>
            </a:pPr>
            <a:r>
              <a:rPr sz="1000" b="0" i="0">
                <a:solidFill>
                  <a:srgbClr val="5B7179"/>
                </a:solidFill>
                <a:latin typeface="Calibri"/>
              </a:rPr>
              <a:t>Standardization keeps 77–91% of the crude coverage gap, so composition is a minority of it; 1,000 phylum-stratified bootstrap replicates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0984687" y="429768"/>
            <a:ext cx="658368" cy="292608"/>
          </a:xfrm>
          <a:prstGeom prst="roundRect">
            <a:avLst>
              <a:gd name="adj" fmla="val 6000"/>
            </a:avLst>
          </a:prstGeom>
          <a:solidFill>
            <a:srgbClr val="E887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600"/>
              </a:spcAft>
            </a:pPr>
            <a:r>
              <a:rPr sz="1150" b="1" i="0">
                <a:solidFill>
                  <a:srgbClr val="10292E"/>
                </a:solidFill>
                <a:latin typeface="Calibri"/>
              </a:rPr>
              <a:t>NEW</a:t>
            </a:r>
          </a:p>
        </p:txBody>
      </p:sp>
      <p:sp>
        <p:nvSpPr>
          <p:cNvPr id="3" name="TextBox 2"/>
          <p:cNvSpPr txBox="1"/>
          <p:nvPr/>
        </p:nvSpPr>
        <p:spPr>
          <a:xfrm>
            <a:off x="548640" y="384048"/>
            <a:ext cx="10225735" cy="777240"/>
          </a:xfrm>
          <a:prstGeom prst="rect">
            <a:avLst/>
          </a:prstGeom>
          <a:noFill/>
        </p:spPr>
        <p:txBody>
          <a:bodyPr wrap="square" lIns="0" rIns="0" tIns="0" bIns="0" anchor="t">
            <a:spAutoFit/>
          </a:bodyPr>
          <a:lstStyle/>
          <a:p>
            <a:pPr algn="l">
              <a:spcAft>
                <a:spcPts val="200"/>
              </a:spcAft>
            </a:pPr>
            <a:r>
              <a:rPr sz="3000" b="1" i="0">
                <a:solidFill>
                  <a:srgbClr val="10292E"/>
                </a:solidFill>
                <a:latin typeface="Cambria"/>
              </a:rPr>
              <a:t>Against a dense reference the sign reverses</a:t>
            </a:r>
          </a:p>
          <a:p>
            <a:pPr algn="l">
              <a:spcAft>
                <a:spcPts val="0"/>
              </a:spcAft>
            </a:pPr>
            <a:r>
              <a:rPr sz="1350" b="0" i="0">
                <a:solidFill>
                  <a:srgbClr val="5B7179"/>
                </a:solidFill>
                <a:latin typeface="Calibri"/>
              </a:rPr>
              <a:t>The coverage gap belongs to the 20-hit record, not to the organisms</a:t>
            </a:r>
          </a:p>
        </p:txBody>
      </p:sp>
      <p:graphicFrame>
        <p:nvGraphicFramePr>
          <p:cNvPr id="4" name="Chart 3"/>
          <p:cNvGraphicFramePr>
            <a:graphicFrameLocks noGrp="1"/>
          </p:cNvGraphicFramePr>
          <p:nvPr/>
        </p:nvGraphicFramePr>
        <p:xfrm>
          <a:off x="548640" y="1645920"/>
          <a:ext cx="5852160" cy="4114800"/>
        </p:xfrm>
        <a:graphic>
          <a:graphicData uri="http://schemas.openxmlformats.org/drawingml/2006/chart">
            <c:chart xmlns:c="http://schemas.openxmlformats.org/drawingml/2006/chart" r:id="rId2"/>
          </a:graphicData>
        </a:graphic>
      </p:graphicFrame>
      <p:sp>
        <p:nvSpPr>
          <p:cNvPr id="5" name="TextBox 4"/>
          <p:cNvSpPr txBox="1"/>
          <p:nvPr/>
        </p:nvSpPr>
        <p:spPr>
          <a:xfrm>
            <a:off x="548640" y="1371600"/>
            <a:ext cx="5852160" cy="274320"/>
          </a:xfrm>
          <a:prstGeom prst="rect">
            <a:avLst/>
          </a:prstGeom>
          <a:noFill/>
        </p:spPr>
        <p:txBody>
          <a:bodyPr wrap="square" lIns="0" rIns="0" tIns="0" bIns="0" anchor="t">
            <a:spAutoFit/>
          </a:bodyPr>
          <a:lstStyle/>
          <a:p>
            <a:pPr algn="l">
              <a:spcAft>
                <a:spcPts val="0"/>
              </a:spcAft>
            </a:pPr>
            <a:r>
              <a:rPr sz="1150" b="1" i="0">
                <a:solidFill>
                  <a:srgbClr val="5B7179"/>
                </a:solidFill>
                <a:latin typeface="Calibri"/>
              </a:rPr>
              <a:t>Novel organisms, phylum-standardized</a:t>
            </a:r>
          </a:p>
        </p:txBody>
      </p:sp>
      <p:sp>
        <p:nvSpPr>
          <p:cNvPr id="6" name="TextBox 5"/>
          <p:cNvSpPr txBox="1"/>
          <p:nvPr/>
        </p:nvSpPr>
        <p:spPr>
          <a:xfrm>
            <a:off x="6720840" y="1371600"/>
            <a:ext cx="4919472" cy="4663440"/>
          </a:xfrm>
          <a:prstGeom prst="rect">
            <a:avLst/>
          </a:prstGeom>
          <a:noFill/>
        </p:spPr>
        <p:txBody>
          <a:bodyPr wrap="square" lIns="0" rIns="0" tIns="0" bIns="0" anchor="t">
            <a:spAutoFit/>
          </a:bodyPr>
          <a:lstStyle/>
          <a:p>
            <a:pPr>
              <a:spcAft>
                <a:spcPts val="900"/>
              </a:spcAft>
            </a:pPr>
            <a:r>
              <a:rPr sz="1250" b="1">
                <a:solidFill>
                  <a:srgbClr val="028090"/>
                </a:solidFill>
                <a:latin typeface="Calibri"/>
              </a:rPr>
              <a:t>The flip.  </a:t>
            </a:r>
            <a:r>
              <a:rPr sz="1250">
                <a:solidFill>
                  <a:srgbClr val="10292E"/>
                </a:solidFill>
                <a:latin typeface="Calibri"/>
              </a:rPr>
              <a:t>On the amplicon arm the random panel answers less; against GTDB it resolves more (+0.14, 95% CI +0.11 to +0.17), holding down to 30% completeness.</a:t>
            </a:r>
          </a:p>
          <a:p>
            <a:pPr>
              <a:spcAft>
                <a:spcPts val="900"/>
              </a:spcAft>
            </a:pPr>
            <a:r>
              <a:rPr sz="1250" b="1">
                <a:solidFill>
                  <a:srgbClr val="028090"/>
                </a:solidFill>
                <a:latin typeface="Calibri"/>
              </a:rPr>
              <a:t>Why.  </a:t>
            </a:r>
            <a:r>
              <a:rPr sz="1250">
                <a:solidFill>
                  <a:srgbClr val="10292E"/>
                </a:solidFill>
                <a:latin typeface="Calibri"/>
              </a:rPr>
              <a:t>On full-length 16S, exclusion empties a full 20-hit record for 14.3%, 40.4% and 49.9% of queries — a truncation artefact; a full 100-hit GTDB record empties for under 1%. And representative organisms keep closer relatives: median best surviving ANI 89.5 → 92.1.</a:t>
            </a:r>
          </a:p>
          <a:p>
            <a:pPr>
              <a:spcAft>
                <a:spcPts val="900"/>
              </a:spcAft>
            </a:pPr>
            <a:r>
              <a:rPr sz="1250" b="1">
                <a:solidFill>
                  <a:srgbClr val="028090"/>
                </a:solidFill>
                <a:latin typeface="Calibri"/>
              </a:rPr>
              <a:t>Self-inclusion too.  </a:t>
            </a:r>
            <a:r>
              <a:rPr sz="1250">
                <a:solidFill>
                  <a:srgbClr val="10292E"/>
                </a:solidFill>
                <a:latin typeface="Calibri"/>
              </a:rPr>
              <a:t>The source is in its own top 20 for 96.7%, 69.0% and 61.2% of amplicons — misses split between exact-tie eviction and the index crediting the sequence to another organism.</a:t>
            </a:r>
          </a:p>
          <a:p>
            <a:pPr>
              <a:spcAft>
                <a:spcPts val="900"/>
              </a:spcAft>
            </a:pPr>
            <a:r>
              <a:rPr sz="1250" b="1">
                <a:solidFill>
                  <a:srgbClr val="028090"/>
                </a:solidFill>
                <a:latin typeface="Calibri"/>
              </a:rPr>
              <a:t>What it licenses.  </a:t>
            </a:r>
            <a:r>
              <a:rPr sz="1250">
                <a:solidFill>
                  <a:srgbClr val="10292E"/>
                </a:solidFill>
                <a:latin typeface="Calibri"/>
              </a:rPr>
              <a:t>Our headline self-exclusion coverage is a property of the stratified panel at depth 20. Conditional quality is the claim that replicates.</a:t>
            </a:r>
          </a:p>
        </p:txBody>
      </p:sp>
      <p:sp>
        <p:nvSpPr>
          <p:cNvPr id="7" name="TextBox 6"/>
          <p:cNvSpPr txBox="1"/>
          <p:nvPr/>
        </p:nvSpPr>
        <p:spPr>
          <a:xfrm>
            <a:off x="548640" y="6382512"/>
            <a:ext cx="11094415" cy="274320"/>
          </a:xfrm>
          <a:prstGeom prst="rect">
            <a:avLst/>
          </a:prstGeom>
          <a:noFill/>
        </p:spPr>
        <p:txBody>
          <a:bodyPr wrap="square" lIns="0" rIns="0" tIns="0" bIns="0" anchor="t">
            <a:spAutoFit/>
          </a:bodyPr>
          <a:lstStyle/>
          <a:p>
            <a:pPr algn="l">
              <a:spcAft>
                <a:spcPts val="0"/>
              </a:spcAft>
            </a:pPr>
            <a:r>
              <a:rPr sz="1000" b="0" i="0">
                <a:solidFill>
                  <a:srgbClr val="5B7179"/>
                </a:solidFill>
                <a:latin typeface="Calibri"/>
              </a:rPr>
              <a:t>GTDB r226: 143,614 species-representative genomes; exclusion at ANI ≥ 95; ~2,000-genome phylum-proportional subsample of each panel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0984687" y="429768"/>
            <a:ext cx="658368" cy="292608"/>
          </a:xfrm>
          <a:prstGeom prst="roundRect">
            <a:avLst>
              <a:gd name="adj" fmla="val 6000"/>
            </a:avLst>
          </a:prstGeom>
          <a:solidFill>
            <a:srgbClr val="E887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600"/>
              </a:spcAft>
            </a:pPr>
            <a:r>
              <a:rPr sz="1150" b="1" i="0">
                <a:solidFill>
                  <a:srgbClr val="10292E"/>
                </a:solidFill>
                <a:latin typeface="Calibri"/>
              </a:rPr>
              <a:t>NEW</a:t>
            </a:r>
          </a:p>
        </p:txBody>
      </p:sp>
      <p:sp>
        <p:nvSpPr>
          <p:cNvPr id="3" name="TextBox 2"/>
          <p:cNvSpPr txBox="1"/>
          <p:nvPr/>
        </p:nvSpPr>
        <p:spPr>
          <a:xfrm>
            <a:off x="548640" y="384048"/>
            <a:ext cx="10225735" cy="777240"/>
          </a:xfrm>
          <a:prstGeom prst="rect">
            <a:avLst/>
          </a:prstGeom>
          <a:noFill/>
        </p:spPr>
        <p:txBody>
          <a:bodyPr wrap="square" lIns="0" rIns="0" tIns="0" bIns="0" anchor="t">
            <a:spAutoFit/>
          </a:bodyPr>
          <a:lstStyle/>
          <a:p>
            <a:pPr algn="l">
              <a:spcAft>
                <a:spcPts val="200"/>
              </a:spcAft>
            </a:pPr>
            <a:r>
              <a:rPr sz="3000" b="1" i="0">
                <a:solidFill>
                  <a:srgbClr val="10292E"/>
                </a:solidFill>
                <a:latin typeface="Cambria"/>
              </a:rPr>
              <a:t>How the work was checked</a:t>
            </a:r>
          </a:p>
          <a:p>
            <a:pPr algn="l">
              <a:spcAft>
                <a:spcPts val="0"/>
              </a:spcAft>
            </a:pPr>
            <a:r>
              <a:rPr sz="1350" b="0" i="0">
                <a:solidFill>
                  <a:srgbClr val="5B7179"/>
                </a:solidFill>
                <a:latin typeface="Calibri"/>
              </a:rPr>
              <a:t>Every falsifiable claim in the revised and new sections re-derived from the data; a second auditor re-checked each flag</a:t>
            </a:r>
          </a:p>
        </p:txBody>
      </p:sp>
      <p:sp>
        <p:nvSpPr>
          <p:cNvPr id="4" name="Rounded Rectangle 3"/>
          <p:cNvSpPr/>
          <p:nvPr/>
        </p:nvSpPr>
        <p:spPr>
          <a:xfrm>
            <a:off x="548640" y="1371600"/>
            <a:ext cx="2567635" cy="132588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100"/>
              </a:spcAft>
            </a:pPr>
            <a:r>
              <a:rPr sz="3400" b="1" i="0">
                <a:solidFill>
                  <a:srgbClr val="028090"/>
                </a:solidFill>
                <a:latin typeface="Cambria"/>
              </a:rPr>
              <a:t>595</a:t>
            </a:r>
          </a:p>
          <a:p>
            <a:pPr algn="l">
              <a:lnSpc>
                <a:spcPct val="92000"/>
              </a:lnSpc>
              <a:spcAft>
                <a:spcPts val="0"/>
              </a:spcAft>
            </a:pPr>
            <a:r>
              <a:rPr sz="1150" b="0" i="0">
                <a:solidFill>
                  <a:srgbClr val="5B7179"/>
                </a:solidFill>
                <a:latin typeface="Calibri"/>
              </a:rPr>
              <a:t>manuscript claims audited
against the artefacts</a:t>
            </a:r>
          </a:p>
        </p:txBody>
      </p:sp>
      <p:sp>
        <p:nvSpPr>
          <p:cNvPr id="5" name="Rounded Rectangle 4"/>
          <p:cNvSpPr/>
          <p:nvPr/>
        </p:nvSpPr>
        <p:spPr>
          <a:xfrm>
            <a:off x="3390595" y="1371600"/>
            <a:ext cx="2567635" cy="132588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100"/>
              </a:spcAft>
            </a:pPr>
            <a:r>
              <a:rPr sz="3400" b="1" i="0">
                <a:solidFill>
                  <a:srgbClr val="C96E0A"/>
                </a:solidFill>
                <a:latin typeface="Cambria"/>
              </a:rPr>
              <a:t>161</a:t>
            </a:r>
          </a:p>
          <a:p>
            <a:pPr algn="l">
              <a:lnSpc>
                <a:spcPct val="92000"/>
              </a:lnSpc>
              <a:spcAft>
                <a:spcPts val="0"/>
              </a:spcAft>
            </a:pPr>
            <a:r>
              <a:rPr sz="1150" b="0" i="0">
                <a:solidFill>
                  <a:srgbClr val="5B7179"/>
                </a:solidFill>
                <a:latin typeface="Calibri"/>
              </a:rPr>
              <a:t>defects confirmed on
recheck, all corrected</a:t>
            </a:r>
          </a:p>
        </p:txBody>
      </p:sp>
      <p:sp>
        <p:nvSpPr>
          <p:cNvPr id="6" name="Rounded Rectangle 5"/>
          <p:cNvSpPr/>
          <p:nvPr/>
        </p:nvSpPr>
        <p:spPr>
          <a:xfrm>
            <a:off x="6232550" y="1371600"/>
            <a:ext cx="2567635" cy="132588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100"/>
              </a:spcAft>
            </a:pPr>
            <a:r>
              <a:rPr sz="3400" b="1" i="0">
                <a:solidFill>
                  <a:srgbClr val="028090"/>
                </a:solidFill>
                <a:latin typeface="Cambria"/>
              </a:rPr>
              <a:t>288/288</a:t>
            </a:r>
          </a:p>
          <a:p>
            <a:pPr algn="l">
              <a:lnSpc>
                <a:spcPct val="92000"/>
              </a:lnSpc>
              <a:spcAft>
                <a:spcPts val="0"/>
              </a:spcAft>
            </a:pPr>
            <a:r>
              <a:rPr sz="1150" b="0" i="0">
                <a:solidFill>
                  <a:srgbClr val="5B7179"/>
                </a:solidFill>
                <a:latin typeface="Calibri"/>
              </a:rPr>
              <a:t>amplicon cells reproduced
before any comparison</a:t>
            </a:r>
          </a:p>
        </p:txBody>
      </p:sp>
      <p:sp>
        <p:nvSpPr>
          <p:cNvPr id="7" name="Rounded Rectangle 6"/>
          <p:cNvSpPr/>
          <p:nvPr/>
        </p:nvSpPr>
        <p:spPr>
          <a:xfrm>
            <a:off x="9074505" y="1371600"/>
            <a:ext cx="2567635" cy="132588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100"/>
              </a:spcAft>
            </a:pPr>
            <a:r>
              <a:rPr sz="3400" b="1" i="0">
                <a:solidFill>
                  <a:srgbClr val="C96E0A"/>
                </a:solidFill>
                <a:latin typeface="Cambria"/>
              </a:rPr>
              <a:t>4</a:t>
            </a:r>
          </a:p>
          <a:p>
            <a:pPr algn="l">
              <a:lnSpc>
                <a:spcPct val="92000"/>
              </a:lnSpc>
              <a:spcAft>
                <a:spcPts val="0"/>
              </a:spcAft>
            </a:pPr>
            <a:r>
              <a:rPr sz="1150" b="0" i="0">
                <a:solidFill>
                  <a:srgbClr val="5B7179"/>
                </a:solidFill>
                <a:latin typeface="Calibri"/>
              </a:rPr>
              <a:t>pipeline and analysis
faults caught and fixed</a:t>
            </a:r>
          </a:p>
        </p:txBody>
      </p:sp>
      <p:sp>
        <p:nvSpPr>
          <p:cNvPr id="8" name="Rounded Rectangle 7"/>
          <p:cNvSpPr/>
          <p:nvPr/>
        </p:nvSpPr>
        <p:spPr>
          <a:xfrm>
            <a:off x="548640" y="2926080"/>
            <a:ext cx="5413248" cy="310896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900"/>
              </a:spcAft>
            </a:pPr>
            <a:r>
              <a:rPr sz="1400" b="1" i="0">
                <a:solidFill>
                  <a:srgbClr val="10292E"/>
                </a:solidFill>
                <a:latin typeface="Cambria"/>
              </a:rPr>
              <a:t>What the claim audits caught</a:t>
            </a:r>
          </a:p>
          <a:p>
            <a:pPr algn="l" marL="155448" indent="-155448">
              <a:lnSpc>
                <a:spcPct val="104000"/>
              </a:lnSpc>
              <a:spcAft>
                <a:spcPts val="700"/>
              </a:spcAft>
            </a:pPr>
            <a:r>
              <a:rPr sz="1200" b="0" i="0">
                <a:solidFill>
                  <a:srgbClr val="5B7179"/>
                </a:solidFill>
                <a:latin typeface="Calibri"/>
              </a:rPr>
              <a:t>•  The searched database: ~315,000 genomes, not 112,000 — nor the 268,000 a first audit substituted</a:t>
            </a:r>
          </a:p>
          <a:p>
            <a:pPr algn="l" marL="155448" indent="-155448">
              <a:lnSpc>
                <a:spcPct val="104000"/>
              </a:lnSpc>
              <a:spcAft>
                <a:spcPts val="700"/>
              </a:spcAft>
            </a:pPr>
            <a:r>
              <a:rPr sz="1200" b="0" i="0">
                <a:solidFill>
                  <a:srgbClr val="5B7179"/>
                </a:solidFill>
                <a:latin typeface="Calibri"/>
              </a:rPr>
              <a:t>•  GTDB's sketch holds 143,614 species representatives, not 732,475 accessions</a:t>
            </a:r>
          </a:p>
          <a:p>
            <a:pPr algn="l" marL="155448" indent="-155448">
              <a:lnSpc>
                <a:spcPct val="104000"/>
              </a:lnSpc>
              <a:spcAft>
                <a:spcPts val="700"/>
              </a:spcAft>
            </a:pPr>
            <a:r>
              <a:rPr sz="1200" b="0" i="0">
                <a:solidFill>
                  <a:srgbClr val="5B7179"/>
                </a:solidFill>
                <a:latin typeface="Calibri"/>
              </a:rPr>
              <a:t>•  prFBA's objective is probabilistic; it was described as protein-constrained</a:t>
            </a:r>
          </a:p>
          <a:p>
            <a:pPr algn="l" marL="155448" indent="-155448">
              <a:lnSpc>
                <a:spcPct val="104000"/>
              </a:lnSpc>
              <a:spcAft>
                <a:spcPts val="700"/>
              </a:spcAft>
            </a:pPr>
            <a:r>
              <a:rPr sz="1200" b="0" i="0">
                <a:solidFill>
                  <a:srgbClr val="5B7179"/>
                </a:solidFill>
                <a:latin typeface="Calibri"/>
              </a:rPr>
              <a:t>•  A tenfold pangenome finding cited to Roary belongs to Panaroo</a:t>
            </a:r>
          </a:p>
          <a:p>
            <a:pPr algn="l" marL="155448" indent="-155448">
              <a:lnSpc>
                <a:spcPct val="104000"/>
              </a:lnSpc>
              <a:spcAft>
                <a:spcPts val="700"/>
              </a:spcAft>
            </a:pPr>
            <a:r>
              <a:rPr sz="1200" b="0" i="0">
                <a:solidFill>
                  <a:srgbClr val="5B7179"/>
                </a:solidFill>
                <a:latin typeface="Calibri"/>
              </a:rPr>
              <a:t>•  Cross-phylum merge rates that counted an unknown phylum as a phylum (40.6% → 31.7%)</a:t>
            </a:r>
          </a:p>
          <a:p>
            <a:pPr algn="l" marL="155448" indent="-155448">
              <a:lnSpc>
                <a:spcPct val="104000"/>
              </a:lnSpc>
              <a:spcAft>
                <a:spcPts val="700"/>
              </a:spcAft>
            </a:pPr>
            <a:r>
              <a:rPr sz="1200" b="0" i="0">
                <a:solidFill>
                  <a:srgbClr val="5B7179"/>
                </a:solidFill>
                <a:latin typeface="Calibri"/>
              </a:rPr>
              <a:t>•  A phenotype scorer that compared arms against gate-failing truth models, and a summary that counted duplicated rows twice</a:t>
            </a:r>
          </a:p>
        </p:txBody>
      </p:sp>
      <p:sp>
        <p:nvSpPr>
          <p:cNvPr id="9" name="Rounded Rectangle 8"/>
          <p:cNvSpPr/>
          <p:nvPr/>
        </p:nvSpPr>
        <p:spPr>
          <a:xfrm>
            <a:off x="6227064" y="2926080"/>
            <a:ext cx="5413248" cy="310896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900"/>
              </a:spcAft>
            </a:pPr>
            <a:r>
              <a:rPr sz="1400" b="1" i="0">
                <a:solidFill>
                  <a:srgbClr val="10292E"/>
                </a:solidFill>
                <a:latin typeface="Cambria"/>
              </a:rPr>
              <a:t>What our own runs and reproduction checks caught</a:t>
            </a:r>
          </a:p>
          <a:p>
            <a:pPr algn="l" marL="155448" indent="-155448">
              <a:lnSpc>
                <a:spcPct val="104000"/>
              </a:lnSpc>
              <a:spcAft>
                <a:spcPts val="700"/>
              </a:spcAft>
            </a:pPr>
            <a:r>
              <a:rPr sz="1200" b="0" i="0">
                <a:solidFill>
                  <a:srgbClr val="5B7179"/>
                </a:solidFill>
                <a:latin typeface="Calibri"/>
              </a:rPr>
              <a:t>•  A gene-family fetcher with no User-Agent: every request refused, fds leaked</a:t>
            </a:r>
          </a:p>
          <a:p>
            <a:pPr algn="l" marL="155448" indent="-155448">
              <a:lnSpc>
                <a:spcPct val="104000"/>
              </a:lnSpc>
              <a:spcAft>
                <a:spcPts val="700"/>
              </a:spcAft>
            </a:pPr>
            <a:r>
              <a:rPr sz="1200" b="0" i="0">
                <a:solidFill>
                  <a:srgbClr val="5B7179"/>
                </a:solidFill>
                <a:latin typeface="Calibri"/>
              </a:rPr>
              <a:t>•  A three-panel scorer that counted any non-abstention as a call at every rank (genus coverage overstated by up to 0.19)</a:t>
            </a:r>
          </a:p>
          <a:p>
            <a:pPr algn="l" marL="155448" indent="-155448">
              <a:lnSpc>
                <a:spcPct val="104000"/>
              </a:lnSpc>
              <a:spcAft>
                <a:spcPts val="700"/>
              </a:spcAft>
            </a:pPr>
            <a:r>
              <a:rPr sz="1200" b="0" i="0">
                <a:solidFill>
                  <a:srgbClr val="5B7179"/>
                </a:solidFill>
                <a:latin typeface="Calibri"/>
              </a:rPr>
              <a:t>•  A density-decile comparison that read its stored array in reverse</a:t>
            </a:r>
          </a:p>
          <a:p>
            <a:pPr algn="l" marL="155448" indent="-155448">
              <a:lnSpc>
                <a:spcPct val="104000"/>
              </a:lnSpc>
              <a:spcAft>
                <a:spcPts val="700"/>
              </a:spcAft>
            </a:pPr>
            <a:r>
              <a:rPr sz="1200" b="0" i="0">
                <a:solidFill>
                  <a:srgbClr val="5B7179"/>
                </a:solidFill>
                <a:latin typeface="Calibri"/>
              </a:rPr>
              <a:t>•  A reproduction check that passed while comparing zero cells (a wrong key path)</a:t>
            </a:r>
          </a:p>
        </p:txBody>
      </p:sp>
      <p:sp>
        <p:nvSpPr>
          <p:cNvPr id="10" name="TextBox 9"/>
          <p:cNvSpPr txBox="1"/>
          <p:nvPr/>
        </p:nvSpPr>
        <p:spPr>
          <a:xfrm>
            <a:off x="548640" y="6382512"/>
            <a:ext cx="11094415" cy="274320"/>
          </a:xfrm>
          <a:prstGeom prst="rect">
            <a:avLst/>
          </a:prstGeom>
          <a:noFill/>
        </p:spPr>
        <p:txBody>
          <a:bodyPr wrap="square" lIns="0" rIns="0" tIns="0" bIns="0" anchor="t">
            <a:spAutoFit/>
          </a:bodyPr>
          <a:lstStyle/>
          <a:p>
            <a:pPr algn="l">
              <a:spcAft>
                <a:spcPts val="0"/>
              </a:spcAft>
            </a:pPr>
            <a:r>
              <a:rPr sz="1000" b="0" i="0">
                <a:solidFill>
                  <a:srgbClr val="5B7179"/>
                </a:solidFill>
                <a:latin typeface="Calibri"/>
              </a:rPr>
              <a:t>This deck and the manuscript update were audited the same way — 598 claims, 54 confirmed defects; then 377 claims over the fixes, 14 more — all fixed. Gene-family cache intact against its pre-run snapshot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5343D"/>
        </a:solidFill>
        <a:effectLst/>
      </p:bgPr>
    </p:bg>
    <p:spTree>
      <p:nvGrpSpPr>
        <p:cNvPr id="1" name=""/>
        <p:cNvGrpSpPr/>
        <p:nvPr/>
      </p:nvGrpSpPr>
      <p:grpSpPr/>
      <p:sp>
        <p:nvSpPr>
          <p:cNvPr id="2" name="TextBox 1"/>
          <p:cNvSpPr txBox="1"/>
          <p:nvPr/>
        </p:nvSpPr>
        <p:spPr>
          <a:xfrm>
            <a:off x="548640" y="384048"/>
            <a:ext cx="11094415" cy="777240"/>
          </a:xfrm>
          <a:prstGeom prst="rect">
            <a:avLst/>
          </a:prstGeom>
          <a:noFill/>
        </p:spPr>
        <p:txBody>
          <a:bodyPr wrap="square" lIns="0" rIns="0" tIns="0" bIns="0" anchor="t">
            <a:spAutoFit/>
          </a:bodyPr>
          <a:lstStyle/>
          <a:p>
            <a:pPr algn="l">
              <a:spcAft>
                <a:spcPts val="200"/>
              </a:spcAft>
            </a:pPr>
            <a:r>
              <a:rPr sz="3000" b="1" i="0">
                <a:solidFill>
                  <a:srgbClr val="FFFFFF"/>
                </a:solidFill>
                <a:latin typeface="Cambria"/>
              </a:rPr>
              <a:t>Where this leaves us</a:t>
            </a:r>
          </a:p>
        </p:txBody>
      </p:sp>
      <p:sp>
        <p:nvSpPr>
          <p:cNvPr id="3" name="Oval 2"/>
          <p:cNvSpPr/>
          <p:nvPr/>
        </p:nvSpPr>
        <p:spPr>
          <a:xfrm>
            <a:off x="548640" y="1453896"/>
            <a:ext cx="384048" cy="384048"/>
          </a:xfrm>
          <a:prstGeom prst="ellipse">
            <a:avLst/>
          </a:prstGeom>
          <a:solidFill>
            <a:srgbClr val="0A4A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1" i="0">
                <a:solidFill>
                  <a:srgbClr val="02C39A"/>
                </a:solidFill>
                <a:latin typeface="Cambria"/>
              </a:rPr>
              <a:t>1</a:t>
            </a:r>
          </a:p>
        </p:txBody>
      </p:sp>
      <p:sp>
        <p:nvSpPr>
          <p:cNvPr id="4" name="TextBox 3"/>
          <p:cNvSpPr txBox="1"/>
          <p:nvPr/>
        </p:nvSpPr>
        <p:spPr>
          <a:xfrm>
            <a:off x="1115568" y="1417320"/>
            <a:ext cx="10424160" cy="914400"/>
          </a:xfrm>
          <a:prstGeom prst="rect">
            <a:avLst/>
          </a:prstGeom>
          <a:noFill/>
        </p:spPr>
        <p:txBody>
          <a:bodyPr wrap="square" lIns="0" rIns="0" tIns="0" bIns="0" anchor="t">
            <a:spAutoFit/>
          </a:bodyPr>
          <a:lstStyle/>
          <a:p>
            <a:pPr algn="l">
              <a:spcAft>
                <a:spcPts val="400"/>
              </a:spcAft>
            </a:pPr>
            <a:r>
              <a:rPr sz="1600" b="1" i="0">
                <a:solidFill>
                  <a:srgbClr val="FFFFFF"/>
                </a:solidFill>
                <a:latin typeface="Cambria"/>
              </a:rPr>
              <a:t>Report the controlled result as the headline</a:t>
            </a:r>
          </a:p>
          <a:p>
            <a:pPr algn="l">
              <a:lnSpc>
                <a:spcPct val="104000"/>
              </a:lnSpc>
              <a:spcAft>
                <a:spcPts val="0"/>
              </a:spcAft>
            </a:pPr>
            <a:r>
              <a:rPr sz="1200" b="0" i="0">
                <a:solidFill>
                  <a:srgbClr val="02C39A"/>
                </a:solidFill>
                <a:latin typeface="Calibri"/>
              </a:rPr>
              <a:t>PICRUSt2 is more accurate at EC level at genus and family rank, and prFBA forced to answer only ties copying the nearest reference. The manuscript now says so.</a:t>
            </a:r>
          </a:p>
        </p:txBody>
      </p:sp>
      <p:sp>
        <p:nvSpPr>
          <p:cNvPr id="5" name="Oval 4"/>
          <p:cNvSpPr/>
          <p:nvPr/>
        </p:nvSpPr>
        <p:spPr>
          <a:xfrm>
            <a:off x="548640" y="2423160"/>
            <a:ext cx="384048" cy="384048"/>
          </a:xfrm>
          <a:prstGeom prst="ellipse">
            <a:avLst/>
          </a:prstGeom>
          <a:solidFill>
            <a:srgbClr val="0A4A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1" i="0">
                <a:solidFill>
                  <a:srgbClr val="02C39A"/>
                </a:solidFill>
                <a:latin typeface="Cambria"/>
              </a:rPr>
              <a:t>2</a:t>
            </a:r>
          </a:p>
        </p:txBody>
      </p:sp>
      <p:sp>
        <p:nvSpPr>
          <p:cNvPr id="6" name="TextBox 5"/>
          <p:cNvSpPr txBox="1"/>
          <p:nvPr/>
        </p:nvSpPr>
        <p:spPr>
          <a:xfrm>
            <a:off x="1115568" y="2386584"/>
            <a:ext cx="10424160" cy="914400"/>
          </a:xfrm>
          <a:prstGeom prst="rect">
            <a:avLst/>
          </a:prstGeom>
          <a:noFill/>
        </p:spPr>
        <p:txBody>
          <a:bodyPr wrap="square" lIns="0" rIns="0" tIns="0" bIns="0" anchor="t">
            <a:spAutoFit/>
          </a:bodyPr>
          <a:lstStyle/>
          <a:p>
            <a:pPr algn="l">
              <a:spcAft>
                <a:spcPts val="400"/>
              </a:spcAft>
            </a:pPr>
            <a:r>
              <a:rPr sz="1600" b="1" i="0">
                <a:solidFill>
                  <a:srgbClr val="FFFFFF"/>
                </a:solidFill>
                <a:latin typeface="Cambria"/>
              </a:rPr>
              <a:t>Lead with what replicates</a:t>
            </a:r>
          </a:p>
          <a:p>
            <a:pPr algn="l">
              <a:lnSpc>
                <a:spcPct val="104000"/>
              </a:lnSpc>
              <a:spcAft>
                <a:spcPts val="0"/>
              </a:spcAft>
            </a:pPr>
            <a:r>
              <a:rPr sz="1200" b="0" i="0">
                <a:solidFill>
                  <a:srgbClr val="02C39A"/>
                </a:solidFill>
                <a:latin typeface="Calibri"/>
              </a:rPr>
              <a:t>Conditional answer quality is robust to panel composition. The ATP phenotype shows no detectable mean difference at n = 755 — worth reporting, and worth not overselling.</a:t>
            </a:r>
          </a:p>
        </p:txBody>
      </p:sp>
      <p:sp>
        <p:nvSpPr>
          <p:cNvPr id="7" name="Oval 6"/>
          <p:cNvSpPr/>
          <p:nvPr/>
        </p:nvSpPr>
        <p:spPr>
          <a:xfrm>
            <a:off x="548640" y="3392424"/>
            <a:ext cx="384048" cy="384048"/>
          </a:xfrm>
          <a:prstGeom prst="ellipse">
            <a:avLst/>
          </a:prstGeom>
          <a:solidFill>
            <a:srgbClr val="0A4A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1" i="0">
                <a:solidFill>
                  <a:srgbClr val="02C39A"/>
                </a:solidFill>
                <a:latin typeface="Cambria"/>
              </a:rPr>
              <a:t>3</a:t>
            </a:r>
          </a:p>
        </p:txBody>
      </p:sp>
      <p:sp>
        <p:nvSpPr>
          <p:cNvPr id="8" name="TextBox 7"/>
          <p:cNvSpPr txBox="1"/>
          <p:nvPr/>
        </p:nvSpPr>
        <p:spPr>
          <a:xfrm>
            <a:off x="1115568" y="3355848"/>
            <a:ext cx="10424160" cy="914400"/>
          </a:xfrm>
          <a:prstGeom prst="rect">
            <a:avLst/>
          </a:prstGeom>
          <a:noFill/>
        </p:spPr>
        <p:txBody>
          <a:bodyPr wrap="square" lIns="0" rIns="0" tIns="0" bIns="0" anchor="t">
            <a:spAutoFit/>
          </a:bodyPr>
          <a:lstStyle/>
          <a:p>
            <a:pPr algn="l">
              <a:spcAft>
                <a:spcPts val="400"/>
              </a:spcAft>
            </a:pPr>
            <a:r>
              <a:rPr sz="1600" b="1" i="0">
                <a:solidFill>
                  <a:srgbClr val="FFFFFF"/>
                </a:solidFill>
                <a:latin typeface="Cambria"/>
              </a:rPr>
              <a:t>Test the weighting, which nothing yet does</a:t>
            </a:r>
          </a:p>
          <a:p>
            <a:pPr algn="l">
              <a:lnSpc>
                <a:spcPct val="104000"/>
              </a:lnSpc>
              <a:spcAft>
                <a:spcPts val="0"/>
              </a:spcAft>
            </a:pPr>
            <a:r>
              <a:rPr sz="1200" b="0" i="0">
                <a:solidFill>
                  <a:srgbClr val="02C39A"/>
                </a:solidFill>
                <a:latin typeface="Calibri"/>
              </a:rPr>
              <a:t>Calibrate p(function) against the truth genomes the panels already provide, and run prFBA's objective on the probability-weighted genomes it was built for.</a:t>
            </a:r>
          </a:p>
        </p:txBody>
      </p:sp>
      <p:sp>
        <p:nvSpPr>
          <p:cNvPr id="9" name="Oval 8"/>
          <p:cNvSpPr/>
          <p:nvPr/>
        </p:nvSpPr>
        <p:spPr>
          <a:xfrm>
            <a:off x="548640" y="4361688"/>
            <a:ext cx="384048" cy="384048"/>
          </a:xfrm>
          <a:prstGeom prst="ellipse">
            <a:avLst/>
          </a:prstGeom>
          <a:solidFill>
            <a:srgbClr val="0A4A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1" i="0">
                <a:solidFill>
                  <a:srgbClr val="02C39A"/>
                </a:solidFill>
                <a:latin typeface="Cambria"/>
              </a:rPr>
              <a:t>4</a:t>
            </a:r>
          </a:p>
        </p:txBody>
      </p:sp>
      <p:sp>
        <p:nvSpPr>
          <p:cNvPr id="10" name="TextBox 9"/>
          <p:cNvSpPr txBox="1"/>
          <p:nvPr/>
        </p:nvSpPr>
        <p:spPr>
          <a:xfrm>
            <a:off x="1115568" y="4325112"/>
            <a:ext cx="10424160" cy="914400"/>
          </a:xfrm>
          <a:prstGeom prst="rect">
            <a:avLst/>
          </a:prstGeom>
          <a:noFill/>
        </p:spPr>
        <p:txBody>
          <a:bodyPr wrap="square" lIns="0" rIns="0" tIns="0" bIns="0" anchor="t">
            <a:spAutoFit/>
          </a:bodyPr>
          <a:lstStyle/>
          <a:p>
            <a:pPr algn="l">
              <a:spcAft>
                <a:spcPts val="400"/>
              </a:spcAft>
            </a:pPr>
            <a:r>
              <a:rPr sz="1600" b="1" i="0">
                <a:solidFill>
                  <a:srgbClr val="FFFFFF"/>
                </a:solidFill>
                <a:latin typeface="Cambria"/>
              </a:rPr>
              <a:t>Raise retention depth to 100</a:t>
            </a:r>
          </a:p>
          <a:p>
            <a:pPr algn="l">
              <a:lnSpc>
                <a:spcPct val="104000"/>
              </a:lnSpc>
              <a:spcAft>
                <a:spcPts val="0"/>
              </a:spcAft>
            </a:pPr>
            <a:r>
              <a:rPr sz="1200" b="0" i="0">
                <a:solidFill>
                  <a:srgbClr val="02C39A"/>
                </a:solidFill>
                <a:latin typeface="Calibri"/>
              </a:rPr>
              <a:t>The self-exclusion coverage figures are a property of the 20-hit record; the prefilter already scores 500 candidates, so the fix costs almost nothing.</a:t>
            </a:r>
          </a:p>
        </p:txBody>
      </p:sp>
      <p:sp>
        <p:nvSpPr>
          <p:cNvPr id="11" name="Oval 10"/>
          <p:cNvSpPr/>
          <p:nvPr/>
        </p:nvSpPr>
        <p:spPr>
          <a:xfrm>
            <a:off x="548640" y="5330952"/>
            <a:ext cx="384048" cy="384048"/>
          </a:xfrm>
          <a:prstGeom prst="ellipse">
            <a:avLst/>
          </a:prstGeom>
          <a:solidFill>
            <a:srgbClr val="0A4A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1" i="0">
                <a:solidFill>
                  <a:srgbClr val="02C39A"/>
                </a:solidFill>
                <a:latin typeface="Cambria"/>
              </a:rPr>
              <a:t>5</a:t>
            </a:r>
          </a:p>
        </p:txBody>
      </p:sp>
      <p:sp>
        <p:nvSpPr>
          <p:cNvPr id="12" name="TextBox 11"/>
          <p:cNvSpPr txBox="1"/>
          <p:nvPr/>
        </p:nvSpPr>
        <p:spPr>
          <a:xfrm>
            <a:off x="1115568" y="5294376"/>
            <a:ext cx="10424160" cy="914400"/>
          </a:xfrm>
          <a:prstGeom prst="rect">
            <a:avLst/>
          </a:prstGeom>
          <a:noFill/>
        </p:spPr>
        <p:txBody>
          <a:bodyPr wrap="square" lIns="0" rIns="0" tIns="0" bIns="0" anchor="t">
            <a:spAutoFit/>
          </a:bodyPr>
          <a:lstStyle/>
          <a:p>
            <a:pPr algn="l">
              <a:spcAft>
                <a:spcPts val="400"/>
              </a:spcAft>
            </a:pPr>
            <a:r>
              <a:rPr sz="1600" b="1" i="0">
                <a:solidFill>
                  <a:srgbClr val="FFFFFF"/>
                </a:solidFill>
                <a:latin typeface="Cambria"/>
              </a:rPr>
              <a:t>Close the loop to flux</a:t>
            </a:r>
          </a:p>
          <a:p>
            <a:pPr algn="l">
              <a:lnSpc>
                <a:spcPct val="104000"/>
              </a:lnSpc>
              <a:spcAft>
                <a:spcPts val="0"/>
              </a:spcAft>
            </a:pPr>
            <a:r>
              <a:rPr sz="1200" b="0" i="0">
                <a:solidFill>
                  <a:srgbClr val="02C39A"/>
                </a:solidFill>
                <a:latin typeface="Calibri"/>
              </a:rPr>
              <a:t>Propagate probability-weighted genomes through community prFBA and validate against paired metagenomes.</a:t>
            </a:r>
          </a:p>
        </p:txBody>
      </p:sp>
      <p:sp>
        <p:nvSpPr>
          <p:cNvPr id="13" name="TextBox 12"/>
          <p:cNvSpPr txBox="1"/>
          <p:nvPr/>
        </p:nvSpPr>
        <p:spPr>
          <a:xfrm>
            <a:off x="548640" y="6382512"/>
            <a:ext cx="11094415" cy="274320"/>
          </a:xfrm>
          <a:prstGeom prst="rect">
            <a:avLst/>
          </a:prstGeom>
          <a:noFill/>
        </p:spPr>
        <p:txBody>
          <a:bodyPr wrap="square" lIns="0" rIns="0" tIns="0" bIns="0" anchor="t">
            <a:spAutoFit/>
          </a:bodyPr>
          <a:lstStyle/>
          <a:p>
            <a:pPr algn="l">
              <a:spcAft>
                <a:spcPts val="0"/>
              </a:spcAft>
            </a:pPr>
            <a:r>
              <a:rPr sz="1000" b="0" i="0">
                <a:solidFill>
                  <a:srgbClr val="02C39A"/>
                </a:solidFill>
                <a:latin typeface="Calibri"/>
              </a:rPr>
              <a:t>github.com/freiburgermsu/prFBA  ·  github.com/freiburgermsu/prFBA_paper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prFBA project update</dc:title>
  <dc:subject/>
  <dc:creator>Andrew Freiburger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